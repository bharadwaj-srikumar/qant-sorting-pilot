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b8a36f567b4073" /><Relationship Type="http://schemas.openxmlformats.org/officeDocument/2006/relationships/extended-properties" Target="/docProps/app.xml" Id="R5cdaf1619efc4a7a" /><Relationship Type="http://schemas.openxmlformats.org/officeDocument/2006/relationships/officeDocument" Target="/ppt/presentation.xml" Id="Rfd14bb16676e4cf8" /></Relationships>
</file>

<file path=ppt/presentation.xml><?xml version="1.0" encoding="utf-8"?>
<p:presentation xmlns:p="http://schemas.openxmlformats.org/presentationml/2006/main">
  <p:sldMasterIdLst>
    <p:sldMasterId xmlns:r="http://schemas.openxmlformats.org/officeDocument/2006/relationships" id="2147483648" r:id="R6654dc18e4b347d2"/>
  </p:sldMasterIdLst>
  <p:notesMasterIdLst>
    <p:notesMasterId xmlns:r="http://schemas.openxmlformats.org/officeDocument/2006/relationships" r:id="R05d1d07028ca4387"/>
  </p:notesMasterIdLst>
  <p:sldIdLst>
    <p:sldId xmlns:r="http://schemas.openxmlformats.org/officeDocument/2006/relationships" id="256" r:id="R4475eeb65c8049be"/>
    <p:sldId xmlns:r="http://schemas.openxmlformats.org/officeDocument/2006/relationships" id="257" r:id="R8a5344bd20e64def"/>
    <p:sldId xmlns:r="http://schemas.openxmlformats.org/officeDocument/2006/relationships" id="258" r:id="Rcc9a1de6181f445d"/>
    <p:sldId xmlns:r="http://schemas.openxmlformats.org/officeDocument/2006/relationships" id="259" r:id="R20d0c0d751804bc3"/>
    <p:sldId xmlns:r="http://schemas.openxmlformats.org/officeDocument/2006/relationships" id="260" r:id="Rd7d45ec607d84569"/>
    <p:sldId xmlns:r="http://schemas.openxmlformats.org/officeDocument/2006/relationships" id="261" r:id="R03730318fd6743f2"/>
    <p:sldId xmlns:r="http://schemas.openxmlformats.org/officeDocument/2006/relationships" id="262" r:id="R1255c28b8ef344e1"/>
    <p:sldId xmlns:r="http://schemas.openxmlformats.org/officeDocument/2006/relationships" id="263" r:id="R2dbb23fd587b4bdd"/>
    <p:sldId xmlns:r="http://schemas.openxmlformats.org/officeDocument/2006/relationships" id="264" r:id="R44d85dd4c9f14f45"/>
    <p:sldId xmlns:r="http://schemas.openxmlformats.org/officeDocument/2006/relationships" id="265" r:id="Rdfb3415496374599"/>
    <p:sldId xmlns:r="http://schemas.openxmlformats.org/officeDocument/2006/relationships" id="266" r:id="Rfaebdb1ebba84e13"/>
    <p:sldId xmlns:r="http://schemas.openxmlformats.org/officeDocument/2006/relationships" id="267" r:id="R660ba899d9284850"/>
    <p:sldId xmlns:r="http://schemas.openxmlformats.org/officeDocument/2006/relationships" id="268" r:id="R51b1e249c2394ceb"/>
    <p:sldId xmlns:r="http://schemas.openxmlformats.org/officeDocument/2006/relationships" id="269" r:id="Rd330d447a4a04396"/>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316d1eafec4c89" /><Relationship Type="http://schemas.openxmlformats.org/officeDocument/2006/relationships/slideMaster" Target="/ppt/slideMasters/slideMaster1.xml" Id="R6654dc18e4b347d2" /><Relationship Type="http://schemas.openxmlformats.org/officeDocument/2006/relationships/notesMaster" Target="/ppt/notesMasters/notesMaster1.xml" Id="R05d1d07028ca4387" /><Relationship Type="http://schemas.openxmlformats.org/officeDocument/2006/relationships/presProps" Target="/ppt/presProps.xml" Id="Rf04bbf900fca4c08" /><Relationship Type="http://schemas.openxmlformats.org/officeDocument/2006/relationships/tableStyles" Target="/ppt/tableStyles.xml" Id="Rd496a0059e7d4cd1" /><Relationship Type="http://schemas.openxmlformats.org/officeDocument/2006/relationships/slide" Target="/ppt/slides/slide1.xml" Id="R4475eeb65c8049be" /><Relationship Type="http://schemas.openxmlformats.org/officeDocument/2006/relationships/slide" Target="/ppt/slides/slide2.xml" Id="R8a5344bd20e64def" /><Relationship Type="http://schemas.openxmlformats.org/officeDocument/2006/relationships/slide" Target="/ppt/slides/slide3.xml" Id="Rcc9a1de6181f445d" /><Relationship Type="http://schemas.openxmlformats.org/officeDocument/2006/relationships/slide" Target="/ppt/slides/slide4.xml" Id="R20d0c0d751804bc3" /><Relationship Type="http://schemas.openxmlformats.org/officeDocument/2006/relationships/slide" Target="/ppt/slides/slide5.xml" Id="Rd7d45ec607d84569" /><Relationship Type="http://schemas.openxmlformats.org/officeDocument/2006/relationships/slide" Target="/ppt/slides/slide6.xml" Id="R03730318fd6743f2" /><Relationship Type="http://schemas.openxmlformats.org/officeDocument/2006/relationships/slide" Target="/ppt/slides/slide7.xml" Id="R1255c28b8ef344e1" /><Relationship Type="http://schemas.openxmlformats.org/officeDocument/2006/relationships/slide" Target="/ppt/slides/slide8.xml" Id="R2dbb23fd587b4bdd" /><Relationship Type="http://schemas.openxmlformats.org/officeDocument/2006/relationships/slide" Target="/ppt/slides/slide9.xml" Id="R44d85dd4c9f14f45" /><Relationship Type="http://schemas.openxmlformats.org/officeDocument/2006/relationships/slide" Target="/ppt/slides/slide10.xml" Id="Rdfb3415496374599" /><Relationship Type="http://schemas.openxmlformats.org/officeDocument/2006/relationships/slide" Target="/ppt/slides/slide11.xml" Id="Rfaebdb1ebba84e13" /><Relationship Type="http://schemas.openxmlformats.org/officeDocument/2006/relationships/slide" Target="/ppt/slides/slide12.xml" Id="R660ba899d9284850" /><Relationship Type="http://schemas.openxmlformats.org/officeDocument/2006/relationships/slide" Target="/ppt/slides/slide13.xml" Id="R51b1e249c2394ceb" /><Relationship Type="http://schemas.openxmlformats.org/officeDocument/2006/relationships/slide" Target="/ppt/slides/slide14.xml" Id="Rd330d447a4a043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b19be37ab244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3297c0b59e4832" /><Relationship Type="http://schemas.openxmlformats.org/officeDocument/2006/relationships/notesMaster" Target="/ppt/notesMasters/notesMaster1.xml" Id="R9a15ab8b2e6844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c388ec81494d04" /><Relationship Type="http://schemas.openxmlformats.org/officeDocument/2006/relationships/notesMaster" Target="/ppt/notesMasters/notesMaster1.xml" Id="Ra29531e2ddb249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8c6e709309482b" /><Relationship Type="http://schemas.openxmlformats.org/officeDocument/2006/relationships/notesMaster" Target="/ppt/notesMasters/notesMaster1.xml" Id="R87d471df3b084f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978bec3eae45c8" /><Relationship Type="http://schemas.openxmlformats.org/officeDocument/2006/relationships/notesMaster" Target="/ppt/notesMasters/notesMaster1.xml" Id="R6d11b323182e48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cdfb775caa4d47" /><Relationship Type="http://schemas.openxmlformats.org/officeDocument/2006/relationships/notesMaster" Target="/ppt/notesMasters/notesMaster1.xml" Id="Rafa544bfba214b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7f571dc9f9473d" /><Relationship Type="http://schemas.openxmlformats.org/officeDocument/2006/relationships/notesMaster" Target="/ppt/notesMasters/notesMaster1.xml" Id="R555f3a6f677b43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116d8d32d34e70" /><Relationship Type="http://schemas.openxmlformats.org/officeDocument/2006/relationships/notesMaster" Target="/ppt/notesMasters/notesMaster1.xml" Id="R6ec8f7454c5f4a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088cf2db474a0c" /><Relationship Type="http://schemas.openxmlformats.org/officeDocument/2006/relationships/notesMaster" Target="/ppt/notesMasters/notesMaster1.xml" Id="Rbfb433af00ed40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a52efb315345a7" /><Relationship Type="http://schemas.openxmlformats.org/officeDocument/2006/relationships/notesMaster" Target="/ppt/notesMasters/notesMaster1.xml" Id="R1cbba44a476548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ddd60345ca46a7" /><Relationship Type="http://schemas.openxmlformats.org/officeDocument/2006/relationships/notesMaster" Target="/ppt/notesMasters/notesMaster1.xml" Id="R36c136f446bc4c2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5e7065894240f3" /><Relationship Type="http://schemas.openxmlformats.org/officeDocument/2006/relationships/notesMaster" Target="/ppt/notesMasters/notesMaster1.xml" Id="R76ecb05c4cc246f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3c154643c347a1" /><Relationship Type="http://schemas.openxmlformats.org/officeDocument/2006/relationships/notesMaster" Target="/ppt/notesMasters/notesMaster1.xml" Id="Rc862f39926904ed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ab435c0d49b4e10" /><Relationship Type="http://schemas.openxmlformats.org/officeDocument/2006/relationships/notesMaster" Target="/ppt/notesMasters/notesMaster1.xml" Id="R8cad78aacae44f5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b390bb6fb0640cc" /><Relationship Type="http://schemas.openxmlformats.org/officeDocument/2006/relationships/notesMaster" Target="/ppt/notesMasters/notesMaster1.xml" Id="R2ccfda2cc6004f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Gestaltung nach der bereitgestellten Präsentation „Hybride optoelektronische Sortierarchitekturen(5).pdf“. Die aktuelle inhaltliche Fassung beruht auf dem validierten Projektstand 22ef167, nicht auf den älteren Modellkonventionen der Gestaltungsvorlage.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Quellen: https://doi.org/10.1145/800135.804401</a:t>
            </a:r>
          </a:p>
          <a:p xmlns:a="http://schemas.openxmlformats.org/drawingml/2006/main">
            <a:r>
              <a:t>https://doi.org/10.1007/BF01937172</a:t>
            </a:r>
          </a:p>
          <a:p xmlns:a="http://schemas.openxmlformats.org/drawingml/2006/main">
            <a:r>
              <a:t>https://doi.org/10.1038/s41467-025-63453-8</a:t>
            </a:r>
          </a:p>
          <a:p xmlns:a="http://schemas.openxmlformats.org/drawingml/2006/main">
            <a:r>
              <a:t>C=(T,S,H,D) ist der beibehaltene Vergleichsrahmen. Er wird nicht als neuer universeller unterer Komplexitätsbound beansprucht. Thompson untersucht insbesondere flächen-zeitbezogene Schranken für VLSI; sein DFT-Bound wird nicht auf Sortieren übertragen. H und D sind architekturbezogen, nicht rein maschinenunabhängige RAM-Größen.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https://doi.org/10.1364/AO.27.001721</a:t>
            </a:r>
          </a:p>
          <a:p xmlns:a="http://schemas.openxmlformats.org/drawingml/2006/main">
            <a:r>
              <a:t>https://doi.org/10.1364/AO.33.008164</a:t>
            </a:r>
          </a:p>
          <a:p xmlns:a="http://schemas.openxmlformats.org/drawingml/2006/main">
            <a:r>
              <a:t>https://doi.org/10.1364/AO.34.005077</a:t>
            </a:r>
          </a:p>
          <a:p xmlns:a="http://schemas.openxmlformats.org/drawingml/2006/main">
            <a:r>
              <a:t>https://doi.org/10.1364/AO.34.003087</a:t>
            </a:r>
          </a:p>
          <a:p xmlns:a="http://schemas.openxmlformats.org/drawingml/2006/main">
            <a:r>
              <a:t>https://doi.org/10.1364/JOCN.530695</a:t>
            </a:r>
          </a:p>
          <a:p xmlns:a="http://schemas.openxmlformats.org/drawingml/2006/main">
            <a:r>
              <a:t>T zählt alle sequenziellen Einheitsoperationen einschließlich Routing und Ausgabe. Schlüssel, Index und Rang gelten jeweils als ein logisches Wort. S bezieht sich auf eine Charge; die gleichzeitige Belegung einer vollständig gefüllten Pipeline durch viele Chargen wird nicht mitgezählt. H zählt Verarbeitungspositionen, nicht Speicherkapazität oder Chipfläche. D wird zwischen tatsächlichen Regenerationsgrenzen bestimmt. Der Stirk/Athale-Eintrag unterscheidet passive und restaurierende Varianten. Für Radix gilt allgemein T=Θ(q(N+R)); die lineare Vereinfachung setzt feste Wortbreite, Radix R, Durchlaufzahl q und Anzahl paralleler Ströme voraus. Keine Behauptung linearer Sortierung beliebiger reeller Zahlen. Louri beschreibt O(1) parallele optische Stufen, während T hier Θ(N²) skalare Gesamtarbeit misst.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https://github.com/Bharadwaj-Srikumar/qant-sorting-pilot/blob/22ef167477fdce45b44bf0357445a419a75d4a0a/comparison.py und docs/METHOD.md. b_key, b_in und b_out werden getrennt dokumentiert; hier sind alle gleich b. round_even rundet zur nächsten ganzen Zahl, bei exakt halbem Abstand zur geraden Zahl. clip begrenzt den ganzzahligen Code. Der vorzeichenbehaftete Ausgangsbereich lautet [−1/2, 1/2−Δ]. Große Differenzen sättigen; im rauschfreien Fall bleibt ihr Vorzeichen erhalten. Die Originalschlüssel werden elektronisch weitergereicht und nicht aus einer gesättigten Differenz rekonstruiert. η ist die Standardabweichung in Ausgangsschritt-Einheiten, kein fester Rauschwert. Das Fehlerbeispiel ε=−0,6Δ ist ein einzelner möglicher Zufallswert, nicht eine neue Rauschannahme.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https://doi.org/10.1364/AO.27.001721</a:t>
            </a:r>
          </a:p>
          <a:p xmlns:a="http://schemas.openxmlformats.org/drawingml/2006/main">
            <a:r>
              <a:t>https://doi.org/10.1364/AO.34.003087</a:t>
            </a:r>
          </a:p>
          <a:p xmlns:a="http://schemas.openxmlformats.org/drawingml/2006/main">
            <a:r>
              <a:t>https://github.com/Bharadwaj-Srikumar/qant-sorting-pilot/blob/22ef167477fdce45b44bf0357445a419a75d4a0a/sorting_schedules.py</a:t>
            </a:r>
          </a:p>
          <a:p xmlns:a="http://schemas.openxmlformats.org/drawingml/2006/main">
            <a:r>
              <a:t>https://github.com/Bharadwaj-Srikumar/qant-sorting-pilot/blob/22ef167477fdce45b44bf0357445a419a75d4a0a/sdk_mapping.py</a:t>
            </a:r>
          </a:p>
          <a:p xmlns:a="http://schemas.openxmlformats.org/drawingml/2006/main">
            <a:r>
              <a:t>Die modernen Mappings sind algorithmische Adaptionen. Das kompakte Bitonic-Netz verwendet aktive Batcher-Stufen; es bildet keine zeitlich überlappte physische Pipeline ab. Rang nutzt jedes ungeordnete Paar genau einmal und zählt für das größere Element einen Sieg; der Originalindex löst gemessene Gleichstände. Nur eindeutige Ränge erlauben eine gültige Platzierung; Rangkonflikte gelten als Fehler. In der Rauschsimulation wird die Differenz mit NumPy berechnet. Im separaten Kontrollversuch nutzt sie das offizielle Q.ANT-CPU-Backend. Keiner der Versuche führt eine physische optische Berechnung aus. Vergleich, Austausch, Summen und Ausgabe sind elektronisch.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https://github.com/Q-ANT-GmbH/qant_native_computing_toolkit/blob/72a2d99f10240b6df3c6d0f636dfa0e2b5d38902/src/non_linear.rs</a:t>
            </a:r>
          </a:p>
          <a:p xmlns:a="http://schemas.openxmlformats.org/drawingml/2006/main">
            <a:r>
              <a:t>https://github.com/Q-ANT-GmbH/qant_native_computing_toolkit/blob/72a2d99f10240b6df3c6d0f636dfa0e2b5d38902/src/qant_driver_import/backend_driver.rs</a:t>
            </a:r>
          </a:p>
          <a:p xmlns:a="http://schemas.openxmlformats.org/drawingml/2006/main">
            <a:r>
              <a:t>https://github.com/Q-ANT-GmbH/qant_native_computing_toolkit/blob/72a2d99f10240b6df3c6d0f636dfa0e2b5d38902/python/qant_native_computing_toolkit/_wrapper.py</a:t>
            </a:r>
          </a:p>
          <a:p xmlns:a="http://schemas.openxmlformats.org/drawingml/2006/main">
            <a:r>
              <a:t>Primärbeleg: relu_fprop ignoriert _npu_id und führt eine Rust-Schleife mit max(x,0) aus. calc_scaled_periodic_nl ruft driver_scaled_periodic_nl auf; backend_driver.rs bindet qant_driver_scaled_periodic_nl_npu. Das CPU-Backend ersetzt tcos durch cos. Der geschlossene Hardwaretreiber verhindert eine vollständige Prüfung interner Wandler-/Puffergrenzen. Kein Nachweis eines vollständigen optischen C&amp;E oder einer Kaskade. Die frühere Einordnung von ReLU als nativer optischer Q.ANT-Funktion wird korrigiert. Der schon im ausführlichen PDF erwähnte Unterschied wird hier ausdrücklich zum zentralen Befund.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Min/Max-Identität ist exakt für die vollständige Differenz. Im separaten Check berechnet das offizielle SDK die Differenz, ai.relu_fprop führt Host-ReLU aus, und die Rekonstruktion erfolgt elektronisch. Alle 256 geordneten 4-Bit-Paare und 65.536 8-Bit-Paare wurden geprüft. Kein zusätzliches Rauschen, kein bisheriger Festpunkt-Ausgangsquantisierer, kein vollständiger Sortierlauf und kein physisches NPU-Experiment. Gleichheit ist enthalten; der Check validiert Zahlenwerte, nicht stabile Weiterleitung von Datensatzidentitäten. Bei 255 und 0 führt Sättigung auf 127/256 zu 128 und 127 statt 0 und 255. Deshalb darf der neue Min/Max-Check die bestehende Vorzeichen-Simulation nicht stillschweigend ersetzen.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https://github.com/Bharadwaj-Srikumar/qant-sorting-pilot/blob/22ef167477fdce45b44bf0357445a419a75d4a0a/docs/METHOD.md</a:t>
            </a:r>
          </a:p>
          <a:p xmlns:a="http://schemas.openxmlformats.org/drawingml/2006/main">
            <a:r>
              <a:t>https://github.com/Bharadwaj-Srikumar/qant-sorting-pilot/blob/22ef167477fdce45b44bf0357445a419a75d4a0a/validation/current_checks.json</a:t>
            </a:r>
          </a:p>
          <a:p xmlns:a="http://schemas.openxmlformats.org/drawingml/2006/main">
            <a:r>
              <a:t>24.000 gespeicherte Eingaben: (4 Größen bei 4 Bit + 8 Größen bei 8 Bit) × 2 Eingabefamilien × 1.000 Arrays. 288.000 Ausführungen: 24.000 × 2 Mappings × 6 Rauschwerte. Ohne Zurücklegen erzeugt verschiedene Schlüssel, mit Zurücklegen erlaubt Duplikate, erzwingt sie aber nicht für jedes Array. Die Zufallszahlen sind pro Vergleich unabhängig; zwischen Mappings werden unabhängige Ströme genutzt. Positive Rauschstärken skalieren dieselben ereignisbezogenen Zufallsziehungen. Masterseed 20260930. Ein Lauf ist nur korrekt, wenn alle Datensätze erhalten bleiben und aufsteigend sortiert sind; Stabilität wird separat geprüft. Im SDK-Kontrollversuch gibt es weder den zusätzlichen Quantisierer noch künstliches Rauschen. Historische Zeitangaben wurden als Quellenrechnungen betrachtet; eine widersprüchliche Detektorzeit bei Louri ist noch nicht aufgelöst.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https://github.com/Bharadwaj-Srikumar/qant-sorting-pilot/blob/22ef167477fdce45b44bf0357445a419a75d4a0a/results/reference/accuracy.csv</a:t>
            </a:r>
          </a:p>
          <a:p xmlns:a="http://schemas.openxmlformats.org/drawingml/2006/main">
            <a:r>
              <a:t>Die Zahlen stammen direkt aus der gespeicherten CSV. Jede Zelle enthält Bitonic / Rang in Prozent. Die Zeilen zeigen die größte getestete Eingabe je Bitbreite. Für η=0, 0,05 und 0,10 wurden bei allen getesteten N und beiden Familien jeweils 1.000 von 1.000 korrekten und stabilen Ausgaben beobachtet. 100 % ist ein Stichprobenergebnis, keine allgemeine Garantie. Das zweiseitige 95-%-Wilson-Intervall beträgt bei 1.000/1.000 pro Konfiguration etwa [99,62 %, 100 %]. „Duplikate erlaubt“ bezeichnet Ziehen mit Zurücklegen. Diese Werte sind keine Q.ANT-Messwerte.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https://github.com/Bharadwaj-Srikumar/qant-sorting-pilot/blob/22ef167477fdce45b44bf0357445a419a75d4a0a/results/reference/accuracy.csv</a:t>
            </a:r>
          </a:p>
          <a:p xmlns:a="http://schemas.openxmlformats.org/drawingml/2006/main">
            <a:r>
              <a:t>Das native PowerPoint-Diagramm enthält vollständige Literaldaten aus der referenzierten CSV. N=256, 8 Bit; vier Serien: Bitonic/Rang × verschiedene Schlüssel/Duplikate erlaubt. Bei einem Abstand d=Δ fällt die Ausgangsquantisierung in Code 0, wenn −1,5Δ≤ε≤−0,5Δ. Für η=0,25 ergibt das Φ(−2)−Φ(−6)≈2,275 %. Das ist die Wahrscheinlichkeit eines falschen Gleichstands in genau diesem Paarfall, nicht unmittelbar eine Fehlersortierungswahrscheinlichkeit. Die Wirkung auf das gesamte Array hängt vom Sortierplan, der Indexregel und den Entscheidungen ab. Die geringere Gesamtgenauigkeit ist keine Messung der Q.ANT-Rauschleistung.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https://github.com/Q-ANT-GmbH/qant_native_computing_toolkit/tree/72a2d99f10240b6df3c6d0f636dfa0e2b5d38902</a:t>
            </a:r>
          </a:p>
          <a:p xmlns:a="http://schemas.openxmlformats.org/drawingml/2006/main">
            <a:r>
              <a:t>https://github.com/Bharadwaj-Srikumar/qant-sorting-pilot/blob/22ef167477fdce45b44bf0357445a419a75d4a0a/sdk_mapping.py</a:t>
            </a:r>
          </a:p>
          <a:p xmlns:a="http://schemas.openxmlformats.org/drawingml/2006/main">
            <a:r>
              <a:t>https://github.com/Bharadwaj-Srikumar/qant-sorting-pilot/blob/22ef167477fdce45b44bf0357445a419a75d4a0a/validation/hardware_resources.csv</a:t>
            </a:r>
          </a:p>
          <a:p xmlns:a="http://schemas.openxmlformats.org/drawingml/2006/main">
            <a:r>
              <a:t>linear_fprop(X,W)=X@W.T, BF16, X=(Paare,2), W=(1,2). Die Aufrufzahlen gelten nur bei ausreichender Zeilenkapazität c. Allgemein q_B=K·ceil((N/2)/c) und q_R=ceil((N(N−1)/2)/c). Bei c=128 und N=256 folgen 36 bzw. 255 Aufrufe. c ist hier eine untersuchte Batchgrenze, keine behauptete physische Q.ANT-Kapazität. Nutzlast: zwei BF16-Eingaben und ein BF16-Ergebnis pro Paar = 6 Byte/Paar; zusätzlich 4 Byte Gewichte je Aufruf, sofern erneut übertragen. Daraus 6·4608+4·36=27792 und 6·32640+4=195844 Byte. Dies ist keine gemessene PCIe-Transfermenge und enthält keine Protokoll-/Allokationskosten. BF16 belegt nicht die effektive optische Präzision. Unbekannt bleiben Hardware-Tiling, tatsächliche Transfers, Aufruflatenz, Durchsatz, ENOB/Rauschen, Nichtlinearitäten, optische Kaskadierbarkeit und Leistung.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https://github.com/Bharadwaj-Srikumar/qant-sorting-pilot</a:t>
            </a:r>
          </a:p>
          <a:p xmlns:a="http://schemas.openxmlformats.org/drawingml/2006/main">
            <a:r>
              <a:t>Stand: 22ef167477fdce45b44bf0357445a419a75d4a0a</a:t>
            </a:r>
          </a:p>
          <a:p xmlns:a="http://schemas.openxmlformats.org/drawingml/2006/main">
            <a:r>
              <a:t>Die genannten Pfade existieren im überprüften Repository. results/sdk_reference/results.csv enthält die Modi equal_step und sdk_cpu; für den offiziellen CPU-Kontrolllauf mode=sdk_cpu wählen. Neue lokale Läufe erzeugen andere Zielordner entsprechend README.md. Ältere Dateien evaluate.py, model.py, sorting.py und reports/ gehören zu früheren Modellständen und sind für die hier dargestellten Resultate nicht der Einstieg. validation/current_checks.json protokolliert die identische Reproduktion nach der Codebereinigung. Das Repository ist privat; der Professor benötigt Leserechte. Der GitHub-Connector liefert am 5.10.2026 für Repository und README 404. Die aktualisierten Dateien werden deshalb als Projekt-ZIP übergeben. Neue Pfade sind bis zu einem erfolgreichen Push nur dort vorhanden.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bisher vereinbarten Werte bleiben erhalten. η ist σ/Δ_out und damit keine Prozentangabe der Signalstärke. Die Ausgangsreferenz des Differenzmodells darf nicht auf eine tcos-Kennlinie übertragen werden. Zusätzliche Nichtlinearität kann neue Aufrufe, Transfers und Fehler verursachen. Dafür wird in dieser Revision kein Parametersatz eingeführt. Historische H- und D-Werte sind keine Eigenschaften der Q.ANT-Ausführung. Vollständige physische Präzision, optisches Routing und Kaskadierung bleiben ungeprüft.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PRISM: https://doi.org/10.48550/arXiv.2603.21576</a:t>
            </a:r>
          </a:p>
          <a:p xmlns:a="http://schemas.openxmlformats.org/drawingml/2006/main">
            <a:r>
              <a:t>PRISM wird als verwandte Arbeit zu photonischer Ähnlichkeitsbewertung mit elektronischer Top-k-Auswahl abgegrenzt; es ist keine gleichwertige vollständige Sortierung. Aktuell sind keine optischen Cascades gemessen oder simuliert. Der nächste Schritt zu optischer Nichtlinearität und variabler Regeneration ist zentral, bleibt jedoch abhängig von dokumentierten und/oder empirisch gestützten Fähigkeiten. Energie wird erst mit klaren Messgrenzen und belastbaren Leistungsdaten bewertet. Ressourcenvergleiche müssen bei gleicher Korrektheitsanforderung und gleichen verfügbaren Ressourcen erfolgen.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1cb7ae37c44be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69a1670f31475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997488b85b4ee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2f854e4b80446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fb7728ea8324e3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c226d918c9747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C0B91A6-20D1-4017-82F7-7D28461AC8AA}"/>
              </a:ext>
            </a:extLst>
          </p:cNvPr>
          <p:cNvSpPr>
            <a:spLocks xmlns:a="http://schemas.openxmlformats.org/drawingml/2006/main" noGrp="1"/>
          </p:cNvSpPr>
          <p:nvPr/>
        </p:nvSpPr>
        <p:spPr>
          <a:xfrm xmlns:a="http://schemas.openxmlformats.org/drawingml/2006/main">
            <a:off x="4343400" y="1657350"/>
            <a:ext cx="457200" cy="28575"/>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9817BF2-3996-4403-970A-71603DA9BD1C}"/>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30E2C89F-3C80-417E-8603-89CC407985B0}"/>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250D77AB-7DC5-486A-B6C2-57F2DB223FA9}"/>
              </a:ext>
            </a:extLst>
          </p:cNvPr>
          <p:cNvSpPr>
            <a:spLocks xmlns:a="http://schemas.openxmlformats.org/drawingml/2006/main" noGrp="1"/>
          </p:cNvSpPr>
          <p:nvPr/>
        </p:nvSpPr>
        <p:spPr>
          <a:xfrm xmlns:a="http://schemas.openxmlformats.org/drawingml/2006/main">
            <a:off x="4343400" y="1857375"/>
            <a:ext cx="457200" cy="28575"/>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F53C64EB-89FA-4E20-A401-9CD12BF3CB1E}"/>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BA8A342-F24C-4675-843D-D200C443B34D}"/>
              </a:ext>
            </a:extLst>
          </p:cNvPr>
          <p:cNvSpPr>
            <a:spLocks xmlns:a="http://schemas.openxmlformats.org/drawingml/2006/main" noGrp="1"/>
          </p:cNvSpPr>
          <p:nvPr/>
        </p:nvSpPr>
        <p:spPr>
          <a:xfrm xmlns:a="http://schemas.openxmlformats.org/drawingml/2006/main">
            <a:off x="514350" y="1143000"/>
            <a:ext cx="457200" cy="28575"/>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35BEF91-2446-4AC4-864A-4C4D9C1DFD2B}"/>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A6D6C97A-8F36-4F29-873F-FB267ACF1167}"/>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ED718F59-49EE-4B7B-86F7-4FE32111D636}"/>
              </a:ext>
            </a:extLst>
          </p:cNvPr>
          <p:cNvSpPr>
            <a:spLocks xmlns:a="http://schemas.openxmlformats.org/drawingml/2006/main" noGrp="1"/>
          </p:cNvSpPr>
          <p:nvPr/>
        </p:nvSpPr>
        <p:spPr>
          <a:xfrm xmlns:a="http://schemas.openxmlformats.org/drawingml/2006/main">
            <a:off x="514350" y="1143000"/>
            <a:ext cx="457200" cy="28575"/>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E276A2BB-1CD5-48BC-B0B9-91E7C5208B0E}"/>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84959248-CF28-456D-A85D-079966FD952B}"/>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B2580752-6548-4BC6-83F9-64D0E9FB3E7F}"/>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C49A7A8-F2AF-43BA-B07E-F243CA76BDA7}"/>
              </a:ext>
            </a:extLst>
          </p:cNvPr>
          <p:cNvSpPr>
            <a:spLocks xmlns:a="http://schemas.openxmlformats.org/drawingml/2006/main" noGrp="1"/>
          </p:cNvSpPr>
          <p:nvPr/>
        </p:nvSpPr>
        <p:spPr>
          <a:xfrm xmlns:a="http://schemas.openxmlformats.org/drawingml/2006/main">
            <a:off x="514350" y="1143000"/>
            <a:ext cx="457200" cy="28575"/>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3C99A86-F087-4C5E-92FB-3E1B326AF701}"/>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58BCAA32-99A1-4315-918F-8143036E8AEE}"/>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c13c5b4aeb4fed" /><Relationship Type="http://schemas.openxmlformats.org/officeDocument/2006/relationships/slideLayout" Target="/ppt/slideLayouts/slideLayout1.xml" Id="R8e7fea45ccc54266" /><Relationship Type="http://schemas.openxmlformats.org/officeDocument/2006/relationships/slideLayout" Target="/ppt/slideLayouts/slideLayout2.xml" Id="R49c70ec71adc4168" /><Relationship Type="http://schemas.openxmlformats.org/officeDocument/2006/relationships/slideLayout" Target="/ppt/slideLayouts/slideLayout3.xml" Id="R266e674d3c0e47b1" /><Relationship Type="http://schemas.openxmlformats.org/officeDocument/2006/relationships/slideLayout" Target="/ppt/slideLayouts/slideLayout4.xml" Id="R77edcdeddff64217" /><Relationship Type="http://schemas.openxmlformats.org/officeDocument/2006/relationships/slideLayout" Target="/ppt/slideLayouts/slideLayout5.xml" Id="R85935e1623904b36" /><Relationship Type="http://schemas.openxmlformats.org/officeDocument/2006/relationships/slideLayout" Target="/ppt/slideLayouts/slideLayout6.xml" Id="R3fdd3d60921a4e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7fea45ccc54266"/>
    <p:sldLayoutId xmlns:r="http://schemas.openxmlformats.org/officeDocument/2006/relationships" id="2147483650" r:id="R49c70ec71adc4168"/>
    <p:sldLayoutId xmlns:r="http://schemas.openxmlformats.org/officeDocument/2006/relationships" id="2147483651" r:id="R266e674d3c0e47b1"/>
    <p:sldLayoutId xmlns:r="http://schemas.openxmlformats.org/officeDocument/2006/relationships" id="2147483652" r:id="R77edcdeddff64217"/>
    <p:sldLayoutId xmlns:r="http://schemas.openxmlformats.org/officeDocument/2006/relationships" id="2147483653" r:id="R85935e1623904b36"/>
    <p:sldLayoutId xmlns:r="http://schemas.openxmlformats.org/officeDocument/2006/relationships" id="2147483654" r:id="R3fdd3d60921a4e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266d7635ebc4504" /><Relationship Type="http://schemas.openxmlformats.org/officeDocument/2006/relationships/notesSlide" Target="/ppt/notesSlides/notesSlide1.xml" Id="Rd6297f8e9f2c4e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bfcbc9385544091" /><Relationship Type="http://schemas.openxmlformats.org/officeDocument/2006/relationships/notesSlide" Target="/ppt/notesSlides/notesSlide2.xml" Id="R517e229b1a4d4a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6d5320ef6544a75" /><Relationship Type="http://schemas.openxmlformats.org/officeDocument/2006/relationships/notesSlide" Target="/ppt/notesSlides/notesSlide3.xml" Id="R2c7f2448945a4c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3ec2062ee3b4020" /><Relationship Type="http://schemas.openxmlformats.org/officeDocument/2006/relationships/notesSlide" Target="/ppt/notesSlides/notesSlide4.xml" Id="R71d8e6358e0d4c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53ecd6b2b5a41e5" /><Relationship Type="http://schemas.openxmlformats.org/officeDocument/2006/relationships/notesSlide" Target="/ppt/notesSlides/notesSlide5.xml" Id="R2519b218f88545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eabf764a3fd4b8f" /><Relationship Type="http://schemas.openxmlformats.org/officeDocument/2006/relationships/notesSlide" Target="/ppt/notesSlides/notesSlide6.xml" Id="Rf46abc8a21d44d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1047e35b2944903" /><Relationship Type="http://schemas.openxmlformats.org/officeDocument/2006/relationships/notesSlide" Target="/ppt/notesSlides/notesSlide7.xml" Id="R6f35c8fd848c42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1043e4f2adf4547" /><Relationship Type="http://schemas.openxmlformats.org/officeDocument/2006/relationships/notesSlide" Target="/ppt/notesSlides/notesSlide8.xml" Id="R093943bea20f47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4b30148056a4457" /><Relationship Type="http://schemas.openxmlformats.org/officeDocument/2006/relationships/notesSlide" Target="/ppt/notesSlides/notesSlide9.xml" Id="R3dbfa629d76f4a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95da88689be4f7b" /><Relationship Type="http://schemas.openxmlformats.org/officeDocument/2006/relationships/chart" Target="/ppt/slides/charts/chart1.xml" Id="Rb30a1cbf26fa4e4e" /><Relationship Type="http://schemas.openxmlformats.org/officeDocument/2006/relationships/notesSlide" Target="/ppt/notesSlides/notesSlide10.xml" Id="Re551048e452d486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d09dcb292a740f9" /><Relationship Type="http://schemas.openxmlformats.org/officeDocument/2006/relationships/notesSlide" Target="/ppt/notesSlides/notesSlide11.xml" Id="R187bea9cc7d947c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b3bb6434c54408e" /><Relationship Type="http://schemas.openxmlformats.org/officeDocument/2006/relationships/hyperlink" Target="https://github.com/Bharadwaj-Srikumar/qant-sorting-pilot" TargetMode="External" Id="R36821170cfd64431" /><Relationship Type="http://schemas.openxmlformats.org/officeDocument/2006/relationships/notesSlide" Target="/ppt/notesSlides/notesSlide12.xml" Id="R7fa8e375959843d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57aadb53be04282" /><Relationship Type="http://schemas.openxmlformats.org/officeDocument/2006/relationships/notesSlide" Target="/ppt/notesSlides/notesSlide13.xml" Id="R2e3923fc75cc4d8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cfb68217dae4f58" /><Relationship Type="http://schemas.openxmlformats.org/officeDocument/2006/relationships/notesSlide" Target="/ppt/notesSlides/notesSlide14.xml" Id="R5e1d4d32226e4218" /></Relationships>
</file>

<file path=ppt/slides/charts/chart1.xml><?xml version="1.0" encoding="utf-8"?>
<c:chartSpace xmlns:c="http://schemas.openxmlformats.org/drawingml/2006/chart">
  <c:lang val="en-US"/>
  <c:chart>
    <c:plotArea>
      <c:lineChart>
        <c:grouping val="standard"/>
        <c:varyColors val="0"/>
        <c:ser>
          <c:idx val="0"/>
          <c:order val="0"/>
          <c:tx>
            <c:v>Bitonic, verschieden</c:v>
          </c:tx>
          <c:spPr>
            <a:ln xmlns:a="http://schemas.openxmlformats.org/drawingml/2006/main" w="21908">
              <a:solidFill>
                <a:srgbClr val="315D91"/>
              </a:solidFill>
              <a:prstDash val="solid"/>
            </a:ln>
          </c:spPr>
          <c:marker>
            <c:symbol val="circle"/>
            <c:size val="4"/>
          </c:marker>
          <c:cat>
            <c:strLit>
              <c:ptCount val="6"/>
              <c:pt idx="0">
                <c:v>0,00</c:v>
              </c:pt>
              <c:pt idx="1">
                <c:v>0,05</c:v>
              </c:pt>
              <c:pt idx="2">
                <c:v>0,10</c:v>
              </c:pt>
              <c:pt idx="3">
                <c:v>0,15</c:v>
              </c:pt>
              <c:pt idx="4">
                <c:v>0,20</c:v>
              </c:pt>
              <c:pt idx="5">
                <c:v>0,25</c:v>
              </c:pt>
            </c:strLit>
          </c:cat>
          <c:val>
            <c:numLit>
              <c:formatCode>0%</c:formatCode>
              <c:ptCount val="6"/>
              <c:pt idx="0">
                <c:v>1</c:v>
              </c:pt>
              <c:pt idx="1">
                <c:v>1</c:v>
              </c:pt>
              <c:pt idx="2">
                <c:v>1</c:v>
              </c:pt>
              <c:pt idx="3">
                <c:v>0.939</c:v>
              </c:pt>
              <c:pt idx="4">
                <c:v>0.447</c:v>
              </c:pt>
              <c:pt idx="5">
                <c:v>0.059</c:v>
              </c:pt>
            </c:numLit>
          </c:val>
          <c:smooth val="0"/>
        </c:ser>
        <c:ser>
          <c:idx val="1"/>
          <c:order val="1"/>
          <c:tx>
            <c:v>Rang, verschieden</c:v>
          </c:tx>
          <c:spPr>
            <a:ln xmlns:a="http://schemas.openxmlformats.org/drawingml/2006/main" w="21908">
              <a:solidFill>
                <a:srgbClr val="595959"/>
              </a:solidFill>
              <a:prstDash val="solid"/>
            </a:ln>
          </c:spPr>
          <c:marker>
            <c:symbol val="circle"/>
            <c:size val="4"/>
          </c:marker>
          <c:cat>
            <c:strLit>
              <c:ptCount val="6"/>
              <c:pt idx="0">
                <c:v>0,00</c:v>
              </c:pt>
              <c:pt idx="1">
                <c:v>0,05</c:v>
              </c:pt>
              <c:pt idx="2">
                <c:v>0,10</c:v>
              </c:pt>
              <c:pt idx="3">
                <c:v>0,15</c:v>
              </c:pt>
              <c:pt idx="4">
                <c:v>0,20</c:v>
              </c:pt>
              <c:pt idx="5">
                <c:v>0,25</c:v>
              </c:pt>
            </c:strLit>
          </c:cat>
          <c:val>
            <c:numLit>
              <c:formatCode>0%</c:formatCode>
              <c:ptCount val="6"/>
              <c:pt idx="0">
                <c:v>1</c:v>
              </c:pt>
              <c:pt idx="1">
                <c:v>1</c:v>
              </c:pt>
              <c:pt idx="2">
                <c:v>1</c:v>
              </c:pt>
              <c:pt idx="3">
                <c:v>0.961</c:v>
              </c:pt>
              <c:pt idx="4">
                <c:v>0.454</c:v>
              </c:pt>
              <c:pt idx="5">
                <c:v>0.04</c:v>
              </c:pt>
            </c:numLit>
          </c:val>
          <c:smooth val="0"/>
        </c:ser>
        <c:ser>
          <c:idx val="2"/>
          <c:order val="2"/>
          <c:tx>
            <c:v>Bitonic, Dupl. erlaubt</c:v>
          </c:tx>
          <c:spPr>
            <a:ln xmlns:a="http://schemas.openxmlformats.org/drawingml/2006/main" w="21908">
              <a:solidFill>
                <a:srgbClr val="6089B3"/>
              </a:solidFill>
              <a:prstDash val="dash"/>
            </a:ln>
          </c:spPr>
          <c:marker>
            <c:symbol val="circle"/>
            <c:size val="4"/>
          </c:marker>
          <c:cat>
            <c:strLit>
              <c:ptCount val="6"/>
              <c:pt idx="0">
                <c:v>0,00</c:v>
              </c:pt>
              <c:pt idx="1">
                <c:v>0,05</c:v>
              </c:pt>
              <c:pt idx="2">
                <c:v>0,10</c:v>
              </c:pt>
              <c:pt idx="3">
                <c:v>0,15</c:v>
              </c:pt>
              <c:pt idx="4">
                <c:v>0,20</c:v>
              </c:pt>
              <c:pt idx="5">
                <c:v>0,25</c:v>
              </c:pt>
            </c:strLit>
          </c:cat>
          <c:val>
            <c:numLit>
              <c:formatCode>0%</c:formatCode>
              <c:ptCount val="6"/>
              <c:pt idx="0">
                <c:v>1</c:v>
              </c:pt>
              <c:pt idx="1">
                <c:v>1</c:v>
              </c:pt>
              <c:pt idx="2">
                <c:v>1</c:v>
              </c:pt>
              <c:pt idx="3">
                <c:v>0.955</c:v>
              </c:pt>
              <c:pt idx="4">
                <c:v>0.548</c:v>
              </c:pt>
              <c:pt idx="5">
                <c:v>0.104</c:v>
              </c:pt>
            </c:numLit>
          </c:val>
          <c:smooth val="0"/>
        </c:ser>
        <c:ser>
          <c:idx val="3"/>
          <c:order val="3"/>
          <c:tx>
            <c:v>Rang, Dupl. erlaubt</c:v>
          </c:tx>
          <c:spPr>
            <a:ln xmlns:a="http://schemas.openxmlformats.org/drawingml/2006/main" w="21908">
              <a:solidFill>
                <a:srgbClr val="A6A6A6"/>
              </a:solidFill>
              <a:prstDash val="dash"/>
            </a:ln>
          </c:spPr>
          <c:marker>
            <c:symbol val="circle"/>
            <c:size val="4"/>
          </c:marker>
          <c:cat>
            <c:strLit>
              <c:ptCount val="6"/>
              <c:pt idx="0">
                <c:v>0,00</c:v>
              </c:pt>
              <c:pt idx="1">
                <c:v>0,05</c:v>
              </c:pt>
              <c:pt idx="2">
                <c:v>0,10</c:v>
              </c:pt>
              <c:pt idx="3">
                <c:v>0,15</c:v>
              </c:pt>
              <c:pt idx="4">
                <c:v>0,20</c:v>
              </c:pt>
              <c:pt idx="5">
                <c:v>0,25</c:v>
              </c:pt>
            </c:strLit>
          </c:cat>
          <c:val>
            <c:numLit>
              <c:formatCode>0%</c:formatCode>
              <c:ptCount val="6"/>
              <c:pt idx="0">
                <c:v>1</c:v>
              </c:pt>
              <c:pt idx="1">
                <c:v>1</c:v>
              </c:pt>
              <c:pt idx="2">
                <c:v>1</c:v>
              </c:pt>
              <c:pt idx="3">
                <c:v>0.947</c:v>
              </c:pt>
              <c:pt idx="4">
                <c:v>0.383</c:v>
              </c:pt>
              <c:pt idx="5">
                <c:v>0.031</c:v>
              </c:pt>
            </c:numLit>
          </c:val>
          <c:smooth val="0"/>
        </c:ser>
        <c:dLbls>
          <c:txPr>
            <a:bodyPr xmlns:a="http://schemas.openxmlformats.org/drawingml/2006/main" anchorCtr="1"/>
            <a:lstStyle xmlns:a="http://schemas.openxmlformats.org/drawingml/2006/main"/>
            <a:p xmlns:a="http://schemas.openxmlformats.org/drawingml/2006/main">
              <a:pPr>
                <a:defRPr>
                  <a:latin typeface="Roboto"/>
                  <a:ea typeface="Roboto"/>
                  <a:cs typeface="Roboto"/>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Roboto"/>
                    <a:ea typeface="Roboto"/>
                    <a:cs typeface="Roboto"/>
                  </a:rPr>
                  <a:t>Rauschstärke η</a:t>
                </a:r>
              </a:p>
            </c:rich>
          </c:tx>
          <c:overlay val="0"/>
          <c:txPr>
            <a:bodyPr xmlns:a="http://schemas.openxmlformats.org/drawingml/2006/main" anchorCtr="1"/>
            <a:lstStyle xmlns:a="http://schemas.openxmlformats.org/drawingml/2006/main"/>
            <a:p xmlns:a="http://schemas.openxmlformats.org/drawingml/2006/main">
              <a:pPr>
                <a:defRPr>
                  <a:latin typeface="Roboto"/>
                  <a:ea typeface="Roboto"/>
                  <a:cs typeface="Roboto"/>
                </a:defRPr>
              </a:pPr>
            </a:p>
          </c:txPr>
        </c:title>
        <c:numFmt formatCode="General"/>
        <c:majorTickMark val="none"/>
        <c:minorTickMark val="none"/>
        <c:spPr>
          <a:ln xmlns:a="http://schemas.openxmlformats.org/drawingml/2006/main" w="6668">
            <a:solidFill>
              <a:srgbClr val="AAAAAA"/>
            </a:solidFill>
          </a:ln>
        </c:spPr>
        <c:txPr>
          <a:bodyPr xmlns:a="http://schemas.openxmlformats.org/drawingml/2006/main" anchorCtr="1"/>
          <a:lstStyle xmlns:a="http://schemas.openxmlformats.org/drawingml/2006/main"/>
          <a:p xmlns:a="http://schemas.openxmlformats.org/drawingml/2006/main">
            <a:pPr>
              <a:defRPr sz="975">
                <a:solidFill>
                  <a:srgbClr val="595959"/>
                </a:solidFill>
                <a:latin typeface="Roboto"/>
                <a:ea typeface="Roboto"/>
                <a:cs typeface="Roboto"/>
              </a:defRPr>
            </a:pPr>
          </a:p>
        </c:txPr>
        <c:crossAx val="48672768"/>
      </c:catAx>
      <c:valAx>
        <c:axId val="48672768"/>
        <c:scaling>
          <c:orientation val="minMax"/>
          <c:max val="1"/>
          <c:min val="0"/>
        </c:scaling>
        <c:delete val="0"/>
        <c:axPos val="l"/>
        <c:majorGridlines>
          <c:spPr>
            <a:ln xmlns:a="http://schemas.openxmlformats.org/drawingml/2006/main" w="5715">
              <a:solidFill>
                <a:srgbClr val="DEDEDE"/>
              </a:solidFill>
            </a:ln>
          </c:spPr>
        </c:majorGridlines>
        <c:title>
          <c:tx>
            <c:rich>
              <a:bodyPr xmlns:a="http://schemas.openxmlformats.org/drawingml/2006/main"/>
              <a:lstStyle xmlns:a="http://schemas.openxmlformats.org/drawingml/2006/main"/>
              <a:p xmlns:a="http://schemas.openxmlformats.org/drawingml/2006/main">
                <a:r>
                  <a:rPr>
                    <a:latin typeface="Roboto"/>
                    <a:ea typeface="Roboto"/>
                    <a:cs typeface="Roboto"/>
                  </a:rPr>
                  <a:t>Vollständig korrekt sortiert</a:t>
                </a:r>
              </a:p>
            </c:rich>
          </c:tx>
          <c:overlay val="0"/>
          <c:txPr>
            <a:bodyPr xmlns:a="http://schemas.openxmlformats.org/drawingml/2006/main" anchorCtr="1"/>
            <a:lstStyle xmlns:a="http://schemas.openxmlformats.org/drawingml/2006/main"/>
            <a:p xmlns:a="http://schemas.openxmlformats.org/drawingml/2006/main">
              <a:pPr>
                <a:defRPr>
                  <a:latin typeface="Roboto"/>
                  <a:ea typeface="Roboto"/>
                  <a:cs typeface="Roboto"/>
                </a:defRPr>
              </a:pPr>
            </a:p>
          </c:txPr>
        </c:title>
        <c:numFmt formatCode="0%"/>
        <c:majorTickMark val="none"/>
        <c:minorTickMark val="none"/>
        <c:spPr>
          <a:ln xmlns:a="http://schemas.openxmlformats.org/drawingml/2006/main" w="6668">
            <a:solidFill>
              <a:srgbClr val="AAAAAA"/>
            </a:solidFill>
          </a:ln>
        </c:spPr>
        <c:txPr>
          <a:bodyPr xmlns:a="http://schemas.openxmlformats.org/drawingml/2006/main" anchorCtr="1"/>
          <a:lstStyle xmlns:a="http://schemas.openxmlformats.org/drawingml/2006/main"/>
          <a:p xmlns:a="http://schemas.openxmlformats.org/drawingml/2006/main">
            <a:pPr>
              <a:defRPr sz="975">
                <a:solidFill>
                  <a:srgbClr val="595959"/>
                </a:solidFill>
                <a:latin typeface="Roboto"/>
                <a:ea typeface="Roboto"/>
                <a:cs typeface="Roboto"/>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595959"/>
              </a:solidFill>
              <a:latin typeface="Roboto"/>
              <a:ea typeface="Roboto"/>
              <a:cs typeface="Roboto"/>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
            <a:extLst xmlns:a="http://schemas.openxmlformats.org/drawingml/2006/main">
              <a:ext uri="{FF2B5EF4-FFF2-40B4-BE49-F238E27FC236}">
                <a16:creationId xmlns:a16="http://schemas.microsoft.com/office/drawing/2014/main" id="{368D88C0-3C83-4BDE-90A7-3B456558DA12}"/>
              </a:ext>
            </a:extLst>
          </p:cNvPr>
          <p:cNvSpPr>
            <a:spLocks xmlns:a="http://schemas.openxmlformats.org/drawingml/2006/main" noGrp="1"/>
          </p:cNvSpPr>
          <p:nvPr/>
        </p:nvSpPr>
        <p:spPr>
          <a:xfrm xmlns:a="http://schemas.openxmlformats.org/drawingml/2006/main">
            <a:off x="1381125" y="1714500"/>
            <a:ext cx="6381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025">
                <a:solidFill>
                  <a:srgbClr val="111111"/>
                </a:solidFill>
                <a:latin typeface="Roboto"/>
                <a:ea typeface="Roboto"/>
                <a:cs typeface="Roboto"/>
              </a:defRPr>
            </a:pPr>
            <a:r>
              <a:rPr sz="2025">
                <a:solidFill>
                  <a:srgbClr val="111111"/>
                </a:solidFill>
                <a:latin typeface="Roboto"/>
                <a:ea typeface="Roboto"/>
                <a:cs typeface="Roboto"/>
              </a:rPr>
              <a:t>Sortierverfahren für hybride</a:t>
            </a:r>
          </a:p>
          <a:p xmlns:a="http://schemas.openxmlformats.org/drawingml/2006/main">
            <a:pPr algn="ctr">
              <a:defRPr sz="2025">
                <a:solidFill>
                  <a:srgbClr val="111111"/>
                </a:solidFill>
                <a:latin typeface="Roboto"/>
                <a:ea typeface="Roboto"/>
                <a:cs typeface="Roboto"/>
              </a:defRPr>
            </a:pPr>
            <a:r>
              <a:rPr sz="2025">
                <a:solidFill>
                  <a:srgbClr val="111111"/>
                </a:solidFill>
                <a:latin typeface="Roboto"/>
                <a:ea typeface="Roboto"/>
                <a:cs typeface="Roboto"/>
              </a:rPr>
              <a:t>photonische Prozessoren</a:t>
            </a:r>
          </a:p>
        </p:txBody>
      </p:sp>
      <p:sp>
        <p:nvSpPr>
          <p:cNvPr id="2" name="Text">
            <a:extLst xmlns:a="http://schemas.openxmlformats.org/drawingml/2006/main">
              <a:ext uri="{FF2B5EF4-FFF2-40B4-BE49-F238E27FC236}">
                <a16:creationId xmlns:a16="http://schemas.microsoft.com/office/drawing/2014/main" id="{F9712518-7980-4E7E-8F0B-FA9C87201136}"/>
              </a:ext>
            </a:extLst>
          </p:cNvPr>
          <p:cNvSpPr>
            <a:spLocks xmlns:a="http://schemas.openxmlformats.org/drawingml/2006/main" noGrp="1"/>
          </p:cNvSpPr>
          <p:nvPr/>
        </p:nvSpPr>
        <p:spPr>
          <a:xfrm xmlns:a="http://schemas.openxmlformats.org/drawingml/2006/main">
            <a:off x="1066800" y="2657475"/>
            <a:ext cx="701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a:solidFill>
                  <a:srgbClr val="595959"/>
                </a:solidFill>
                <a:latin typeface="Roboto"/>
                <a:ea typeface="Roboto"/>
                <a:cs typeface="Roboto"/>
              </a:defRPr>
            </a:pPr>
            <a:r>
              <a:rPr sz="1200">
                <a:solidFill>
                  <a:srgbClr val="595959"/>
                </a:solidFill>
                <a:latin typeface="Roboto"/>
                <a:ea typeface="Roboto"/>
                <a:cs typeface="Roboto"/>
              </a:rPr>
              <a:t>Forschungsstand und Vorschlag zur Anmeldung der Masterarbeit</a:t>
            </a:r>
          </a:p>
        </p:txBody>
      </p:sp>
      <p:sp>
        <p:nvSpPr>
          <p:cNvPr id="3" name="Text">
            <a:extLst xmlns:a="http://schemas.openxmlformats.org/drawingml/2006/main">
              <a:ext uri="{FF2B5EF4-FFF2-40B4-BE49-F238E27FC236}">
                <a16:creationId xmlns:a16="http://schemas.microsoft.com/office/drawing/2014/main" id="{99F69FDE-93D7-48BA-A828-32BED3936539}"/>
              </a:ext>
            </a:extLst>
          </p:cNvPr>
          <p:cNvSpPr>
            <a:spLocks xmlns:a="http://schemas.openxmlformats.org/drawingml/2006/main" noGrp="1"/>
          </p:cNvSpPr>
          <p:nvPr/>
        </p:nvSpPr>
        <p:spPr>
          <a:xfrm xmlns:a="http://schemas.openxmlformats.org/drawingml/2006/main">
            <a:off x="5762625" y="35052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a:solidFill>
                  <a:srgbClr val="595959"/>
                </a:solidFill>
                <a:latin typeface="Roboto"/>
                <a:ea typeface="Roboto"/>
                <a:cs typeface="Roboto"/>
              </a:defRPr>
            </a:pPr>
            <a:r>
              <a:rPr sz="1800">
                <a:solidFill>
                  <a:srgbClr val="595959"/>
                </a:solidFill>
                <a:latin typeface="Roboto"/>
                <a:ea typeface="Roboto"/>
                <a:cs typeface="Roboto"/>
              </a:rPr>
              <a:t>Bharadwaj Srikumar</a:t>
            </a:r>
          </a:p>
          <a:p xmlns:a="http://schemas.openxmlformats.org/drawingml/2006/main">
            <a:pPr algn="l">
              <a:defRPr sz="1800">
                <a:solidFill>
                  <a:srgbClr val="595959"/>
                </a:solidFill>
                <a:latin typeface="Roboto"/>
                <a:ea typeface="Roboto"/>
                <a:cs typeface="Roboto"/>
              </a:defRPr>
            </a:pPr>
            <a:r>
              <a:rPr sz="1800">
                <a:solidFill>
                  <a:srgbClr val="595959"/>
                </a:solidFill>
                <a:latin typeface="Roboto"/>
                <a:ea typeface="Roboto"/>
                <a:cs typeface="Roboto"/>
              </a:rPr>
              <a:t>018331312</a:t>
            </a:r>
          </a:p>
        </p:txBody>
      </p:sp>
      <p:sp>
        <p:nvSpPr>
          <p:cNvPr id="4" name="Text">
            <a:extLst xmlns:a="http://schemas.openxmlformats.org/drawingml/2006/main">
              <a:ext uri="{FF2B5EF4-FFF2-40B4-BE49-F238E27FC236}">
                <a16:creationId xmlns:a16="http://schemas.microsoft.com/office/drawing/2014/main" id="{016DCFBF-34F2-459E-81DE-D7E35B5955CA}"/>
              </a:ext>
            </a:extLst>
          </p:cNvPr>
          <p:cNvSpPr>
            <a:spLocks xmlns:a="http://schemas.openxmlformats.org/drawingml/2006/main" noGrp="1"/>
          </p:cNvSpPr>
          <p:nvPr/>
        </p:nvSpPr>
        <p:spPr>
          <a:xfrm xmlns:a="http://schemas.openxmlformats.org/drawingml/2006/main">
            <a:off x="5762625" y="424815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a:solidFill>
                  <a:srgbClr val="595959"/>
                </a:solidFill>
                <a:latin typeface="Roboto"/>
                <a:ea typeface="Roboto"/>
                <a:cs typeface="Roboto"/>
              </a:defRPr>
            </a:pPr>
            <a:r>
              <a:rPr sz="1125">
                <a:solidFill>
                  <a:srgbClr val="595959"/>
                </a:solidFill>
                <a:latin typeface="Roboto"/>
                <a:ea typeface="Roboto"/>
                <a:cs typeface="Roboto"/>
              </a:rPr>
              <a:t>5. Oktober 2026</a:t>
            </a:r>
          </a:p>
        </p:txBody>
      </p:sp>
    </p:spTree>
    <p:extLst>
      <p:ext uri="{BB962C8B-B14F-4D97-AF65-F5344CB8AC3E}">
        <p14:creationId xmlns:p14="http://schemas.microsoft.com/office/powerpoint/2010/main" val="10019000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Folientitel">
            <a:extLst xmlns:a="http://schemas.openxmlformats.org/drawingml/2006/main">
              <a:ext uri="{FF2B5EF4-FFF2-40B4-BE49-F238E27FC236}">
                <a16:creationId xmlns:a16="http://schemas.microsoft.com/office/drawing/2014/main" id="{54760F8B-BCCD-4A4C-B382-08E52B625770}"/>
              </a:ext>
            </a:extLst>
          </p:cNvPr>
          <p:cNvSpPr>
            <a:spLocks xmlns:a="http://schemas.openxmlformats.org/drawingml/2006/main" noGrp="1"/>
          </p:cNvSpPr>
          <p:nvPr/>
        </p:nvSpPr>
        <p:spPr>
          <a:xfrm xmlns:a="http://schemas.openxmlformats.org/drawingml/2006/main">
            <a:off x="400050" y="542925"/>
            <a:ext cx="828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20">
                <a:solidFill>
                  <a:srgbClr val="111111"/>
                </a:solidFill>
                <a:latin typeface="Roboto"/>
                <a:ea typeface="Roboto"/>
                <a:cs typeface="Roboto"/>
              </a:defRPr>
            </a:pPr>
            <a:r>
              <a:rPr sz="1620">
                <a:solidFill>
                  <a:srgbClr val="111111"/>
                </a:solidFill>
                <a:latin typeface="Roboto"/>
                <a:ea typeface="Roboto"/>
                <a:cs typeface="Roboto"/>
              </a:rPr>
              <a:t>Vom historischen Modell zum Vergleichsrahmen</a:t>
            </a:r>
          </a:p>
        </p:txBody>
      </p:sp>
      <p:sp>
        <p:nvSpPr>
          <p:cNvPr id="2" name="Text">
            <a:extLst xmlns:a="http://schemas.openxmlformats.org/drawingml/2006/main">
              <a:ext uri="{FF2B5EF4-FFF2-40B4-BE49-F238E27FC236}">
                <a16:creationId xmlns:a16="http://schemas.microsoft.com/office/drawing/2014/main" id="{D3895CA7-1C58-41FB-BC2A-8D811DAD95ED}"/>
              </a:ext>
            </a:extLst>
          </p:cNvPr>
          <p:cNvSpPr>
            <a:spLocks xmlns:a="http://schemas.openxmlformats.org/drawingml/2006/main" noGrp="1"/>
          </p:cNvSpPr>
          <p:nvPr/>
        </p:nvSpPr>
        <p:spPr>
          <a:xfrm xmlns:a="http://schemas.openxmlformats.org/drawingml/2006/main">
            <a:off x="400050" y="4772025"/>
            <a:ext cx="798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55">
                <a:solidFill>
                  <a:srgbClr val="315D91"/>
                </a:solidFill>
                <a:latin typeface="Roboto"/>
                <a:ea typeface="Roboto"/>
                <a:cs typeface="Roboto"/>
              </a:defRPr>
            </a:pPr>
            <a:r>
              <a:rPr sz="855">
                <a:solidFill>
                  <a:srgbClr val="315D91"/>
                </a:solidFill>
                <a:latin typeface="Roboto"/>
                <a:ea typeface="Roboto"/>
                <a:cs typeface="Roboto"/>
              </a:rPr>
              <a:t>Quellen: Thompson (1979); Caulfield (1991); Li &amp; Monticone (2025)</a:t>
            </a:r>
          </a:p>
        </p:txBody>
      </p:sp>
      <p:sp>
        <p:nvSpPr>
          <p:cNvPr id="3" name="Text">
            <a:extLst xmlns:a="http://schemas.openxmlformats.org/drawingml/2006/main">
              <a:ext uri="{FF2B5EF4-FFF2-40B4-BE49-F238E27FC236}">
                <a16:creationId xmlns:a16="http://schemas.microsoft.com/office/drawing/2014/main" id="{48853D57-C54E-416C-9709-C78ACD1791A3}"/>
              </a:ext>
            </a:extLst>
          </p:cNvPr>
          <p:cNvSpPr>
            <a:spLocks xmlns:a="http://schemas.openxmlformats.org/drawingml/2006/main" noGrp="1"/>
          </p:cNvSpPr>
          <p:nvPr/>
        </p:nvSpPr>
        <p:spPr>
          <a:xfrm xmlns:a="http://schemas.openxmlformats.org/drawingml/2006/main">
            <a:off x="8667750" y="4819650"/>
            <a:ext cx="2286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a:solidFill>
                  <a:srgbClr val="595959"/>
                </a:solidFill>
                <a:latin typeface="Roboto"/>
                <a:ea typeface="Roboto"/>
                <a:cs typeface="Roboto"/>
              </a:defRPr>
            </a:pPr>
            <a:r>
              <a:rPr sz="900">
                <a:solidFill>
                  <a:srgbClr val="595959"/>
                </a:solidFill>
                <a:latin typeface="Roboto"/>
                <a:ea typeface="Roboto"/>
                <a:cs typeface="Roboto"/>
              </a:rPr>
              <a:t>2</a:t>
            </a:r>
          </a:p>
        </p:txBody>
      </p:sp>
      <p:graphicFrame>
        <p:nvGraphicFramePr>
          <p:cNvPr id="12" name=""/>
          <p:cNvGraphicFramePr/>
          <p:nvPr/>
        </p:nvGraphicFramePr>
        <p:xfrm>
          <a:off xmlns:a="http://schemas.openxmlformats.org/drawingml/2006/main" x="400050" y="1133475"/>
          <a:ext xmlns:a="http://schemas.openxmlformats.org/drawingml/2006/main" cx="8343900" cy="1847850"/>
        </p:xfrm>
        <a:graphic xmlns:a="http://schemas.openxmlformats.org/drawingml/2006/main">
          <a:graphicData uri="http://schemas.openxmlformats.org/drawingml/2006/table">
            <a:tbl>
              <a:tblPr firstRow="1" bandRow="0"/>
              <a:tblGrid>
                <a:gridCol w="2771775"/>
                <a:gridCol w="5572125"/>
              </a:tblGrid>
              <a:tr h="461963">
                <a:tc>
                  <a:txBody>
                    <a:bodyPr lIns="85725" tIns="66675" rIns="85725" bIns="66675">
                      <a:noAutofit/>
                    </a:bodyPr>
                    <a:lstStyle/>
                    <a:p>
                      <a:r>
                        <a:rPr sz="1200" b="1">
                          <a:solidFill>
                            <a:srgbClr val="111111"/>
                          </a:solidFill>
                          <a:latin typeface="Roboto"/>
                          <a:ea typeface="Roboto"/>
                          <a:cs typeface="Roboto"/>
                        </a:rPr>
                        <a:t>Historischer Ansatz</a:t>
                      </a:r>
                    </a:p>
                  </a:txBody>
                  <a:tcPr marL="91440" marR="91440" marT="45720" marB="45720" anchor="ctr">
                    <a:solidFill>
                      <a:srgbClr val="F1F1F1"/>
                    </a:solidFill>
                  </a:tcPr>
                </a:tc>
                <a:tc>
                  <a:txBody>
                    <a:bodyPr lIns="85725" tIns="66675" rIns="85725" bIns="66675">
                      <a:noAutofit/>
                    </a:bodyPr>
                    <a:lstStyle/>
                    <a:p>
                      <a:r>
                        <a:rPr sz="1200" b="1">
                          <a:solidFill>
                            <a:srgbClr val="111111"/>
                          </a:solidFill>
                          <a:latin typeface="Roboto"/>
                          <a:ea typeface="Roboto"/>
                          <a:cs typeface="Roboto"/>
                        </a:rPr>
                        <a:t>Folgerung für unsere Bewertung</a:t>
                      </a:r>
                    </a:p>
                  </a:txBody>
                  <a:tcPr marL="91440" marR="91440" marT="45720" marB="45720" anchor="ctr">
                    <a:solidFill>
                      <a:srgbClr val="F1F1F1"/>
                    </a:solidFill>
                  </a:tcPr>
                </a:tc>
              </a:tr>
              <a:tr h="461963">
                <a:tc>
                  <a:txBody>
                    <a:bodyPr lIns="85725" tIns="66675" rIns="85725" bIns="66675">
                      <a:noAutofit/>
                    </a:bodyPr>
                    <a:lstStyle/>
                    <a:p>
                      <a:r>
                        <a:rPr sz="1200" b="0">
                          <a:solidFill>
                            <a:srgbClr val="595959"/>
                          </a:solidFill>
                          <a:latin typeface="Roboto"/>
                          <a:ea typeface="Roboto"/>
                          <a:cs typeface="Roboto"/>
                        </a:rPr>
                        <a:t>Thompson: VLSI-Fläche und Zeit</a:t>
                      </a:r>
                    </a:p>
                  </a:txBody>
                  <a:tcPr marL="91440" marR="91440" marT="45720" marB="45720" anchor="ctr">
                    <a:solidFill>
                      <a:srgbClr val="FFFFFF"/>
                    </a:solidFill>
                  </a:tcPr>
                </a:tc>
                <a:tc>
                  <a:txBody>
                    <a:bodyPr lIns="85725" tIns="66675" rIns="85725" bIns="66675">
                      <a:noAutofit/>
                    </a:bodyPr>
                    <a:lstStyle/>
                    <a:p>
                      <a:r>
                        <a:rPr sz="1200" b="0">
                          <a:solidFill>
                            <a:srgbClr val="595959"/>
                          </a:solidFill>
                          <a:latin typeface="Roboto"/>
                          <a:ea typeface="Roboto"/>
                          <a:cs typeface="Roboto"/>
                        </a:rPr>
                        <a:t>Kommunikation und Layout kosten Ressourcen; Fläche ist nicht gleich Speicherbedarf.</a:t>
                      </a:r>
                    </a:p>
                  </a:txBody>
                  <a:tcPr marL="91440" marR="91440" marT="45720" marB="45720" anchor="ctr">
                    <a:solidFill>
                      <a:srgbClr val="FFFFFF"/>
                    </a:solidFill>
                  </a:tcPr>
                </a:tc>
              </a:tr>
              <a:tr h="461963">
                <a:tc>
                  <a:txBody>
                    <a:bodyPr lIns="85725" tIns="66675" rIns="85725" bIns="66675">
                      <a:noAutofit/>
                    </a:bodyPr>
                    <a:lstStyle/>
                    <a:p>
                      <a:r>
                        <a:rPr sz="1200" b="0">
                          <a:solidFill>
                            <a:srgbClr val="595959"/>
                          </a:solidFill>
                          <a:latin typeface="Roboto"/>
                          <a:ea typeface="Roboto"/>
                          <a:cs typeface="Roboto"/>
                        </a:rPr>
                        <a:t>Caulfield: Raum, Zeit und Fan-in</a:t>
                      </a:r>
                    </a:p>
                  </a:txBody>
                  <a:tcPr marL="91440" marR="91440" marT="45720" marB="45720" anchor="ctr">
                    <a:solidFill>
                      <a:srgbClr val="FFFFFF"/>
                    </a:solidFill>
                  </a:tcPr>
                </a:tc>
                <a:tc>
                  <a:txBody>
                    <a:bodyPr lIns="85725" tIns="66675" rIns="85725" bIns="66675">
                      <a:noAutofit/>
                    </a:bodyPr>
                    <a:lstStyle/>
                    <a:p>
                      <a:r>
                        <a:rPr sz="1200" b="0">
                          <a:solidFill>
                            <a:srgbClr val="595959"/>
                          </a:solidFill>
                          <a:latin typeface="Roboto"/>
                          <a:ea typeface="Roboto"/>
                          <a:cs typeface="Roboto"/>
                        </a:rPr>
                        <a:t>Wenige breite optische Stufen können viele skalare Operationen verbergen.</a:t>
                      </a:r>
                    </a:p>
                  </a:txBody>
                  <a:tcPr marL="91440" marR="91440" marT="45720" marB="45720" anchor="ctr">
                    <a:solidFill>
                      <a:srgbClr val="FFFFFF"/>
                    </a:solidFill>
                  </a:tcPr>
                </a:tc>
              </a:tr>
              <a:tr h="461963">
                <a:tc>
                  <a:txBody>
                    <a:bodyPr lIns="85725" tIns="66675" rIns="85725" bIns="66675">
                      <a:noAutofit/>
                    </a:bodyPr>
                    <a:lstStyle/>
                    <a:p>
                      <a:r>
                        <a:rPr sz="1200" b="0">
                          <a:solidFill>
                            <a:srgbClr val="595959"/>
                          </a:solidFill>
                          <a:latin typeface="Roboto"/>
                          <a:ea typeface="Roboto"/>
                          <a:cs typeface="Roboto"/>
                        </a:rPr>
                        <a:t>Li &amp; Monticone: räumliche Grenzen</a:t>
                      </a:r>
                    </a:p>
                  </a:txBody>
                  <a:tcPr marL="91440" marR="91440" marT="45720" marB="45720" anchor="ctr">
                    <a:solidFill>
                      <a:srgbClr val="FFFFFF"/>
                    </a:solidFill>
                  </a:tcPr>
                </a:tc>
                <a:tc>
                  <a:txBody>
                    <a:bodyPr lIns="85725" tIns="66675" rIns="85725" bIns="66675">
                      <a:noAutofit/>
                    </a:bodyPr>
                    <a:lstStyle/>
                    <a:p>
                      <a:r>
                        <a:rPr sz="1200" b="0">
                          <a:solidFill>
                            <a:srgbClr val="595959"/>
                          </a:solidFill>
                          <a:latin typeface="Roboto"/>
                          <a:ea typeface="Roboto"/>
                          <a:cs typeface="Roboto"/>
                        </a:rPr>
                        <a:t>Physische Ausdehnung und Verbindungen begrenzen lineare optische Operatoren.</a:t>
                      </a:r>
                    </a:p>
                  </a:txBody>
                  <a:tcPr marL="91440" marR="91440" marT="45720" marB="45720" anchor="ctr">
                    <a:solidFill>
                      <a:srgbClr val="FFFFFF"/>
                    </a:solidFill>
                  </a:tcPr>
                </a:tc>
              </a:tr>
            </a:tbl>
          </a:graphicData>
        </a:graphic>
      </p:graphicFrame>
      <p:sp>
        <p:nvSpPr>
          <p:cNvPr id="5" name="Text">
            <a:extLst xmlns:a="http://schemas.openxmlformats.org/drawingml/2006/main">
              <a:ext uri="{FF2B5EF4-FFF2-40B4-BE49-F238E27FC236}">
                <a16:creationId xmlns:a16="http://schemas.microsoft.com/office/drawing/2014/main" id="{B4552E4F-4B35-4874-9A75-5FDA1F6AEF50}"/>
              </a:ext>
            </a:extLst>
          </p:cNvPr>
          <p:cNvSpPr>
            <a:spLocks xmlns:a="http://schemas.openxmlformats.org/drawingml/2006/main" noGrp="1"/>
          </p:cNvSpPr>
          <p:nvPr/>
        </p:nvSpPr>
        <p:spPr>
          <a:xfrm xmlns:a="http://schemas.openxmlformats.org/drawingml/2006/main">
            <a:off x="400050" y="3200400"/>
            <a:ext cx="8191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a:solidFill>
                  <a:srgbClr val="111111"/>
                </a:solidFill>
                <a:latin typeface="Roboto"/>
                <a:ea typeface="Roboto"/>
                <a:cs typeface="Roboto"/>
              </a:defRPr>
            </a:pPr>
            <a:r>
              <a:rPr sz="1350">
                <a:solidFill>
                  <a:srgbClr val="111111"/>
                </a:solidFill>
                <a:latin typeface="Roboto"/>
                <a:ea typeface="Roboto"/>
                <a:cs typeface="Roboto"/>
              </a:rPr>
              <a:t>Beibehalten: C = (T, S, H, D)</a:t>
            </a:r>
          </a:p>
        </p:txBody>
      </p:sp>
      <p:sp>
        <p:nvSpPr>
          <p:cNvPr id="6" name="Text">
            <a:extLst xmlns:a="http://schemas.openxmlformats.org/drawingml/2006/main">
              <a:ext uri="{FF2B5EF4-FFF2-40B4-BE49-F238E27FC236}">
                <a16:creationId xmlns:a16="http://schemas.microsoft.com/office/drawing/2014/main" id="{2527FBBF-44A4-4099-A68C-DCDFCFADE802}"/>
              </a:ext>
            </a:extLst>
          </p:cNvPr>
          <p:cNvSpPr>
            <a:spLocks xmlns:a="http://schemas.openxmlformats.org/drawingml/2006/main" noGrp="1"/>
          </p:cNvSpPr>
          <p:nvPr/>
        </p:nvSpPr>
        <p:spPr>
          <a:xfrm xmlns:a="http://schemas.openxmlformats.org/drawingml/2006/main">
            <a:off x="542925" y="362902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T  Gesamte sequenzielle Arbeit einer Sortierung</a:t>
            </a:r>
          </a:p>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S  Maximal gleichzeitig belegte logische Wörter</a:t>
            </a:r>
          </a:p>
        </p:txBody>
      </p:sp>
      <p:sp>
        <p:nvSpPr>
          <p:cNvPr id="7" name="Text">
            <a:extLst xmlns:a="http://schemas.openxmlformats.org/drawingml/2006/main">
              <a:ext uri="{FF2B5EF4-FFF2-40B4-BE49-F238E27FC236}">
                <a16:creationId xmlns:a16="http://schemas.microsoft.com/office/drawing/2014/main" id="{AEA243A6-420A-4EFD-B05D-7DE85A854ECB}"/>
              </a:ext>
            </a:extLst>
          </p:cNvPr>
          <p:cNvSpPr>
            <a:spLocks xmlns:a="http://schemas.openxmlformats.org/drawingml/2006/main" noGrp="1"/>
          </p:cNvSpPr>
          <p:nvPr/>
        </p:nvSpPr>
        <p:spPr>
          <a:xfrm xmlns:a="http://schemas.openxmlformats.org/drawingml/2006/main">
            <a:off x="4724400" y="3629025"/>
            <a:ext cx="4019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H  Installierte Verarbeitungspositionen</a:t>
            </a:r>
          </a:p>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D  Optische Tiefe zwischen Regenerationen</a:t>
            </a:r>
          </a:p>
        </p:txBody>
      </p:sp>
      <p:sp>
        <p:nvSpPr>
          <p:cNvPr id="8" name="Text">
            <a:extLst xmlns:a="http://schemas.openxmlformats.org/drawingml/2006/main">
              <a:ext uri="{FF2B5EF4-FFF2-40B4-BE49-F238E27FC236}">
                <a16:creationId xmlns:a16="http://schemas.microsoft.com/office/drawing/2014/main" id="{79FBFCF2-64AF-44BD-A854-043CC6DD8013}"/>
              </a:ext>
            </a:extLst>
          </p:cNvPr>
          <p:cNvSpPr>
            <a:spLocks xmlns:a="http://schemas.openxmlformats.org/drawingml/2006/main" noGrp="1"/>
          </p:cNvSpPr>
          <p:nvPr/>
        </p:nvSpPr>
        <p:spPr>
          <a:xfrm xmlns:a="http://schemas.openxmlformats.org/drawingml/2006/main">
            <a:off x="542925" y="4391025"/>
            <a:ext cx="815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88">
                <a:solidFill>
                  <a:srgbClr val="595959"/>
                </a:solidFill>
                <a:latin typeface="Roboto"/>
                <a:ea typeface="Roboto"/>
                <a:cs typeface="Roboto"/>
              </a:defRPr>
            </a:pPr>
            <a:r>
              <a:rPr sz="1088">
                <a:solidFill>
                  <a:srgbClr val="595959"/>
                </a:solidFill>
                <a:latin typeface="Roboto"/>
                <a:ea typeface="Roboto"/>
                <a:cs typeface="Roboto"/>
              </a:rPr>
              <a:t>N = Anzahl der Datensätze. T ist RAM-ähnliche Arbeit; H und D beschreiben die Architektur.</a:t>
            </a:r>
          </a:p>
        </p:txBody>
      </p:sp>
    </p:spTree>
    <p:extLst>
      <p:ext uri="{BB962C8B-B14F-4D97-AF65-F5344CB8AC3E}">
        <p14:creationId xmlns:p14="http://schemas.microsoft.com/office/powerpoint/2010/main" val="187534956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Folientitel">
            <a:extLst xmlns:a="http://schemas.openxmlformats.org/drawingml/2006/main">
              <a:ext uri="{FF2B5EF4-FFF2-40B4-BE49-F238E27FC236}">
                <a16:creationId xmlns:a16="http://schemas.microsoft.com/office/drawing/2014/main" id="{CACE972D-A8FC-4F80-B05D-6509342D4BD2}"/>
              </a:ext>
            </a:extLst>
          </p:cNvPr>
          <p:cNvSpPr>
            <a:spLocks xmlns:a="http://schemas.openxmlformats.org/drawingml/2006/main" noGrp="1"/>
          </p:cNvSpPr>
          <p:nvPr/>
        </p:nvSpPr>
        <p:spPr>
          <a:xfrm xmlns:a="http://schemas.openxmlformats.org/drawingml/2006/main">
            <a:off x="400050" y="542925"/>
            <a:ext cx="828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20">
                <a:solidFill>
                  <a:srgbClr val="111111"/>
                </a:solidFill>
                <a:latin typeface="Roboto"/>
                <a:ea typeface="Roboto"/>
                <a:cs typeface="Roboto"/>
              </a:defRPr>
            </a:pPr>
            <a:r>
              <a:rPr sz="1620">
                <a:solidFill>
                  <a:srgbClr val="111111"/>
                </a:solidFill>
                <a:latin typeface="Roboto"/>
                <a:ea typeface="Roboto"/>
                <a:cs typeface="Roboto"/>
              </a:rPr>
              <a:t>Aktualisierte Komplexitäten der fünf Architekturen</a:t>
            </a:r>
          </a:p>
        </p:txBody>
      </p:sp>
      <p:sp>
        <p:nvSpPr>
          <p:cNvPr id="2" name="Text">
            <a:extLst xmlns:a="http://schemas.openxmlformats.org/drawingml/2006/main">
              <a:ext uri="{FF2B5EF4-FFF2-40B4-BE49-F238E27FC236}">
                <a16:creationId xmlns:a16="http://schemas.microsoft.com/office/drawing/2014/main" id="{B6805062-295C-4C3D-9A1E-E1C99D8113F2}"/>
              </a:ext>
            </a:extLst>
          </p:cNvPr>
          <p:cNvSpPr>
            <a:spLocks xmlns:a="http://schemas.openxmlformats.org/drawingml/2006/main" noGrp="1"/>
          </p:cNvSpPr>
          <p:nvPr/>
        </p:nvSpPr>
        <p:spPr>
          <a:xfrm xmlns:a="http://schemas.openxmlformats.org/drawingml/2006/main">
            <a:off x="400050" y="4772025"/>
            <a:ext cx="798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55">
                <a:solidFill>
                  <a:srgbClr val="315D91"/>
                </a:solidFill>
                <a:latin typeface="Roboto"/>
                <a:ea typeface="Roboto"/>
                <a:cs typeface="Roboto"/>
              </a:defRPr>
            </a:pPr>
            <a:r>
              <a:rPr sz="855">
                <a:solidFill>
                  <a:srgbClr val="315D91"/>
                </a:solidFill>
                <a:latin typeface="Roboto"/>
                <a:ea typeface="Roboto"/>
                <a:cs typeface="Roboto"/>
              </a:rPr>
              <a:t>Quellen: Stirk &amp; Athale; Beyette; Desmulliez; Louri; Mizutani — Details in den Notizen</a:t>
            </a:r>
          </a:p>
        </p:txBody>
      </p:sp>
      <p:sp>
        <p:nvSpPr>
          <p:cNvPr id="3" name="Text">
            <a:extLst xmlns:a="http://schemas.openxmlformats.org/drawingml/2006/main">
              <a:ext uri="{FF2B5EF4-FFF2-40B4-BE49-F238E27FC236}">
                <a16:creationId xmlns:a16="http://schemas.microsoft.com/office/drawing/2014/main" id="{3D300BE5-4326-45A2-8731-904D850488F4}"/>
              </a:ext>
            </a:extLst>
          </p:cNvPr>
          <p:cNvSpPr>
            <a:spLocks xmlns:a="http://schemas.openxmlformats.org/drawingml/2006/main" noGrp="1"/>
          </p:cNvSpPr>
          <p:nvPr/>
        </p:nvSpPr>
        <p:spPr>
          <a:xfrm xmlns:a="http://schemas.openxmlformats.org/drawingml/2006/main">
            <a:off x="8667750" y="4819650"/>
            <a:ext cx="2286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a:solidFill>
                  <a:srgbClr val="595959"/>
                </a:solidFill>
                <a:latin typeface="Roboto"/>
                <a:ea typeface="Roboto"/>
                <a:cs typeface="Roboto"/>
              </a:defRPr>
            </a:pPr>
            <a:r>
              <a:rPr sz="900">
                <a:solidFill>
                  <a:srgbClr val="595959"/>
                </a:solidFill>
                <a:latin typeface="Roboto"/>
                <a:ea typeface="Roboto"/>
                <a:cs typeface="Roboto"/>
              </a:rPr>
              <a:t>3</a:t>
            </a:r>
          </a:p>
        </p:txBody>
      </p:sp>
      <p:graphicFrame>
        <p:nvGraphicFramePr>
          <p:cNvPr id="10" name=""/>
          <p:cNvGraphicFramePr/>
          <p:nvPr/>
        </p:nvGraphicFramePr>
        <p:xfrm>
          <a:off xmlns:a="http://schemas.openxmlformats.org/drawingml/2006/main" x="400050" y="1104900"/>
          <a:ext xmlns:a="http://schemas.openxmlformats.org/drawingml/2006/main" cx="8343900" cy="2543175"/>
        </p:xfrm>
        <a:graphic xmlns:a="http://schemas.openxmlformats.org/drawingml/2006/main">
          <a:graphicData uri="http://schemas.openxmlformats.org/drawingml/2006/table">
            <a:tbl>
              <a:tblPr firstRow="1" bandRow="0"/>
              <a:tblGrid>
                <a:gridCol w="2371725"/>
                <a:gridCol w="1362075"/>
                <a:gridCol w="962025"/>
                <a:gridCol w="1447800"/>
                <a:gridCol w="2200275"/>
              </a:tblGrid>
              <a:tr h="423863">
                <a:tc>
                  <a:txBody>
                    <a:bodyPr lIns="85725" tIns="66675" rIns="85725" bIns="66675">
                      <a:noAutofit/>
                    </a:bodyPr>
                    <a:lstStyle/>
                    <a:p>
                      <a:r>
                        <a:rPr sz="1102" b="1">
                          <a:solidFill>
                            <a:srgbClr val="111111"/>
                          </a:solidFill>
                          <a:latin typeface="Roboto"/>
                          <a:ea typeface="Roboto"/>
                          <a:cs typeface="Roboto"/>
                        </a:rPr>
                        <a:t>Architektur</a:t>
                      </a:r>
                    </a:p>
                  </a:txBody>
                  <a:tcPr marL="91440" marR="91440" marT="45720" marB="45720" anchor="ctr">
                    <a:solidFill>
                      <a:srgbClr val="F1F1F1"/>
                    </a:solidFill>
                  </a:tcPr>
                </a:tc>
                <a:tc>
                  <a:txBody>
                    <a:bodyPr lIns="85725" tIns="66675" rIns="85725" bIns="66675">
                      <a:noAutofit/>
                    </a:bodyPr>
                    <a:lstStyle/>
                    <a:p>
                      <a:r>
                        <a:rPr sz="1102" b="1">
                          <a:solidFill>
                            <a:srgbClr val="111111"/>
                          </a:solidFill>
                          <a:latin typeface="Roboto"/>
                          <a:ea typeface="Roboto"/>
                          <a:cs typeface="Roboto"/>
                        </a:rPr>
                        <a:t>T</a:t>
                      </a:r>
                    </a:p>
                  </a:txBody>
                  <a:tcPr marL="91440" marR="91440" marT="45720" marB="45720" anchor="ctr">
                    <a:solidFill>
                      <a:srgbClr val="F1F1F1"/>
                    </a:solidFill>
                  </a:tcPr>
                </a:tc>
                <a:tc>
                  <a:txBody>
                    <a:bodyPr lIns="85725" tIns="66675" rIns="85725" bIns="66675">
                      <a:noAutofit/>
                    </a:bodyPr>
                    <a:lstStyle/>
                    <a:p>
                      <a:r>
                        <a:rPr sz="1102" b="1">
                          <a:solidFill>
                            <a:srgbClr val="111111"/>
                          </a:solidFill>
                          <a:latin typeface="Roboto"/>
                          <a:ea typeface="Roboto"/>
                          <a:cs typeface="Roboto"/>
                        </a:rPr>
                        <a:t>S</a:t>
                      </a:r>
                    </a:p>
                  </a:txBody>
                  <a:tcPr marL="91440" marR="91440" marT="45720" marB="45720" anchor="ctr">
                    <a:solidFill>
                      <a:srgbClr val="F1F1F1"/>
                    </a:solidFill>
                  </a:tcPr>
                </a:tc>
                <a:tc>
                  <a:txBody>
                    <a:bodyPr lIns="85725" tIns="66675" rIns="85725" bIns="66675">
                      <a:noAutofit/>
                    </a:bodyPr>
                    <a:lstStyle/>
                    <a:p>
                      <a:r>
                        <a:rPr sz="1102" b="1">
                          <a:solidFill>
                            <a:srgbClr val="111111"/>
                          </a:solidFill>
                          <a:latin typeface="Roboto"/>
                          <a:ea typeface="Roboto"/>
                          <a:cs typeface="Roboto"/>
                        </a:rPr>
                        <a:t>H</a:t>
                      </a:r>
                    </a:p>
                  </a:txBody>
                  <a:tcPr marL="91440" marR="91440" marT="45720" marB="45720" anchor="ctr">
                    <a:solidFill>
                      <a:srgbClr val="F1F1F1"/>
                    </a:solidFill>
                  </a:tcPr>
                </a:tc>
                <a:tc>
                  <a:txBody>
                    <a:bodyPr lIns="85725" tIns="66675" rIns="85725" bIns="66675">
                      <a:noAutofit/>
                    </a:bodyPr>
                    <a:lstStyle/>
                    <a:p>
                      <a:r>
                        <a:rPr sz="1102" b="1">
                          <a:solidFill>
                            <a:srgbClr val="111111"/>
                          </a:solidFill>
                          <a:latin typeface="Roboto"/>
                          <a:ea typeface="Roboto"/>
                          <a:cs typeface="Roboto"/>
                        </a:rPr>
                        <a:t>D</a:t>
                      </a:r>
                    </a:p>
                  </a:txBody>
                  <a:tcPr marL="91440" marR="91440" marT="45720" marB="45720" anchor="ctr">
                    <a:solidFill>
                      <a:srgbClr val="F1F1F1"/>
                    </a:solidFill>
                  </a:tcPr>
                </a:tc>
              </a:tr>
              <a:tr h="423863">
                <a:tc>
                  <a:txBody>
                    <a:bodyPr lIns="85725" tIns="66675" rIns="85725" bIns="66675">
                      <a:noAutofit/>
                    </a:bodyPr>
                    <a:lstStyle/>
                    <a:p>
                      <a:r>
                        <a:rPr sz="1102" b="0">
                          <a:solidFill>
                            <a:srgbClr val="595959"/>
                          </a:solidFill>
                          <a:latin typeface="Roboto"/>
                          <a:ea typeface="Roboto"/>
                          <a:cs typeface="Roboto"/>
                        </a:rPr>
                        <a:t>Stirk &amp; Athale</a:t>
                      </a:r>
                    </a:p>
                    <a:p>
                      <a:r>
                        <a:rPr sz="1102" b="0">
                          <a:solidFill>
                            <a:srgbClr val="595959"/>
                          </a:solidFill>
                          <a:latin typeface="Roboto"/>
                          <a:ea typeface="Roboto"/>
                          <a:cs typeface="Roboto"/>
                        </a:rPr>
                        <a:t>Pipeline-Bitonic</a:t>
                      </a:r>
                    </a:p>
                  </a:txBody>
                  <a:tcPr marL="91440" marR="91440" marT="45720" marB="45720" anchor="ctr">
                    <a:solidFill>
                      <a:srgbClr val="FFFFFF"/>
                    </a:solidFill>
                  </a:tcPr>
                </a:tc>
                <a:tc>
                  <a:txBody>
                    <a:bodyPr lIns="85725" tIns="66675" rIns="85725" bIns="66675">
                      <a:noAutofit/>
                    </a:bodyPr>
                    <a:lstStyle/>
                    <a:p>
                      <a:r>
                        <a:rPr sz="1102" b="0">
                          <a:solidFill>
                            <a:srgbClr val="595959"/>
                          </a:solidFill>
                          <a:latin typeface="Roboto"/>
                          <a:ea typeface="Roboto"/>
                          <a:cs typeface="Roboto"/>
                        </a:rPr>
                        <a:t>Θ(N log²N)</a:t>
                      </a:r>
                    </a:p>
                  </a:txBody>
                  <a:tcPr marL="91440" marR="91440" marT="45720" marB="45720" anchor="ctr">
                    <a:solidFill>
                      <a:srgbClr val="FFFFFF"/>
                    </a:solidFill>
                  </a:tcPr>
                </a:tc>
                <a:tc>
                  <a:txBody>
                    <a:bodyPr lIns="85725" tIns="66675" rIns="85725" bIns="66675">
                      <a:noAutofit/>
                    </a:bodyPr>
                    <a:lstStyle/>
                    <a:p>
                      <a:r>
                        <a:rPr sz="1102" b="0">
                          <a:solidFill>
                            <a:srgbClr val="595959"/>
                          </a:solidFill>
                          <a:latin typeface="Roboto"/>
                          <a:ea typeface="Roboto"/>
                          <a:cs typeface="Roboto"/>
                        </a:rPr>
                        <a:t>O(N)</a:t>
                      </a:r>
                    </a:p>
                  </a:txBody>
                  <a:tcPr marL="91440" marR="91440" marT="45720" marB="45720" anchor="ctr">
                    <a:solidFill>
                      <a:srgbClr val="FFFFFF"/>
                    </a:solidFill>
                  </a:tcPr>
                </a:tc>
                <a:tc>
                  <a:txBody>
                    <a:bodyPr lIns="85725" tIns="66675" rIns="85725" bIns="66675">
                      <a:noAutofit/>
                    </a:bodyPr>
                    <a:lstStyle/>
                    <a:p>
                      <a:r>
                        <a:rPr sz="1102" b="0">
                          <a:solidFill>
                            <a:srgbClr val="595959"/>
                          </a:solidFill>
                          <a:latin typeface="Roboto"/>
                          <a:ea typeface="Roboto"/>
                          <a:cs typeface="Roboto"/>
                        </a:rPr>
                        <a:t>O(N log²N)</a:t>
                      </a:r>
                    </a:p>
                  </a:txBody>
                  <a:tcPr marL="91440" marR="91440" marT="45720" marB="45720" anchor="ctr">
                    <a:solidFill>
                      <a:srgbClr val="FFFFFF"/>
                    </a:solidFill>
                  </a:tcPr>
                </a:tc>
                <a:tc>
                  <a:txBody>
                    <a:bodyPr lIns="85725" tIns="66675" rIns="85725" bIns="66675">
                      <a:noAutofit/>
                    </a:bodyPr>
                    <a:lstStyle/>
                    <a:p>
                      <a:r>
                        <a:rPr sz="1102" b="0">
                          <a:solidFill>
                            <a:srgbClr val="595959"/>
                          </a:solidFill>
                          <a:latin typeface="Roboto"/>
                          <a:ea typeface="Roboto"/>
                          <a:cs typeface="Roboto"/>
                        </a:rPr>
                        <a:t>O(log²N) passiv</a:t>
                      </a:r>
                    </a:p>
                    <a:p>
                      <a:r>
                        <a:rPr sz="1102" b="0">
                          <a:solidFill>
                            <a:srgbClr val="595959"/>
                          </a:solidFill>
                          <a:latin typeface="Roboto"/>
                          <a:ea typeface="Roboto"/>
                          <a:cs typeface="Roboto"/>
                        </a:rPr>
                        <a:t>O(1) restaurierend</a:t>
                      </a:r>
                    </a:p>
                  </a:txBody>
                  <a:tcPr marL="91440" marR="91440" marT="45720" marB="45720" anchor="ctr">
                    <a:solidFill>
                      <a:srgbClr val="FFFFFF"/>
                    </a:solidFill>
                  </a:tcPr>
                </a:tc>
              </a:tr>
              <a:tr h="423863">
                <a:tc>
                  <a:txBody>
                    <a:bodyPr lIns="85725" tIns="66675" rIns="85725" bIns="66675">
                      <a:noAutofit/>
                    </a:bodyPr>
                    <a:lstStyle/>
                    <a:p>
                      <a:r>
                        <a:rPr sz="1102" b="0">
                          <a:solidFill>
                            <a:srgbClr val="595959"/>
                          </a:solidFill>
                          <a:latin typeface="Roboto"/>
                          <a:ea typeface="Roboto"/>
                          <a:cs typeface="Roboto"/>
                        </a:rPr>
                        <a:t>Beyette</a:t>
                      </a:r>
                    </a:p>
                    <a:p>
                      <a:r>
                        <a:rPr sz="1102" b="0">
                          <a:solidFill>
                            <a:srgbClr val="595959"/>
                          </a:solidFill>
                          <a:latin typeface="Roboto"/>
                          <a:ea typeface="Roboto"/>
                          <a:cs typeface="Roboto"/>
                        </a:rPr>
                        <a:t>Rezirkulierendes Bitonic</a:t>
                      </a:r>
                    </a:p>
                  </a:txBody>
                  <a:tcPr marL="91440" marR="91440" marT="45720" marB="45720" anchor="ctr">
                    <a:solidFill>
                      <a:srgbClr val="FFFFFF"/>
                    </a:solidFill>
                  </a:tcPr>
                </a:tc>
                <a:tc>
                  <a:txBody>
                    <a:bodyPr lIns="85725" tIns="66675" rIns="85725" bIns="66675">
                      <a:noAutofit/>
                    </a:bodyPr>
                    <a:lstStyle/>
                    <a:p>
                      <a:r>
                        <a:rPr sz="1102" b="0">
                          <a:solidFill>
                            <a:srgbClr val="595959"/>
                          </a:solidFill>
                          <a:latin typeface="Roboto"/>
                          <a:ea typeface="Roboto"/>
                          <a:cs typeface="Roboto"/>
                        </a:rPr>
                        <a:t>Θ(N log²N)</a:t>
                      </a:r>
                    </a:p>
                  </a:txBody>
                  <a:tcPr marL="91440" marR="91440" marT="45720" marB="45720" anchor="ctr">
                    <a:solidFill>
                      <a:srgbClr val="FFFFFF"/>
                    </a:solidFill>
                  </a:tcPr>
                </a:tc>
                <a:tc>
                  <a:txBody>
                    <a:bodyPr lIns="85725" tIns="66675" rIns="85725" bIns="66675">
                      <a:noAutofit/>
                    </a:bodyPr>
                    <a:lstStyle/>
                    <a:p>
                      <a:r>
                        <a:rPr sz="1102" b="0">
                          <a:solidFill>
                            <a:srgbClr val="595959"/>
                          </a:solidFill>
                          <a:latin typeface="Roboto"/>
                          <a:ea typeface="Roboto"/>
                          <a:cs typeface="Roboto"/>
                        </a:rPr>
                        <a:t>O(N)</a:t>
                      </a:r>
                    </a:p>
                  </a:txBody>
                  <a:tcPr marL="91440" marR="91440" marT="45720" marB="45720" anchor="ctr">
                    <a:solidFill>
                      <a:srgbClr val="FFFFFF"/>
                    </a:solidFill>
                  </a:tcPr>
                </a:tc>
                <a:tc>
                  <a:txBody>
                    <a:bodyPr lIns="85725" tIns="66675" rIns="85725" bIns="66675">
                      <a:noAutofit/>
                    </a:bodyPr>
                    <a:lstStyle/>
                    <a:p>
                      <a:r>
                        <a:rPr sz="1102" b="0">
                          <a:solidFill>
                            <a:srgbClr val="595959"/>
                          </a:solidFill>
                          <a:latin typeface="Roboto"/>
                          <a:ea typeface="Roboto"/>
                          <a:cs typeface="Roboto"/>
                        </a:rPr>
                        <a:t>O(N)</a:t>
                      </a:r>
                    </a:p>
                  </a:txBody>
                  <a:tcPr marL="91440" marR="91440" marT="45720" marB="45720" anchor="ctr">
                    <a:solidFill>
                      <a:srgbClr val="FFFFFF"/>
                    </a:solidFill>
                  </a:tcPr>
                </a:tc>
                <a:tc>
                  <a:txBody>
                    <a:bodyPr lIns="85725" tIns="66675" rIns="85725" bIns="66675">
                      <a:noAutofit/>
                    </a:bodyPr>
                    <a:lstStyle/>
                    <a:p>
                      <a:r>
                        <a:rPr sz="1102" b="0">
                          <a:solidFill>
                            <a:srgbClr val="595959"/>
                          </a:solidFill>
                          <a:latin typeface="Roboto"/>
                          <a:ea typeface="Roboto"/>
                          <a:cs typeface="Roboto"/>
                        </a:rPr>
                        <a:t>O(1)</a:t>
                      </a:r>
                    </a:p>
                  </a:txBody>
                  <a:tcPr marL="91440" marR="91440" marT="45720" marB="45720" anchor="ctr">
                    <a:solidFill>
                      <a:srgbClr val="FFFFFF"/>
                    </a:solidFill>
                  </a:tcPr>
                </a:tc>
              </a:tr>
              <a:tr h="423863">
                <a:tc>
                  <a:txBody>
                    <a:bodyPr lIns="85725" tIns="66675" rIns="85725" bIns="66675">
                      <a:noAutofit/>
                    </a:bodyPr>
                    <a:lstStyle/>
                    <a:p>
                      <a:r>
                        <a:rPr sz="1102" b="0">
                          <a:solidFill>
                            <a:srgbClr val="595959"/>
                          </a:solidFill>
                          <a:latin typeface="Roboto"/>
                          <a:ea typeface="Roboto"/>
                          <a:cs typeface="Roboto"/>
                        </a:rPr>
                        <a:t>Desmulliez</a:t>
                      </a:r>
                    </a:p>
                    <a:p>
                      <a:r>
                        <a:rPr sz="1102" b="0">
                          <a:solidFill>
                            <a:srgbClr val="595959"/>
                          </a:solidFill>
                          <a:latin typeface="Roboto"/>
                          <a:ea typeface="Roboto"/>
                          <a:cs typeface="Roboto"/>
                        </a:rPr>
                        <a:t>Perfect-Shuffle-Bitonic</a:t>
                      </a:r>
                    </a:p>
                  </a:txBody>
                  <a:tcPr marL="91440" marR="91440" marT="45720" marB="45720" anchor="ctr">
                    <a:solidFill>
                      <a:srgbClr val="FFFFFF"/>
                    </a:solidFill>
                  </a:tcPr>
                </a:tc>
                <a:tc>
                  <a:txBody>
                    <a:bodyPr lIns="85725" tIns="66675" rIns="85725" bIns="66675">
                      <a:noAutofit/>
                    </a:bodyPr>
                    <a:lstStyle/>
                    <a:p>
                      <a:r>
                        <a:rPr sz="1102" b="0">
                          <a:solidFill>
                            <a:srgbClr val="595959"/>
                          </a:solidFill>
                          <a:latin typeface="Roboto"/>
                          <a:ea typeface="Roboto"/>
                          <a:cs typeface="Roboto"/>
                        </a:rPr>
                        <a:t>Θ(N log²N)</a:t>
                      </a:r>
                    </a:p>
                  </a:txBody>
                  <a:tcPr marL="91440" marR="91440" marT="45720" marB="45720" anchor="ctr">
                    <a:solidFill>
                      <a:srgbClr val="FFFFFF"/>
                    </a:solidFill>
                  </a:tcPr>
                </a:tc>
                <a:tc>
                  <a:txBody>
                    <a:bodyPr lIns="85725" tIns="66675" rIns="85725" bIns="66675">
                      <a:noAutofit/>
                    </a:bodyPr>
                    <a:lstStyle/>
                    <a:p>
                      <a:r>
                        <a:rPr sz="1102" b="0">
                          <a:solidFill>
                            <a:srgbClr val="595959"/>
                          </a:solidFill>
                          <a:latin typeface="Roboto"/>
                          <a:ea typeface="Roboto"/>
                          <a:cs typeface="Roboto"/>
                        </a:rPr>
                        <a:t>O(N)</a:t>
                      </a:r>
                    </a:p>
                  </a:txBody>
                  <a:tcPr marL="91440" marR="91440" marT="45720" marB="45720" anchor="ctr">
                    <a:solidFill>
                      <a:srgbClr val="FFFFFF"/>
                    </a:solidFill>
                  </a:tcPr>
                </a:tc>
                <a:tc>
                  <a:txBody>
                    <a:bodyPr lIns="85725" tIns="66675" rIns="85725" bIns="66675">
                      <a:noAutofit/>
                    </a:bodyPr>
                    <a:lstStyle/>
                    <a:p>
                      <a:r>
                        <a:rPr sz="1102" b="0">
                          <a:solidFill>
                            <a:srgbClr val="595959"/>
                          </a:solidFill>
                          <a:latin typeface="Roboto"/>
                          <a:ea typeface="Roboto"/>
                          <a:cs typeface="Roboto"/>
                        </a:rPr>
                        <a:t>O(N)</a:t>
                      </a:r>
                    </a:p>
                  </a:txBody>
                  <a:tcPr marL="91440" marR="91440" marT="45720" marB="45720" anchor="ctr">
                    <a:solidFill>
                      <a:srgbClr val="FFFFFF"/>
                    </a:solidFill>
                  </a:tcPr>
                </a:tc>
                <a:tc>
                  <a:txBody>
                    <a:bodyPr lIns="85725" tIns="66675" rIns="85725" bIns="66675">
                      <a:noAutofit/>
                    </a:bodyPr>
                    <a:lstStyle/>
                    <a:p>
                      <a:r>
                        <a:rPr sz="1102" b="0">
                          <a:solidFill>
                            <a:srgbClr val="595959"/>
                          </a:solidFill>
                          <a:latin typeface="Roboto"/>
                          <a:ea typeface="Roboto"/>
                          <a:cs typeface="Roboto"/>
                        </a:rPr>
                        <a:t>O(1)</a:t>
                      </a:r>
                    </a:p>
                  </a:txBody>
                  <a:tcPr marL="91440" marR="91440" marT="45720" marB="45720" anchor="ctr">
                    <a:solidFill>
                      <a:srgbClr val="FFFFFF"/>
                    </a:solidFill>
                  </a:tcPr>
                </a:tc>
              </a:tr>
              <a:tr h="423863">
                <a:tc>
                  <a:txBody>
                    <a:bodyPr lIns="85725" tIns="66675" rIns="85725" bIns="66675">
                      <a:noAutofit/>
                    </a:bodyPr>
                    <a:lstStyle/>
                    <a:p>
                      <a:r>
                        <a:rPr sz="1102" b="0">
                          <a:solidFill>
                            <a:srgbClr val="595959"/>
                          </a:solidFill>
                          <a:latin typeface="Roboto"/>
                          <a:ea typeface="Roboto"/>
                          <a:cs typeface="Roboto"/>
                        </a:rPr>
                        <a:t>Louri</a:t>
                      </a:r>
                    </a:p>
                    <a:p>
                      <a:r>
                        <a:rPr sz="1102" b="0">
                          <a:solidFill>
                            <a:srgbClr val="595959"/>
                          </a:solidFill>
                          <a:latin typeface="Roboto"/>
                          <a:ea typeface="Roboto"/>
                          <a:cs typeface="Roboto"/>
                        </a:rPr>
                        <a:t>Broadcast-and-Compare</a:t>
                      </a:r>
                    </a:p>
                  </a:txBody>
                  <a:tcPr marL="91440" marR="91440" marT="45720" marB="45720" anchor="ctr">
                    <a:solidFill>
                      <a:srgbClr val="FFFFFF"/>
                    </a:solidFill>
                  </a:tcPr>
                </a:tc>
                <a:tc>
                  <a:txBody>
                    <a:bodyPr lIns="85725" tIns="66675" rIns="85725" bIns="66675">
                      <a:noAutofit/>
                    </a:bodyPr>
                    <a:lstStyle/>
                    <a:p>
                      <a:r>
                        <a:rPr sz="1102" b="0">
                          <a:solidFill>
                            <a:srgbClr val="595959"/>
                          </a:solidFill>
                          <a:latin typeface="Roboto"/>
                          <a:ea typeface="Roboto"/>
                          <a:cs typeface="Roboto"/>
                        </a:rPr>
                        <a:t>Θ(N²)</a:t>
                      </a:r>
                    </a:p>
                  </a:txBody>
                  <a:tcPr marL="91440" marR="91440" marT="45720" marB="45720" anchor="ctr">
                    <a:solidFill>
                      <a:srgbClr val="FFFFFF"/>
                    </a:solidFill>
                  </a:tcPr>
                </a:tc>
                <a:tc>
                  <a:txBody>
                    <a:bodyPr lIns="85725" tIns="66675" rIns="85725" bIns="66675">
                      <a:noAutofit/>
                    </a:bodyPr>
                    <a:lstStyle/>
                    <a:p>
                      <a:r>
                        <a:rPr sz="1102" b="0">
                          <a:solidFill>
                            <a:srgbClr val="595959"/>
                          </a:solidFill>
                          <a:latin typeface="Roboto"/>
                          <a:ea typeface="Roboto"/>
                          <a:cs typeface="Roboto"/>
                        </a:rPr>
                        <a:t>O(N²)</a:t>
                      </a:r>
                    </a:p>
                  </a:txBody>
                  <a:tcPr marL="91440" marR="91440" marT="45720" marB="45720" anchor="ctr">
                    <a:solidFill>
                      <a:srgbClr val="FFFFFF"/>
                    </a:solidFill>
                  </a:tcPr>
                </a:tc>
                <a:tc>
                  <a:txBody>
                    <a:bodyPr lIns="85725" tIns="66675" rIns="85725" bIns="66675">
                      <a:noAutofit/>
                    </a:bodyPr>
                    <a:lstStyle/>
                    <a:p>
                      <a:r>
                        <a:rPr sz="1102" b="0">
                          <a:solidFill>
                            <a:srgbClr val="595959"/>
                          </a:solidFill>
                          <a:latin typeface="Roboto"/>
                          <a:ea typeface="Roboto"/>
                          <a:cs typeface="Roboto"/>
                        </a:rPr>
                        <a:t>O(N²)</a:t>
                      </a:r>
                    </a:p>
                  </a:txBody>
                  <a:tcPr marL="91440" marR="91440" marT="45720" marB="45720" anchor="ctr">
                    <a:solidFill>
                      <a:srgbClr val="FFFFFF"/>
                    </a:solidFill>
                  </a:tcPr>
                </a:tc>
                <a:tc>
                  <a:txBody>
                    <a:bodyPr lIns="85725" tIns="66675" rIns="85725" bIns="66675">
                      <a:noAutofit/>
                    </a:bodyPr>
                    <a:lstStyle/>
                    <a:p>
                      <a:r>
                        <a:rPr sz="1102" b="0">
                          <a:solidFill>
                            <a:srgbClr val="595959"/>
                          </a:solidFill>
                          <a:latin typeface="Roboto"/>
                          <a:ea typeface="Roboto"/>
                          <a:cs typeface="Roboto"/>
                        </a:rPr>
                        <a:t>O(1)</a:t>
                      </a:r>
                    </a:p>
                  </a:txBody>
                  <a:tcPr marL="91440" marR="91440" marT="45720" marB="45720" anchor="ctr">
                    <a:solidFill>
                      <a:srgbClr val="FFFFFF"/>
                    </a:solidFill>
                  </a:tcPr>
                </a:tc>
              </a:tr>
              <a:tr h="423863">
                <a:tc>
                  <a:txBody>
                    <a:bodyPr lIns="85725" tIns="66675" rIns="85725" bIns="66675">
                      <a:noAutofit/>
                    </a:bodyPr>
                    <a:lstStyle/>
                    <a:p>
                      <a:r>
                        <a:rPr sz="1102" b="0">
                          <a:solidFill>
                            <a:srgbClr val="595959"/>
                          </a:solidFill>
                          <a:latin typeface="Roboto"/>
                          <a:ea typeface="Roboto"/>
                          <a:cs typeface="Roboto"/>
                        </a:rPr>
                        <a:t>Mizutani</a:t>
                      </a:r>
                    </a:p>
                    <a:p>
                      <a:r>
                        <a:rPr sz="1102" b="0">
                          <a:solidFill>
                            <a:srgbClr val="595959"/>
                          </a:solidFill>
                          <a:latin typeface="Roboto"/>
                          <a:ea typeface="Roboto"/>
                          <a:cs typeface="Roboto"/>
                        </a:rPr>
                        <a:t>Radix im Netzwerk</a:t>
                      </a:r>
                    </a:p>
                  </a:txBody>
                  <a:tcPr marL="91440" marR="91440" marT="45720" marB="45720" anchor="ctr">
                    <a:solidFill>
                      <a:srgbClr val="FFFFFF"/>
                    </a:solidFill>
                  </a:tcPr>
                </a:tc>
                <a:tc>
                  <a:txBody>
                    <a:bodyPr lIns="85725" tIns="66675" rIns="85725" bIns="66675">
                      <a:noAutofit/>
                    </a:bodyPr>
                    <a:lstStyle/>
                    <a:p>
                      <a:r>
                        <a:rPr sz="1102" b="0">
                          <a:solidFill>
                            <a:srgbClr val="595959"/>
                          </a:solidFill>
                          <a:latin typeface="Roboto"/>
                          <a:ea typeface="Roboto"/>
                          <a:cs typeface="Roboto"/>
                        </a:rPr>
                        <a:t>Θ(N)*</a:t>
                      </a:r>
                    </a:p>
                  </a:txBody>
                  <a:tcPr marL="91440" marR="91440" marT="45720" marB="45720" anchor="ctr">
                    <a:solidFill>
                      <a:srgbClr val="FFFFFF"/>
                    </a:solidFill>
                  </a:tcPr>
                </a:tc>
                <a:tc>
                  <a:txBody>
                    <a:bodyPr lIns="85725" tIns="66675" rIns="85725" bIns="66675">
                      <a:noAutofit/>
                    </a:bodyPr>
                    <a:lstStyle/>
                    <a:p>
                      <a:r>
                        <a:rPr sz="1102" b="0">
                          <a:solidFill>
                            <a:srgbClr val="595959"/>
                          </a:solidFill>
                          <a:latin typeface="Roboto"/>
                          <a:ea typeface="Roboto"/>
                          <a:cs typeface="Roboto"/>
                        </a:rPr>
                        <a:t>O(N)</a:t>
                      </a:r>
                    </a:p>
                  </a:txBody>
                  <a:tcPr marL="91440" marR="91440" marT="45720" marB="45720" anchor="ctr">
                    <a:solidFill>
                      <a:srgbClr val="FFFFFF"/>
                    </a:solidFill>
                  </a:tcPr>
                </a:tc>
                <a:tc>
                  <a:txBody>
                    <a:bodyPr lIns="85725" tIns="66675" rIns="85725" bIns="66675">
                      <a:noAutofit/>
                    </a:bodyPr>
                    <a:lstStyle/>
                    <a:p>
                      <a:r>
                        <a:rPr sz="1102" b="0">
                          <a:solidFill>
                            <a:srgbClr val="595959"/>
                          </a:solidFill>
                          <a:latin typeface="Roboto"/>
                          <a:ea typeface="Roboto"/>
                          <a:cs typeface="Roboto"/>
                        </a:rPr>
                        <a:t>O(1)*</a:t>
                      </a:r>
                    </a:p>
                  </a:txBody>
                  <a:tcPr marL="91440" marR="91440" marT="45720" marB="45720" anchor="ctr">
                    <a:solidFill>
                      <a:srgbClr val="FFFFFF"/>
                    </a:solidFill>
                  </a:tcPr>
                </a:tc>
                <a:tc>
                  <a:txBody>
                    <a:bodyPr lIns="85725" tIns="66675" rIns="85725" bIns="66675">
                      <a:noAutofit/>
                    </a:bodyPr>
                    <a:lstStyle/>
                    <a:p>
                      <a:r>
                        <a:rPr sz="1102" b="0">
                          <a:solidFill>
                            <a:srgbClr val="595959"/>
                          </a:solidFill>
                          <a:latin typeface="Roboto"/>
                          <a:ea typeface="Roboto"/>
                          <a:cs typeface="Roboto"/>
                        </a:rPr>
                        <a:t>O(1)</a:t>
                      </a:r>
                    </a:p>
                  </a:txBody>
                  <a:tcPr marL="91440" marR="91440" marT="45720" marB="45720" anchor="ctr">
                    <a:solidFill>
                      <a:srgbClr val="FFFFFF"/>
                    </a:solidFill>
                  </a:tcPr>
                </a:tc>
              </a:tr>
            </a:tbl>
          </a:graphicData>
        </a:graphic>
      </p:graphicFrame>
      <p:sp>
        <p:nvSpPr>
          <p:cNvPr id="5" name="Text">
            <a:extLst xmlns:a="http://schemas.openxmlformats.org/drawingml/2006/main">
              <a:ext uri="{FF2B5EF4-FFF2-40B4-BE49-F238E27FC236}">
                <a16:creationId xmlns:a16="http://schemas.microsoft.com/office/drawing/2014/main" id="{BFB1A4BB-AA1F-4C93-B6E1-FBBCDF11305C}"/>
              </a:ext>
            </a:extLst>
          </p:cNvPr>
          <p:cNvSpPr>
            <a:spLocks xmlns:a="http://schemas.openxmlformats.org/drawingml/2006/main" noGrp="1"/>
          </p:cNvSpPr>
          <p:nvPr/>
        </p:nvSpPr>
        <p:spPr>
          <a:xfrm xmlns:a="http://schemas.openxmlformats.org/drawingml/2006/main">
            <a:off x="542925" y="3819525"/>
            <a:ext cx="8058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Bitonic: K = m(m + 1)/2 Stufen, m = log₂N; je N/2 Vergleiche ⇒ Θ(N log²N).</a:t>
            </a:r>
          </a:p>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Rangsortierung: N(N − 1)/2 Paare; Rangbildung und Ausgabe ⇒ Θ(N²).</a:t>
            </a:r>
          </a:p>
        </p:txBody>
      </p:sp>
      <p:sp>
        <p:nvSpPr>
          <p:cNvPr id="6" name="Text">
            <a:extLst xmlns:a="http://schemas.openxmlformats.org/drawingml/2006/main">
              <a:ext uri="{FF2B5EF4-FFF2-40B4-BE49-F238E27FC236}">
                <a16:creationId xmlns:a16="http://schemas.microsoft.com/office/drawing/2014/main" id="{4882D5D0-3916-4F6C-A1EA-5DE30C048DED}"/>
              </a:ext>
            </a:extLst>
          </p:cNvPr>
          <p:cNvSpPr>
            <a:spLocks xmlns:a="http://schemas.openxmlformats.org/drawingml/2006/main" noGrp="1"/>
          </p:cNvSpPr>
          <p:nvPr/>
        </p:nvSpPr>
        <p:spPr>
          <a:xfrm xmlns:a="http://schemas.openxmlformats.org/drawingml/2006/main">
            <a:off x="542925" y="4400550"/>
            <a:ext cx="814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35">
                <a:solidFill>
                  <a:srgbClr val="595959"/>
                </a:solidFill>
                <a:latin typeface="Roboto"/>
                <a:ea typeface="Roboto"/>
                <a:cs typeface="Roboto"/>
              </a:defRPr>
            </a:pPr>
            <a:r>
              <a:rPr sz="1035">
                <a:solidFill>
                  <a:srgbClr val="595959"/>
                </a:solidFill>
                <a:latin typeface="Roboto"/>
                <a:ea typeface="Roboto"/>
                <a:cs typeface="Roboto"/>
              </a:rPr>
              <a:t>* Radix: feste Wortbreite, Radix und Anzahl der Verarbeitungsströme.</a:t>
            </a:r>
          </a:p>
          <a:p xmlns:a="http://schemas.openxmlformats.org/drawingml/2006/main">
            <a:pPr algn="l">
              <a:defRPr sz="1035">
                <a:solidFill>
                  <a:srgbClr val="595959"/>
                </a:solidFill>
                <a:latin typeface="Roboto"/>
                <a:ea typeface="Roboto"/>
                <a:cs typeface="Roboto"/>
              </a:defRPr>
            </a:pPr>
            <a:r>
              <a:rPr sz="1035">
                <a:solidFill>
                  <a:srgbClr val="595959"/>
                </a:solidFill>
                <a:latin typeface="Roboto"/>
                <a:ea typeface="Roboto"/>
                <a:cs typeface="Roboto"/>
              </a:rPr>
              <a:t>S gilt für eine Charge; H zählt Verarbeitung, nicht Speicher. D bleibt architekturabhängig.</a:t>
            </a:r>
          </a:p>
        </p:txBody>
      </p:sp>
    </p:spTree>
    <p:extLst>
      <p:ext uri="{BB962C8B-B14F-4D97-AF65-F5344CB8AC3E}">
        <p14:creationId xmlns:p14="http://schemas.microsoft.com/office/powerpoint/2010/main" val="41752744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Folientitel">
            <a:extLst xmlns:a="http://schemas.openxmlformats.org/drawingml/2006/main">
              <a:ext uri="{FF2B5EF4-FFF2-40B4-BE49-F238E27FC236}">
                <a16:creationId xmlns:a16="http://schemas.microsoft.com/office/drawing/2014/main" id="{E64C3333-4C8E-476D-BB66-899A64D38DF4}"/>
              </a:ext>
            </a:extLst>
          </p:cNvPr>
          <p:cNvSpPr>
            <a:spLocks xmlns:a="http://schemas.openxmlformats.org/drawingml/2006/main" noGrp="1"/>
          </p:cNvSpPr>
          <p:nvPr/>
        </p:nvSpPr>
        <p:spPr>
          <a:xfrm xmlns:a="http://schemas.openxmlformats.org/drawingml/2006/main">
            <a:off x="400050" y="542925"/>
            <a:ext cx="828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20">
                <a:solidFill>
                  <a:srgbClr val="111111"/>
                </a:solidFill>
                <a:latin typeface="Roboto"/>
                <a:ea typeface="Roboto"/>
                <a:cs typeface="Roboto"/>
              </a:defRPr>
            </a:pPr>
            <a:r>
              <a:rPr sz="1620">
                <a:solidFill>
                  <a:srgbClr val="111111"/>
                </a:solidFill>
                <a:latin typeface="Roboto"/>
                <a:ea typeface="Roboto"/>
                <a:cs typeface="Roboto"/>
              </a:rPr>
              <a:t>Gemeinsamer Rechenkern: Differenz und Vorzeichen</a:t>
            </a:r>
          </a:p>
        </p:txBody>
      </p:sp>
      <p:sp>
        <p:nvSpPr>
          <p:cNvPr id="2" name="Text">
            <a:extLst xmlns:a="http://schemas.openxmlformats.org/drawingml/2006/main">
              <a:ext uri="{FF2B5EF4-FFF2-40B4-BE49-F238E27FC236}">
                <a16:creationId xmlns:a16="http://schemas.microsoft.com/office/drawing/2014/main" id="{20A078BA-91A7-41A8-8EA1-9EC83A1FF46A}"/>
              </a:ext>
            </a:extLst>
          </p:cNvPr>
          <p:cNvSpPr>
            <a:spLocks xmlns:a="http://schemas.openxmlformats.org/drawingml/2006/main" noGrp="1"/>
          </p:cNvSpPr>
          <p:nvPr/>
        </p:nvSpPr>
        <p:spPr>
          <a:xfrm xmlns:a="http://schemas.openxmlformats.org/drawingml/2006/main">
            <a:off x="400050" y="4772025"/>
            <a:ext cx="798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55">
                <a:solidFill>
                  <a:srgbClr val="315D91"/>
                </a:solidFill>
                <a:latin typeface="Roboto"/>
                <a:ea typeface="Roboto"/>
                <a:cs typeface="Roboto"/>
              </a:defRPr>
            </a:pPr>
            <a:r>
              <a:rPr sz="855">
                <a:solidFill>
                  <a:srgbClr val="315D91"/>
                </a:solidFill>
                <a:latin typeface="Roboto"/>
                <a:ea typeface="Roboto"/>
                <a:cs typeface="Roboto"/>
              </a:rPr>
              <a:t>Projekt: comparison.py; docs/METHOD.md — Modellannahmen, keine gemessenen Q.ANT-Rauschwerte</a:t>
            </a:r>
          </a:p>
        </p:txBody>
      </p:sp>
      <p:sp>
        <p:nvSpPr>
          <p:cNvPr id="3" name="Text">
            <a:extLst xmlns:a="http://schemas.openxmlformats.org/drawingml/2006/main">
              <a:ext uri="{FF2B5EF4-FFF2-40B4-BE49-F238E27FC236}">
                <a16:creationId xmlns:a16="http://schemas.microsoft.com/office/drawing/2014/main" id="{D4FBB2AB-FE50-4A56-AEF9-83E441FA495A}"/>
              </a:ext>
            </a:extLst>
          </p:cNvPr>
          <p:cNvSpPr>
            <a:spLocks xmlns:a="http://schemas.openxmlformats.org/drawingml/2006/main" noGrp="1"/>
          </p:cNvSpPr>
          <p:nvPr/>
        </p:nvSpPr>
        <p:spPr>
          <a:xfrm xmlns:a="http://schemas.openxmlformats.org/drawingml/2006/main">
            <a:off x="8667750" y="4819650"/>
            <a:ext cx="2286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a:solidFill>
                  <a:srgbClr val="595959"/>
                </a:solidFill>
                <a:latin typeface="Roboto"/>
                <a:ea typeface="Roboto"/>
                <a:cs typeface="Roboto"/>
              </a:defRPr>
            </a:pPr>
            <a:r>
              <a:rPr sz="900">
                <a:solidFill>
                  <a:srgbClr val="595959"/>
                </a:solidFill>
                <a:latin typeface="Roboto"/>
                <a:ea typeface="Roboto"/>
                <a:cs typeface="Roboto"/>
              </a:rPr>
              <a:t>4</a:t>
            </a:r>
          </a:p>
        </p:txBody>
      </p:sp>
      <p:sp>
        <p:nvSpPr>
          <p:cNvPr id="4" name="Text">
            <a:extLst xmlns:a="http://schemas.openxmlformats.org/drawingml/2006/main">
              <a:ext uri="{FF2B5EF4-FFF2-40B4-BE49-F238E27FC236}">
                <a16:creationId xmlns:a16="http://schemas.microsoft.com/office/drawing/2014/main" id="{5658F71D-B9E1-4A34-8CFE-E4F44D034443}"/>
              </a:ext>
            </a:extLst>
          </p:cNvPr>
          <p:cNvSpPr>
            <a:spLocks xmlns:a="http://schemas.openxmlformats.org/drawingml/2006/main" noGrp="1"/>
          </p:cNvSpPr>
          <p:nvPr/>
        </p:nvSpPr>
        <p:spPr>
          <a:xfrm xmlns:a="http://schemas.openxmlformats.org/drawingml/2006/main">
            <a:off x="542925" y="1133475"/>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a:solidFill>
                  <a:srgbClr val="111111"/>
                </a:solidFill>
                <a:latin typeface="Roboto"/>
                <a:ea typeface="Roboto"/>
                <a:cs typeface="Roboto"/>
              </a:defRPr>
            </a:pPr>
            <a:r>
              <a:rPr sz="1350">
                <a:solidFill>
                  <a:srgbClr val="111111"/>
                </a:solidFill>
                <a:latin typeface="Roboto"/>
                <a:ea typeface="Roboto"/>
                <a:cs typeface="Roboto"/>
              </a:rPr>
              <a:t>1. Schlüssel fest skalieren</a:t>
            </a:r>
          </a:p>
        </p:txBody>
      </p:sp>
      <p:sp>
        <p:nvSpPr>
          <p:cNvPr id="5" name="Text">
            <a:extLst xmlns:a="http://schemas.openxmlformats.org/drawingml/2006/main">
              <a:ext uri="{FF2B5EF4-FFF2-40B4-BE49-F238E27FC236}">
                <a16:creationId xmlns:a16="http://schemas.microsoft.com/office/drawing/2014/main" id="{F18EB656-C4AD-405C-9FDE-F69E31CF5F70}"/>
              </a:ext>
            </a:extLst>
          </p:cNvPr>
          <p:cNvSpPr>
            <a:spLocks xmlns:a="http://schemas.openxmlformats.org/drawingml/2006/main" noGrp="1"/>
          </p:cNvSpPr>
          <p:nvPr/>
        </p:nvSpPr>
        <p:spPr>
          <a:xfrm xmlns:a="http://schemas.openxmlformats.org/drawingml/2006/main">
            <a:off x="762000" y="1476375"/>
            <a:ext cx="77438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a:solidFill>
                  <a:srgbClr val="595959"/>
                </a:solidFill>
                <a:latin typeface="Roboto"/>
                <a:ea typeface="Roboto"/>
                <a:cs typeface="Roboto"/>
              </a:defRPr>
            </a:pPr>
            <a:r>
              <a:rPr sz="1425">
                <a:solidFill>
                  <a:srgbClr val="595959"/>
                </a:solidFill>
                <a:latin typeface="Roboto"/>
                <a:ea typeface="Roboto"/>
                <a:cs typeface="Roboto"/>
              </a:rPr>
              <a:t>b ∈ {4, 8},  L = 2ᵇ,  x ∈ {0, …, L − 1}</a:t>
            </a:r>
          </a:p>
          <a:p xmlns:a="http://schemas.openxmlformats.org/drawingml/2006/main">
            <a:pPr algn="l">
              <a:defRPr sz="1425">
                <a:solidFill>
                  <a:srgbClr val="595959"/>
                </a:solidFill>
                <a:latin typeface="Roboto"/>
                <a:ea typeface="Roboto"/>
                <a:cs typeface="Roboto"/>
              </a:defRPr>
            </a:pPr>
            <a:r>
              <a:rPr sz="1425">
                <a:solidFill>
                  <a:srgbClr val="595959"/>
                </a:solidFill>
                <a:latin typeface="Roboto"/>
                <a:ea typeface="Roboto"/>
                <a:cs typeface="Roboto"/>
              </a:rPr>
              <a:t>x̂ = x/L,     Δᵢₙ = Δₒᵤₜ = Δ = 1/L</a:t>
            </a:r>
          </a:p>
        </p:txBody>
      </p:sp>
      <p:sp>
        <p:nvSpPr>
          <p:cNvPr id="6" name="Text">
            <a:extLst xmlns:a="http://schemas.openxmlformats.org/drawingml/2006/main">
              <a:ext uri="{FF2B5EF4-FFF2-40B4-BE49-F238E27FC236}">
                <a16:creationId xmlns:a16="http://schemas.microsoft.com/office/drawing/2014/main" id="{C8DF943B-5324-45A3-BB9C-0CF137D5517F}"/>
              </a:ext>
            </a:extLst>
          </p:cNvPr>
          <p:cNvSpPr>
            <a:spLocks xmlns:a="http://schemas.openxmlformats.org/drawingml/2006/main" noGrp="1"/>
          </p:cNvSpPr>
          <p:nvPr/>
        </p:nvSpPr>
        <p:spPr>
          <a:xfrm xmlns:a="http://schemas.openxmlformats.org/drawingml/2006/main">
            <a:off x="542925" y="2190750"/>
            <a:ext cx="790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a:solidFill>
                  <a:srgbClr val="111111"/>
                </a:solidFill>
                <a:latin typeface="Roboto"/>
                <a:ea typeface="Roboto"/>
                <a:cs typeface="Roboto"/>
              </a:defRPr>
            </a:pPr>
            <a:r>
              <a:rPr sz="1350">
                <a:solidFill>
                  <a:srgbClr val="111111"/>
                </a:solidFill>
                <a:latin typeface="Roboto"/>
                <a:ea typeface="Roboto"/>
                <a:cs typeface="Roboto"/>
              </a:rPr>
              <a:t>2. Differenz berechnen und Ausgang quantisieren</a:t>
            </a:r>
          </a:p>
        </p:txBody>
      </p:sp>
      <p:sp>
        <p:nvSpPr>
          <p:cNvPr id="7" name="Text">
            <a:extLst xmlns:a="http://schemas.openxmlformats.org/drawingml/2006/main">
              <a:ext uri="{FF2B5EF4-FFF2-40B4-BE49-F238E27FC236}">
                <a16:creationId xmlns:a16="http://schemas.microsoft.com/office/drawing/2014/main" id="{4A13DCBA-1D2F-4673-BDFF-AB1E077B794E}"/>
              </a:ext>
            </a:extLst>
          </p:cNvPr>
          <p:cNvSpPr>
            <a:spLocks xmlns:a="http://schemas.openxmlformats.org/drawingml/2006/main" noGrp="1"/>
          </p:cNvSpPr>
          <p:nvPr/>
        </p:nvSpPr>
        <p:spPr>
          <a:xfrm xmlns:a="http://schemas.openxmlformats.org/drawingml/2006/main">
            <a:off x="762000" y="2543175"/>
            <a:ext cx="7762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a:solidFill>
                  <a:srgbClr val="595959"/>
                </a:solidFill>
                <a:latin typeface="Roboto"/>
                <a:ea typeface="Roboto"/>
                <a:cs typeface="Roboto"/>
              </a:defRPr>
            </a:pPr>
            <a:r>
              <a:rPr sz="1425">
                <a:solidFill>
                  <a:srgbClr val="595959"/>
                </a:solidFill>
                <a:latin typeface="Roboto"/>
                <a:ea typeface="Roboto"/>
                <a:cs typeface="Roboto"/>
              </a:rPr>
              <a:t>d = x̂ − ŷ = [1  −1] [x̂  ŷ]ᵀ,     ε ∼ 𝒩(0, (ηΔ)²)</a:t>
            </a:r>
          </a:p>
        </p:txBody>
      </p:sp>
      <p:sp>
        <p:nvSpPr>
          <p:cNvPr id="8" name="Text">
            <a:extLst xmlns:a="http://schemas.openxmlformats.org/drawingml/2006/main">
              <a:ext uri="{FF2B5EF4-FFF2-40B4-BE49-F238E27FC236}">
                <a16:creationId xmlns:a16="http://schemas.microsoft.com/office/drawing/2014/main" id="{B9C924B3-7BB7-4CC5-8BC3-6C040E7FF9FE}"/>
              </a:ext>
            </a:extLst>
          </p:cNvPr>
          <p:cNvSpPr>
            <a:spLocks xmlns:a="http://schemas.openxmlformats.org/drawingml/2006/main" noGrp="1"/>
          </p:cNvSpPr>
          <p:nvPr/>
        </p:nvSpPr>
        <p:spPr>
          <a:xfrm xmlns:a="http://schemas.openxmlformats.org/drawingml/2006/main">
            <a:off x="762000" y="2914650"/>
            <a:ext cx="7762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a:solidFill>
                  <a:srgbClr val="595959"/>
                </a:solidFill>
                <a:latin typeface="Roboto"/>
                <a:ea typeface="Roboto"/>
                <a:cs typeface="Roboto"/>
              </a:defRPr>
            </a:pPr>
            <a:r>
              <a:rPr sz="1425">
                <a:solidFill>
                  <a:srgbClr val="595959"/>
                </a:solidFill>
                <a:latin typeface="Roboto"/>
                <a:ea typeface="Roboto"/>
                <a:cs typeface="Roboto"/>
              </a:rPr>
              <a:t>d̃ = Δ · clip(round_even((d + ε)/Δ), −L/2, L/2 − 1)</a:t>
            </a:r>
          </a:p>
        </p:txBody>
      </p:sp>
      <p:sp>
        <p:nvSpPr>
          <p:cNvPr id="9" name="Text">
            <a:extLst xmlns:a="http://schemas.openxmlformats.org/drawingml/2006/main">
              <a:ext uri="{FF2B5EF4-FFF2-40B4-BE49-F238E27FC236}">
                <a16:creationId xmlns:a16="http://schemas.microsoft.com/office/drawing/2014/main" id="{9361C05B-5B53-409A-921D-2A76700A3673}"/>
              </a:ext>
            </a:extLst>
          </p:cNvPr>
          <p:cNvSpPr>
            <a:spLocks xmlns:a="http://schemas.openxmlformats.org/drawingml/2006/main" noGrp="1"/>
          </p:cNvSpPr>
          <p:nvPr/>
        </p:nvSpPr>
        <p:spPr>
          <a:xfrm xmlns:a="http://schemas.openxmlformats.org/drawingml/2006/main">
            <a:off x="542925" y="3400425"/>
            <a:ext cx="7915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a:solidFill>
                  <a:srgbClr val="111111"/>
                </a:solidFill>
                <a:latin typeface="Roboto"/>
                <a:ea typeface="Roboto"/>
                <a:cs typeface="Roboto"/>
              </a:defRPr>
            </a:pPr>
            <a:r>
              <a:rPr sz="1350">
                <a:solidFill>
                  <a:srgbClr val="111111"/>
                </a:solidFill>
                <a:latin typeface="Roboto"/>
                <a:ea typeface="Roboto"/>
                <a:cs typeface="Roboto"/>
              </a:rPr>
              <a:t>3. Nur das Vorzeichen für die Sortierentscheidung verwenden</a:t>
            </a:r>
          </a:p>
        </p:txBody>
      </p:sp>
      <p:sp>
        <p:nvSpPr>
          <p:cNvPr id="10" name="Text">
            <a:extLst xmlns:a="http://schemas.openxmlformats.org/drawingml/2006/main">
              <a:ext uri="{FF2B5EF4-FFF2-40B4-BE49-F238E27FC236}">
                <a16:creationId xmlns:a16="http://schemas.microsoft.com/office/drawing/2014/main" id="{3EF37E21-7B09-4760-B57F-BECEF4CE1D26}"/>
              </a:ext>
            </a:extLst>
          </p:cNvPr>
          <p:cNvSpPr>
            <a:spLocks xmlns:a="http://schemas.openxmlformats.org/drawingml/2006/main" noGrp="1"/>
          </p:cNvSpPr>
          <p:nvPr/>
        </p:nvSpPr>
        <p:spPr>
          <a:xfrm xmlns:a="http://schemas.openxmlformats.org/drawingml/2006/main">
            <a:off x="762000" y="3743325"/>
            <a:ext cx="76771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8 Bit, x = 10 und y = 9: d = 1/256 = Δ. Ohne Rauschen: Code +1 ⇒ 10 &gt; 9.</a:t>
            </a:r>
          </a:p>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Beispiel ε = −0,6Δ: Code round_even(0,4) = 0 ⇒ fälschlicher Gleichstand.</a:t>
            </a:r>
          </a:p>
        </p:txBody>
      </p:sp>
      <p:sp>
        <p:nvSpPr>
          <p:cNvPr id="11" name="Text">
            <a:extLst xmlns:a="http://schemas.openxmlformats.org/drawingml/2006/main">
              <a:ext uri="{FF2B5EF4-FFF2-40B4-BE49-F238E27FC236}">
                <a16:creationId xmlns:a16="http://schemas.microsoft.com/office/drawing/2014/main" id="{DFD26088-F8A7-48B7-8701-9EE0BFE41A5B}"/>
              </a:ext>
            </a:extLst>
          </p:cNvPr>
          <p:cNvSpPr>
            <a:spLocks xmlns:a="http://schemas.openxmlformats.org/drawingml/2006/main" noGrp="1"/>
          </p:cNvSpPr>
          <p:nvPr/>
        </p:nvSpPr>
        <p:spPr>
          <a:xfrm xmlns:a="http://schemas.openxmlformats.org/drawingml/2006/main">
            <a:off x="542925" y="4429125"/>
            <a:ext cx="8058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80">
                <a:solidFill>
                  <a:srgbClr val="595959"/>
                </a:solidFill>
                <a:latin typeface="Roboto"/>
                <a:ea typeface="Roboto"/>
                <a:cs typeface="Roboto"/>
              </a:defRPr>
            </a:pPr>
            <a:r>
              <a:rPr sz="1080">
                <a:solidFill>
                  <a:srgbClr val="595959"/>
                </a:solidFill>
                <a:latin typeface="Roboto"/>
                <a:ea typeface="Roboto"/>
                <a:cs typeface="Roboto"/>
              </a:rPr>
              <a:t>Bei gemessener Null entscheidet der Originalindex. Es gibt keine Korrektur mit dem wahren Schlüssel.</a:t>
            </a:r>
          </a:p>
        </p:txBody>
      </p:sp>
    </p:spTree>
    <p:extLst>
      <p:ext uri="{BB962C8B-B14F-4D97-AF65-F5344CB8AC3E}">
        <p14:creationId xmlns:p14="http://schemas.microsoft.com/office/powerpoint/2010/main" val="37783673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p:cNvCxnSpPr>
            <a:stCxn xmlns:a="http://schemas.openxmlformats.org/drawingml/2006/main" id="13" idx="3"/>
            <a:endCxn xmlns:a="http://schemas.openxmlformats.org/drawingml/2006/main" id="14" idx="1"/>
          </p:cNvCxnSpPr>
          <p:nvPr/>
        </p:nvCxnSpPr>
        <p:spPr>
          <a:xfrm xmlns:a="http://schemas.openxmlformats.org/drawingml/2006/main">
            <a:off x="5800725" y="3290888"/>
            <a:ext cx="333375" cy="0"/>
          </a:xfrm>
          <a:prstGeom xmlns:a="http://schemas.openxmlformats.org/drawingml/2006/main" prst="straightConnector1">
            <a:avLst/>
          </a:prstGeom>
          <a:ln xmlns:a="http://schemas.openxmlformats.org/drawingml/2006/main" w="9525">
            <a:solidFill>
              <a:srgbClr val="7D7D7D"/>
            </a:solidFill>
            <a:tailEnd type="triangle" w="sm" len="sm"/>
          </a:ln>
        </p:spPr>
      </p:cxnSp>
      <p:cxnSp>
        <p:nvCxnSpPr>
          <p:cNvPr id="19" name=""/>
          <p:cNvCxnSpPr>
            <a:stCxn xmlns:a="http://schemas.openxmlformats.org/drawingml/2006/main" id="12" idx="3"/>
            <a:endCxn xmlns:a="http://schemas.openxmlformats.org/drawingml/2006/main" id="13" idx="1"/>
          </p:cNvCxnSpPr>
          <p:nvPr/>
        </p:nvCxnSpPr>
        <p:spPr>
          <a:xfrm xmlns:a="http://schemas.openxmlformats.org/drawingml/2006/main">
            <a:off x="3009900" y="3290888"/>
            <a:ext cx="323850" cy="0"/>
          </a:xfrm>
          <a:prstGeom xmlns:a="http://schemas.openxmlformats.org/drawingml/2006/main" prst="straightConnector1">
            <a:avLst/>
          </a:prstGeom>
          <a:ln xmlns:a="http://schemas.openxmlformats.org/drawingml/2006/main" w="9525">
            <a:solidFill>
              <a:srgbClr val="7D7D7D"/>
            </a:solidFill>
            <a:tailEnd type="triangle" w="sm" len="sm"/>
          </a:ln>
        </p:spPr>
      </p:cxnSp>
      <p:cxnSp>
        <p:nvCxnSpPr>
          <p:cNvPr id="20" name=""/>
          <p:cNvCxnSpPr>
            <a:stCxn xmlns:a="http://schemas.openxmlformats.org/drawingml/2006/main" id="8" idx="3"/>
            <a:endCxn xmlns:a="http://schemas.openxmlformats.org/drawingml/2006/main" id="9" idx="1"/>
          </p:cNvCxnSpPr>
          <p:nvPr/>
        </p:nvCxnSpPr>
        <p:spPr>
          <a:xfrm xmlns:a="http://schemas.openxmlformats.org/drawingml/2006/main">
            <a:off x="5800725" y="1995488"/>
            <a:ext cx="333375" cy="0"/>
          </a:xfrm>
          <a:prstGeom xmlns:a="http://schemas.openxmlformats.org/drawingml/2006/main" prst="straightConnector1">
            <a:avLst/>
          </a:prstGeom>
          <a:ln xmlns:a="http://schemas.openxmlformats.org/drawingml/2006/main" w="9525">
            <a:solidFill>
              <a:srgbClr val="7D7D7D"/>
            </a:solidFill>
            <a:tailEnd type="triangle" w="sm" len="sm"/>
          </a:ln>
        </p:spPr>
      </p:cxnSp>
      <p:cxnSp>
        <p:nvCxnSpPr>
          <p:cNvPr id="21" name=""/>
          <p:cNvCxnSpPr>
            <a:stCxn xmlns:a="http://schemas.openxmlformats.org/drawingml/2006/main" id="7" idx="3"/>
            <a:endCxn xmlns:a="http://schemas.openxmlformats.org/drawingml/2006/main" id="8" idx="1"/>
          </p:cNvCxnSpPr>
          <p:nvPr/>
        </p:nvCxnSpPr>
        <p:spPr>
          <a:xfrm xmlns:a="http://schemas.openxmlformats.org/drawingml/2006/main">
            <a:off x="3009900" y="1995488"/>
            <a:ext cx="323850" cy="0"/>
          </a:xfrm>
          <a:prstGeom xmlns:a="http://schemas.openxmlformats.org/drawingml/2006/main" prst="straightConnector1">
            <a:avLst/>
          </a:prstGeom>
          <a:ln xmlns:a="http://schemas.openxmlformats.org/drawingml/2006/main" w="9525">
            <a:solidFill>
              <a:srgbClr val="7D7D7D"/>
            </a:solidFill>
            <a:tailEnd type="triangle" w="sm" len="sm"/>
          </a:ln>
        </p:spPr>
      </p:cxnSp>
      <p:sp>
        <p:nvSpPr>
          <p:cNvPr id="22" name="Folientitel">
            <a:extLst xmlns:a="http://schemas.openxmlformats.org/drawingml/2006/main">
              <a:ext uri="{FF2B5EF4-FFF2-40B4-BE49-F238E27FC236}">
                <a16:creationId xmlns:a16="http://schemas.microsoft.com/office/drawing/2014/main" id="{8DEDAA80-BC53-41E3-8211-E9C5ED056DF8}"/>
              </a:ext>
            </a:extLst>
          </p:cNvPr>
          <p:cNvSpPr>
            <a:spLocks xmlns:a="http://schemas.openxmlformats.org/drawingml/2006/main" noGrp="1"/>
          </p:cNvSpPr>
          <p:nvPr/>
        </p:nvSpPr>
        <p:spPr>
          <a:xfrm xmlns:a="http://schemas.openxmlformats.org/drawingml/2006/main">
            <a:off x="400050" y="542925"/>
            <a:ext cx="828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20">
                <a:solidFill>
                  <a:srgbClr val="111111"/>
                </a:solidFill>
                <a:latin typeface="Roboto"/>
                <a:ea typeface="Roboto"/>
                <a:cs typeface="Roboto"/>
              </a:defRPr>
            </a:pPr>
            <a:r>
              <a:rPr sz="1620">
                <a:solidFill>
                  <a:srgbClr val="111111"/>
                </a:solidFill>
                <a:latin typeface="Roboto"/>
                <a:ea typeface="Roboto"/>
                <a:cs typeface="Roboto"/>
              </a:rPr>
              <a:t>Bisher evaluiert: Differenz und elektronische Entscheidung</a:t>
            </a:r>
          </a:p>
        </p:txBody>
      </p:sp>
      <p:sp>
        <p:nvSpPr>
          <p:cNvPr id="2" name="Text">
            <a:extLst xmlns:a="http://schemas.openxmlformats.org/drawingml/2006/main">
              <a:ext uri="{FF2B5EF4-FFF2-40B4-BE49-F238E27FC236}">
                <a16:creationId xmlns:a16="http://schemas.microsoft.com/office/drawing/2014/main" id="{C10AC501-5177-48C5-863A-0B06DA0FE78D}"/>
              </a:ext>
            </a:extLst>
          </p:cNvPr>
          <p:cNvSpPr>
            <a:spLocks xmlns:a="http://schemas.openxmlformats.org/drawingml/2006/main" noGrp="1"/>
          </p:cNvSpPr>
          <p:nvPr/>
        </p:nvSpPr>
        <p:spPr>
          <a:xfrm xmlns:a="http://schemas.openxmlformats.org/drawingml/2006/main">
            <a:off x="400050" y="4772025"/>
            <a:ext cx="798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55">
                <a:solidFill>
                  <a:srgbClr val="315D91"/>
                </a:solidFill>
                <a:latin typeface="Roboto"/>
                <a:ea typeface="Roboto"/>
                <a:cs typeface="Roboto"/>
              </a:defRPr>
            </a:pPr>
            <a:r>
              <a:rPr sz="855">
                <a:solidFill>
                  <a:srgbClr val="315D91"/>
                </a:solidFill>
                <a:latin typeface="Roboto"/>
                <a:ea typeface="Roboto"/>
                <a:cs typeface="Roboto"/>
              </a:rPr>
              <a:t>Quellen: Stirk &amp; Athale (1988); Louri et al. (1995); Projekt: sorting_schedules.py; sdk_mapping.py</a:t>
            </a:r>
          </a:p>
        </p:txBody>
      </p:sp>
      <p:sp>
        <p:nvSpPr>
          <p:cNvPr id="3" name="Text">
            <a:extLst xmlns:a="http://schemas.openxmlformats.org/drawingml/2006/main">
              <a:ext uri="{FF2B5EF4-FFF2-40B4-BE49-F238E27FC236}">
                <a16:creationId xmlns:a16="http://schemas.microsoft.com/office/drawing/2014/main" id="{E252759D-3C9A-45F1-9FA5-CAA9D6D72D9C}"/>
              </a:ext>
            </a:extLst>
          </p:cNvPr>
          <p:cNvSpPr>
            <a:spLocks xmlns:a="http://schemas.openxmlformats.org/drawingml/2006/main" noGrp="1"/>
          </p:cNvSpPr>
          <p:nvPr/>
        </p:nvSpPr>
        <p:spPr>
          <a:xfrm xmlns:a="http://schemas.openxmlformats.org/drawingml/2006/main">
            <a:off x="8667750" y="4819650"/>
            <a:ext cx="2286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a:solidFill>
                  <a:srgbClr val="595959"/>
                </a:solidFill>
                <a:latin typeface="Roboto"/>
                <a:ea typeface="Roboto"/>
                <a:cs typeface="Roboto"/>
              </a:defRPr>
            </a:pPr>
            <a:r>
              <a:rPr sz="900">
                <a:solidFill>
                  <a:srgbClr val="595959"/>
                </a:solidFill>
                <a:latin typeface="Roboto"/>
                <a:ea typeface="Roboto"/>
                <a:cs typeface="Roboto"/>
              </a:rPr>
              <a:t>5</a:t>
            </a:r>
          </a:p>
        </p:txBody>
      </p:sp>
      <p:sp>
        <p:nvSpPr>
          <p:cNvPr id="4" name="Text">
            <a:extLst xmlns:a="http://schemas.openxmlformats.org/drawingml/2006/main">
              <a:ext uri="{FF2B5EF4-FFF2-40B4-BE49-F238E27FC236}">
                <a16:creationId xmlns:a16="http://schemas.microsoft.com/office/drawing/2014/main" id="{AF4C4DAC-5DAB-432B-8F06-F9909F7FDF1B}"/>
              </a:ext>
            </a:extLst>
          </p:cNvPr>
          <p:cNvSpPr>
            <a:spLocks xmlns:a="http://schemas.openxmlformats.org/drawingml/2006/main" noGrp="1"/>
          </p:cNvSpPr>
          <p:nvPr/>
        </p:nvSpPr>
        <p:spPr>
          <a:xfrm xmlns:a="http://schemas.openxmlformats.org/drawingml/2006/main">
            <a:off x="542925" y="1143000"/>
            <a:ext cx="2533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Elektronische Vorbereitung</a:t>
            </a:r>
          </a:p>
        </p:txBody>
      </p:sp>
      <p:sp>
        <p:nvSpPr>
          <p:cNvPr id="5" name="Text">
            <a:extLst xmlns:a="http://schemas.openxmlformats.org/drawingml/2006/main">
              <a:ext uri="{FF2B5EF4-FFF2-40B4-BE49-F238E27FC236}">
                <a16:creationId xmlns:a16="http://schemas.microsoft.com/office/drawing/2014/main" id="{A221F51D-7594-4DDE-A035-3D7B6D50252F}"/>
              </a:ext>
            </a:extLst>
          </p:cNvPr>
          <p:cNvSpPr>
            <a:spLocks xmlns:a="http://schemas.openxmlformats.org/drawingml/2006/main" noGrp="1"/>
          </p:cNvSpPr>
          <p:nvPr/>
        </p:nvSpPr>
        <p:spPr>
          <a:xfrm xmlns:a="http://schemas.openxmlformats.org/drawingml/2006/main">
            <a:off x="3343275" y="1143000"/>
            <a:ext cx="26384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a:solidFill>
                  <a:srgbClr val="315D91"/>
                </a:solidFill>
                <a:latin typeface="Roboto"/>
                <a:ea typeface="Roboto"/>
                <a:cs typeface="Roboto"/>
              </a:defRPr>
            </a:pPr>
            <a:r>
              <a:rPr sz="1200">
                <a:solidFill>
                  <a:srgbClr val="315D91"/>
                </a:solidFill>
                <a:latin typeface="Roboto"/>
                <a:ea typeface="Roboto"/>
                <a:cs typeface="Roboto"/>
              </a:rPr>
              <a:t>NPU-Kandidat: Differenz-MVM</a:t>
            </a:r>
          </a:p>
        </p:txBody>
      </p:sp>
      <p:sp>
        <p:nvSpPr>
          <p:cNvPr id="6" name="Text">
            <a:extLst xmlns:a="http://schemas.openxmlformats.org/drawingml/2006/main">
              <a:ext uri="{FF2B5EF4-FFF2-40B4-BE49-F238E27FC236}">
                <a16:creationId xmlns:a16="http://schemas.microsoft.com/office/drawing/2014/main" id="{734EB2EE-0CEE-4BD5-A615-3A73E76E412D}"/>
              </a:ext>
            </a:extLst>
          </p:cNvPr>
          <p:cNvSpPr>
            <a:spLocks xmlns:a="http://schemas.openxmlformats.org/drawingml/2006/main" noGrp="1"/>
          </p:cNvSpPr>
          <p:nvPr/>
        </p:nvSpPr>
        <p:spPr>
          <a:xfrm xmlns:a="http://schemas.openxmlformats.org/drawingml/2006/main">
            <a:off x="6210300" y="1143000"/>
            <a:ext cx="2533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Elektronische Entscheidung</a:t>
            </a:r>
          </a:p>
        </p:txBody>
      </p:sp>
      <p:sp>
        <p:nvSpPr>
          <p:cNvPr id="7" name="">
            <a:extLst xmlns:a="http://schemas.openxmlformats.org/drawingml/2006/main">
              <a:ext uri="{FF2B5EF4-FFF2-40B4-BE49-F238E27FC236}">
                <a16:creationId xmlns:a16="http://schemas.microsoft.com/office/drawing/2014/main" id="{79F09BF6-E052-4460-98CB-B38E8632A5F9}"/>
              </a:ext>
            </a:extLst>
          </p:cNvPr>
          <p:cNvSpPr>
            <a:spLocks xmlns:a="http://schemas.openxmlformats.org/drawingml/2006/main" noGrp="1"/>
          </p:cNvSpPr>
          <p:nvPr/>
        </p:nvSpPr>
        <p:spPr>
          <a:xfrm xmlns:a="http://schemas.openxmlformats.org/drawingml/2006/main">
            <a:off x="542925" y="1562100"/>
            <a:ext cx="2466975"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8A8A8A"/>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200">
                <a:solidFill>
                  <a:srgbClr val="595959"/>
                </a:solidFill>
                <a:latin typeface="Roboto"/>
                <a:ea typeface="Roboto"/>
                <a:cs typeface="Roboto"/>
              </a:defRPr>
            </a:pPr>
            <a:r>
              <a:rPr sz="1200">
                <a:solidFill>
                  <a:srgbClr val="595959"/>
                </a:solidFill>
                <a:latin typeface="Roboto"/>
                <a:ea typeface="Roboto"/>
                <a:cs typeface="Roboto"/>
              </a:rPr>
              <a:t>Bitonic</a:t>
            </a:r>
          </a:p>
          <a:p xmlns:a="http://schemas.openxmlformats.org/drawingml/2006/main">
            <a:pPr algn="ctr">
              <a:defRPr sz="1200">
                <a:solidFill>
                  <a:srgbClr val="595959"/>
                </a:solidFill>
                <a:latin typeface="Roboto"/>
                <a:ea typeface="Roboto"/>
                <a:cs typeface="Roboto"/>
              </a:defRPr>
            </a:pPr>
            <a:r>
              <a:rPr sz="1200">
                <a:solidFill>
                  <a:srgbClr val="595959"/>
                </a:solidFill>
                <a:latin typeface="Roboto"/>
                <a:ea typeface="Roboto"/>
                <a:cs typeface="Roboto"/>
              </a:rPr>
              <a:t>N/2 Paare der aktuellen</a:t>
            </a:r>
          </a:p>
          <a:p xmlns:a="http://schemas.openxmlformats.org/drawingml/2006/main">
            <a:pPr algn="ctr">
              <a:defRPr sz="1200">
                <a:solidFill>
                  <a:srgbClr val="595959"/>
                </a:solidFill>
                <a:latin typeface="Roboto"/>
                <a:ea typeface="Roboto"/>
                <a:cs typeface="Roboto"/>
              </a:defRPr>
            </a:pPr>
            <a:r>
              <a:rPr sz="1200">
                <a:solidFill>
                  <a:srgbClr val="595959"/>
                </a:solidFill>
                <a:latin typeface="Roboto"/>
                <a:ea typeface="Roboto"/>
                <a:cs typeface="Roboto"/>
              </a:rPr>
              <a:t>Netzwerkstufe bilden</a:t>
            </a:r>
          </a:p>
        </p:txBody>
      </p:sp>
      <p:sp>
        <p:nvSpPr>
          <p:cNvPr id="8" name="">
            <a:extLst xmlns:a="http://schemas.openxmlformats.org/drawingml/2006/main">
              <a:ext uri="{FF2B5EF4-FFF2-40B4-BE49-F238E27FC236}">
                <a16:creationId xmlns:a16="http://schemas.microsoft.com/office/drawing/2014/main" id="{3EAAFF59-BF8B-4DD2-984E-AD7915D39CD0}"/>
              </a:ext>
            </a:extLst>
          </p:cNvPr>
          <p:cNvSpPr>
            <a:spLocks xmlns:a="http://schemas.openxmlformats.org/drawingml/2006/main" noGrp="1"/>
          </p:cNvSpPr>
          <p:nvPr/>
        </p:nvSpPr>
        <p:spPr>
          <a:xfrm xmlns:a="http://schemas.openxmlformats.org/drawingml/2006/main">
            <a:off x="3333750" y="1562100"/>
            <a:ext cx="2466975" cy="866775"/>
          </a:xfrm>
          <a:prstGeom xmlns:a="http://schemas.openxmlformats.org/drawingml/2006/main" prst="rect">
            <a:avLst/>
          </a:prstGeom>
          <a:solidFill xmlns:a="http://schemas.openxmlformats.org/drawingml/2006/main">
            <a:srgbClr val="FFFFFF"/>
          </a:solidFill>
          <a:ln xmlns:a="http://schemas.openxmlformats.org/drawingml/2006/main" w="13335">
            <a:solidFill>
              <a:srgbClr val="315D91"/>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200">
                <a:solidFill>
                  <a:srgbClr val="315D91"/>
                </a:solidFill>
                <a:latin typeface="Roboto"/>
                <a:ea typeface="Roboto"/>
                <a:cs typeface="Roboto"/>
              </a:defRPr>
            </a:pPr>
            <a:r>
              <a:rPr sz="1200">
                <a:solidFill>
                  <a:srgbClr val="315D91"/>
                </a:solidFill>
                <a:latin typeface="Roboto"/>
                <a:ea typeface="Roboto"/>
                <a:cs typeface="Roboto"/>
              </a:rPr>
              <a:t>Differenzen bündeln</a:t>
            </a:r>
          </a:p>
          <a:p xmlns:a="http://schemas.openxmlformats.org/drawingml/2006/main">
            <a:pPr algn="ctr">
              <a:defRPr sz="1200">
                <a:solidFill>
                  <a:srgbClr val="315D91"/>
                </a:solidFill>
                <a:latin typeface="Roboto"/>
                <a:ea typeface="Roboto"/>
                <a:cs typeface="Roboto"/>
              </a:defRPr>
            </a:pPr>
            <a:r>
              <a:rPr sz="1200">
                <a:solidFill>
                  <a:srgbClr val="315D91"/>
                </a:solidFill>
                <a:latin typeface="Roboto"/>
                <a:ea typeface="Roboto"/>
                <a:cs typeface="Roboto"/>
              </a:rPr>
              <a:t>Y = XWᵀ</a:t>
            </a:r>
          </a:p>
          <a:p xmlns:a="http://schemas.openxmlformats.org/drawingml/2006/main">
            <a:pPr algn="ctr">
              <a:defRPr sz="1200">
                <a:solidFill>
                  <a:srgbClr val="315D91"/>
                </a:solidFill>
                <a:latin typeface="Roboto"/>
                <a:ea typeface="Roboto"/>
                <a:cs typeface="Roboto"/>
              </a:defRPr>
            </a:pPr>
            <a:r>
              <a:rPr sz="1200">
                <a:solidFill>
                  <a:srgbClr val="315D91"/>
                </a:solidFill>
                <a:latin typeface="Roboto"/>
                <a:ea typeface="Roboto"/>
                <a:cs typeface="Roboto"/>
              </a:rPr>
              <a:t>W = [1  −1]</a:t>
            </a:r>
          </a:p>
        </p:txBody>
      </p:sp>
      <p:sp>
        <p:nvSpPr>
          <p:cNvPr id="9" name="">
            <a:extLst xmlns:a="http://schemas.openxmlformats.org/drawingml/2006/main">
              <a:ext uri="{FF2B5EF4-FFF2-40B4-BE49-F238E27FC236}">
                <a16:creationId xmlns:a16="http://schemas.microsoft.com/office/drawing/2014/main" id="{98707911-7D07-408F-821E-688FE18CE1F1}"/>
              </a:ext>
            </a:extLst>
          </p:cNvPr>
          <p:cNvSpPr>
            <a:spLocks xmlns:a="http://schemas.openxmlformats.org/drawingml/2006/main" noGrp="1"/>
          </p:cNvSpPr>
          <p:nvPr/>
        </p:nvSpPr>
        <p:spPr>
          <a:xfrm xmlns:a="http://schemas.openxmlformats.org/drawingml/2006/main">
            <a:off x="6134100" y="1562100"/>
            <a:ext cx="260985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8A8A8A"/>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200">
                <a:solidFill>
                  <a:srgbClr val="595959"/>
                </a:solidFill>
                <a:latin typeface="Roboto"/>
                <a:ea typeface="Roboto"/>
                <a:cs typeface="Roboto"/>
              </a:defRPr>
            </a:pPr>
            <a:r>
              <a:rPr sz="1200">
                <a:solidFill>
                  <a:srgbClr val="595959"/>
                </a:solidFill>
                <a:latin typeface="Roboto"/>
                <a:ea typeface="Roboto"/>
                <a:cs typeface="Roboto"/>
              </a:rPr>
              <a:t>Vorzeichen auswerten</a:t>
            </a:r>
          </a:p>
          <a:p xmlns:a="http://schemas.openxmlformats.org/drawingml/2006/main">
            <a:pPr algn="ctr">
              <a:defRPr sz="1200">
                <a:solidFill>
                  <a:srgbClr val="595959"/>
                </a:solidFill>
                <a:latin typeface="Roboto"/>
                <a:ea typeface="Roboto"/>
                <a:cs typeface="Roboto"/>
              </a:defRPr>
            </a:pPr>
            <a:r>
              <a:rPr sz="1200">
                <a:solidFill>
                  <a:srgbClr val="595959"/>
                </a:solidFill>
                <a:latin typeface="Roboto"/>
                <a:ea typeface="Roboto"/>
                <a:cs typeface="Roboto"/>
              </a:rPr>
              <a:t>Originaldatensätze tauschen</a:t>
            </a:r>
          </a:p>
          <a:p xmlns:a="http://schemas.openxmlformats.org/drawingml/2006/main">
            <a:pPr algn="ctr">
              <a:defRPr sz="1200">
                <a:solidFill>
                  <a:srgbClr val="595959"/>
                </a:solidFill>
                <a:latin typeface="Roboto"/>
                <a:ea typeface="Roboto"/>
                <a:cs typeface="Roboto"/>
              </a:defRPr>
            </a:pPr>
            <a:r>
              <a:rPr sz="1200">
                <a:solidFill>
                  <a:srgbClr val="595959"/>
                </a:solidFill>
                <a:latin typeface="Roboto"/>
                <a:ea typeface="Roboto"/>
                <a:cs typeface="Roboto"/>
              </a:rPr>
              <a:t>Für K Stufen wiederholen</a:t>
            </a:r>
          </a:p>
        </p:txBody>
      </p:sp>
      <p:sp>
        <p:nvSpPr>
          <p:cNvPr id="12" name="">
            <a:extLst xmlns:a="http://schemas.openxmlformats.org/drawingml/2006/main">
              <a:ext uri="{FF2B5EF4-FFF2-40B4-BE49-F238E27FC236}">
                <a16:creationId xmlns:a16="http://schemas.microsoft.com/office/drawing/2014/main" id="{4F09516E-92C6-4C6B-AEFE-21AF61B5ECCD}"/>
              </a:ext>
            </a:extLst>
          </p:cNvPr>
          <p:cNvSpPr>
            <a:spLocks xmlns:a="http://schemas.openxmlformats.org/drawingml/2006/main" noGrp="1"/>
          </p:cNvSpPr>
          <p:nvPr/>
        </p:nvSpPr>
        <p:spPr>
          <a:xfrm xmlns:a="http://schemas.openxmlformats.org/drawingml/2006/main">
            <a:off x="542925" y="2857500"/>
            <a:ext cx="2466975"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8A8A8A"/>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200">
                <a:solidFill>
                  <a:srgbClr val="595959"/>
                </a:solidFill>
                <a:latin typeface="Roboto"/>
                <a:ea typeface="Roboto"/>
                <a:cs typeface="Roboto"/>
              </a:defRPr>
            </a:pPr>
            <a:r>
              <a:rPr sz="1200">
                <a:solidFill>
                  <a:srgbClr val="595959"/>
                </a:solidFill>
                <a:latin typeface="Roboto"/>
                <a:ea typeface="Roboto"/>
                <a:cs typeface="Roboto"/>
              </a:rPr>
              <a:t>Rang</a:t>
            </a:r>
          </a:p>
          <a:p xmlns:a="http://schemas.openxmlformats.org/drawingml/2006/main">
            <a:pPr algn="ctr">
              <a:defRPr sz="1200">
                <a:solidFill>
                  <a:srgbClr val="595959"/>
                </a:solidFill>
                <a:latin typeface="Roboto"/>
                <a:ea typeface="Roboto"/>
                <a:cs typeface="Roboto"/>
              </a:defRPr>
            </a:pPr>
            <a:r>
              <a:rPr sz="1200">
                <a:solidFill>
                  <a:srgbClr val="595959"/>
                </a:solidFill>
                <a:latin typeface="Roboto"/>
                <a:ea typeface="Roboto"/>
                <a:cs typeface="Roboto"/>
              </a:rPr>
              <a:t>Alle Paare (i, j), i &lt; j</a:t>
            </a:r>
          </a:p>
          <a:p xmlns:a="http://schemas.openxmlformats.org/drawingml/2006/main">
            <a:pPr algn="ctr">
              <a:defRPr sz="1200">
                <a:solidFill>
                  <a:srgbClr val="595959"/>
                </a:solidFill>
                <a:latin typeface="Roboto"/>
                <a:ea typeface="Roboto"/>
                <a:cs typeface="Roboto"/>
              </a:defRPr>
            </a:pPr>
            <a:r>
              <a:rPr sz="1200">
                <a:solidFill>
                  <a:srgbClr val="595959"/>
                </a:solidFill>
                <a:latin typeface="Roboto"/>
                <a:ea typeface="Roboto"/>
                <a:cs typeface="Roboto"/>
              </a:rPr>
              <a:t>einmal bilden</a:t>
            </a:r>
          </a:p>
        </p:txBody>
      </p:sp>
      <p:sp>
        <p:nvSpPr>
          <p:cNvPr id="13" name="">
            <a:extLst xmlns:a="http://schemas.openxmlformats.org/drawingml/2006/main">
              <a:ext uri="{FF2B5EF4-FFF2-40B4-BE49-F238E27FC236}">
                <a16:creationId xmlns:a16="http://schemas.microsoft.com/office/drawing/2014/main" id="{F4A6BDD0-2ADE-442D-8F60-09DC480993B4}"/>
              </a:ext>
            </a:extLst>
          </p:cNvPr>
          <p:cNvSpPr>
            <a:spLocks xmlns:a="http://schemas.openxmlformats.org/drawingml/2006/main" noGrp="1"/>
          </p:cNvSpPr>
          <p:nvPr/>
        </p:nvSpPr>
        <p:spPr>
          <a:xfrm xmlns:a="http://schemas.openxmlformats.org/drawingml/2006/main">
            <a:off x="3333750" y="2857500"/>
            <a:ext cx="2466975" cy="866775"/>
          </a:xfrm>
          <a:prstGeom xmlns:a="http://schemas.openxmlformats.org/drawingml/2006/main" prst="rect">
            <a:avLst/>
          </a:prstGeom>
          <a:solidFill xmlns:a="http://schemas.openxmlformats.org/drawingml/2006/main">
            <a:srgbClr val="FFFFFF"/>
          </a:solidFill>
          <a:ln xmlns:a="http://schemas.openxmlformats.org/drawingml/2006/main" w="13335">
            <a:solidFill>
              <a:srgbClr val="315D91"/>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200">
                <a:solidFill>
                  <a:srgbClr val="315D91"/>
                </a:solidFill>
                <a:latin typeface="Roboto"/>
                <a:ea typeface="Roboto"/>
                <a:cs typeface="Roboto"/>
              </a:defRPr>
            </a:pPr>
            <a:r>
              <a:rPr sz="1200">
                <a:solidFill>
                  <a:srgbClr val="315D91"/>
                </a:solidFill>
                <a:latin typeface="Roboto"/>
                <a:ea typeface="Roboto"/>
                <a:cs typeface="Roboto"/>
              </a:rPr>
              <a:t>Dieselbe MVM</a:t>
            </a:r>
          </a:p>
          <a:p xmlns:a="http://schemas.openxmlformats.org/drawingml/2006/main">
            <a:pPr algn="ctr">
              <a:defRPr sz="1200">
                <a:solidFill>
                  <a:srgbClr val="315D91"/>
                </a:solidFill>
                <a:latin typeface="Roboto"/>
                <a:ea typeface="Roboto"/>
                <a:cs typeface="Roboto"/>
              </a:defRPr>
            </a:pPr>
            <a:r>
              <a:rPr sz="1200">
                <a:solidFill>
                  <a:srgbClr val="315D91"/>
                </a:solidFill>
                <a:latin typeface="Roboto"/>
                <a:ea typeface="Roboto"/>
                <a:cs typeface="Roboto"/>
              </a:rPr>
              <a:t>Eine Differenz</a:t>
            </a:r>
          </a:p>
          <a:p xmlns:a="http://schemas.openxmlformats.org/drawingml/2006/main">
            <a:pPr algn="ctr">
              <a:defRPr sz="1200">
                <a:solidFill>
                  <a:srgbClr val="315D91"/>
                </a:solidFill>
                <a:latin typeface="Roboto"/>
                <a:ea typeface="Roboto"/>
                <a:cs typeface="Roboto"/>
              </a:defRPr>
            </a:pPr>
            <a:r>
              <a:rPr sz="1200">
                <a:solidFill>
                  <a:srgbClr val="315D91"/>
                </a:solidFill>
                <a:latin typeface="Roboto"/>
                <a:ea typeface="Roboto"/>
                <a:cs typeface="Roboto"/>
              </a:rPr>
              <a:t>pro Paar</a:t>
            </a:r>
          </a:p>
        </p:txBody>
      </p:sp>
      <p:sp>
        <p:nvSpPr>
          <p:cNvPr id="14" name="">
            <a:extLst xmlns:a="http://schemas.openxmlformats.org/drawingml/2006/main">
              <a:ext uri="{FF2B5EF4-FFF2-40B4-BE49-F238E27FC236}">
                <a16:creationId xmlns:a16="http://schemas.microsoft.com/office/drawing/2014/main" id="{EE4527B2-1E85-4350-ACDE-3544EE444881}"/>
              </a:ext>
            </a:extLst>
          </p:cNvPr>
          <p:cNvSpPr>
            <a:spLocks xmlns:a="http://schemas.openxmlformats.org/drawingml/2006/main" noGrp="1"/>
          </p:cNvSpPr>
          <p:nvPr/>
        </p:nvSpPr>
        <p:spPr>
          <a:xfrm xmlns:a="http://schemas.openxmlformats.org/drawingml/2006/main">
            <a:off x="6134100" y="2857500"/>
            <a:ext cx="260985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8A8A8A"/>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200">
                <a:solidFill>
                  <a:srgbClr val="595959"/>
                </a:solidFill>
                <a:latin typeface="Roboto"/>
                <a:ea typeface="Roboto"/>
                <a:cs typeface="Roboto"/>
              </a:defRPr>
            </a:pPr>
            <a:r>
              <a:rPr sz="1200">
                <a:solidFill>
                  <a:srgbClr val="595959"/>
                </a:solidFill>
                <a:latin typeface="Roboto"/>
                <a:ea typeface="Roboto"/>
                <a:cs typeface="Roboto"/>
              </a:rPr>
              <a:t>Siege als Ränge zählen</a:t>
            </a:r>
          </a:p>
          <a:p xmlns:a="http://schemas.openxmlformats.org/drawingml/2006/main">
            <a:pPr algn="ctr">
              <a:defRPr sz="1200">
                <a:solidFill>
                  <a:srgbClr val="595959"/>
                </a:solidFill>
                <a:latin typeface="Roboto"/>
                <a:ea typeface="Roboto"/>
                <a:cs typeface="Roboto"/>
              </a:defRPr>
            </a:pPr>
            <a:r>
              <a:rPr sz="1200">
                <a:solidFill>
                  <a:srgbClr val="595959"/>
                </a:solidFill>
                <a:latin typeface="Roboto"/>
                <a:ea typeface="Roboto"/>
                <a:cs typeface="Roboto"/>
              </a:rPr>
              <a:t>Ränge auf Eindeutigkeit prüfen</a:t>
            </a:r>
          </a:p>
          <a:p xmlns:a="http://schemas.openxmlformats.org/drawingml/2006/main">
            <a:pPr algn="ctr">
              <a:defRPr sz="1200">
                <a:solidFill>
                  <a:srgbClr val="595959"/>
                </a:solidFill>
                <a:latin typeface="Roboto"/>
                <a:ea typeface="Roboto"/>
                <a:cs typeface="Roboto"/>
              </a:defRPr>
            </a:pPr>
            <a:r>
              <a:rPr sz="1200">
                <a:solidFill>
                  <a:srgbClr val="595959"/>
                </a:solidFill>
                <a:latin typeface="Roboto"/>
                <a:ea typeface="Roboto"/>
                <a:cs typeface="Roboto"/>
              </a:rPr>
              <a:t>Datensätze platzieren</a:t>
            </a:r>
          </a:p>
        </p:txBody>
      </p:sp>
      <p:sp>
        <p:nvSpPr>
          <p:cNvPr id="17" name="Text">
            <a:extLst xmlns:a="http://schemas.openxmlformats.org/drawingml/2006/main">
              <a:ext uri="{FF2B5EF4-FFF2-40B4-BE49-F238E27FC236}">
                <a16:creationId xmlns:a16="http://schemas.microsoft.com/office/drawing/2014/main" id="{EAB05CB0-1069-4080-BF4E-AE9C79CD8EDB}"/>
              </a:ext>
            </a:extLst>
          </p:cNvPr>
          <p:cNvSpPr>
            <a:spLocks xmlns:a="http://schemas.openxmlformats.org/drawingml/2006/main" noGrp="1"/>
          </p:cNvSpPr>
          <p:nvPr/>
        </p:nvSpPr>
        <p:spPr>
          <a:xfrm xmlns:a="http://schemas.openxmlformats.org/drawingml/2006/main">
            <a:off x="542925" y="4105275"/>
            <a:ext cx="814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Bitonic ist stufenabhängig; die Paarvergleiche der Rangsortierung sind unabhängig.</a:t>
            </a:r>
          </a:p>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Ausführung bisher auf CPU. Ein optischer Compare-and-Exchange-Kern wurde nicht evaluiert.</a:t>
            </a:r>
          </a:p>
        </p:txBody>
      </p:sp>
    </p:spTree>
    <p:extLst>
      <p:ext uri="{BB962C8B-B14F-4D97-AF65-F5344CB8AC3E}">
        <p14:creationId xmlns:p14="http://schemas.microsoft.com/office/powerpoint/2010/main" val="13887963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Folientitel">
            <a:extLst xmlns:a="http://schemas.openxmlformats.org/drawingml/2006/main">
              <a:ext uri="{FF2B5EF4-FFF2-40B4-BE49-F238E27FC236}">
                <a16:creationId xmlns:a16="http://schemas.microsoft.com/office/drawing/2014/main" id="{8524241E-A151-461B-B2CA-897EBBA9AB51}"/>
              </a:ext>
            </a:extLst>
          </p:cNvPr>
          <p:cNvSpPr>
            <a:spLocks xmlns:a="http://schemas.openxmlformats.org/drawingml/2006/main" noGrp="1"/>
          </p:cNvSpPr>
          <p:nvPr/>
        </p:nvSpPr>
        <p:spPr>
          <a:xfrm xmlns:a="http://schemas.openxmlformats.org/drawingml/2006/main">
            <a:off x="400050" y="542925"/>
            <a:ext cx="828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20">
                <a:solidFill>
                  <a:srgbClr val="111111"/>
                </a:solidFill>
                <a:latin typeface="Roboto"/>
                <a:ea typeface="Roboto"/>
                <a:cs typeface="Roboto"/>
              </a:defRPr>
            </a:pPr>
            <a:r>
              <a:rPr sz="1620">
                <a:solidFill>
                  <a:srgbClr val="111111"/>
                </a:solidFill>
                <a:latin typeface="Roboto"/>
                <a:ea typeface="Roboto"/>
                <a:cs typeface="Roboto"/>
              </a:rPr>
              <a:t>Q.ANT: native Nichtlinearität und CPU-ReLU</a:t>
            </a:r>
          </a:p>
        </p:txBody>
      </p:sp>
      <p:sp>
        <p:nvSpPr>
          <p:cNvPr id="2" name="Text">
            <a:extLst xmlns:a="http://schemas.openxmlformats.org/drawingml/2006/main">
              <a:ext uri="{FF2B5EF4-FFF2-40B4-BE49-F238E27FC236}">
                <a16:creationId xmlns:a16="http://schemas.microsoft.com/office/drawing/2014/main" id="{B0E3FA28-9577-4F1D-BDC9-5AE4F01F96ED}"/>
              </a:ext>
            </a:extLst>
          </p:cNvPr>
          <p:cNvSpPr>
            <a:spLocks xmlns:a="http://schemas.openxmlformats.org/drawingml/2006/main" noGrp="1"/>
          </p:cNvSpPr>
          <p:nvPr/>
        </p:nvSpPr>
        <p:spPr>
          <a:xfrm xmlns:a="http://schemas.openxmlformats.org/drawingml/2006/main">
            <a:off x="400050" y="4772025"/>
            <a:ext cx="798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55">
                <a:solidFill>
                  <a:srgbClr val="315D91"/>
                </a:solidFill>
                <a:latin typeface="Roboto"/>
                <a:ea typeface="Roboto"/>
                <a:cs typeface="Roboto"/>
              </a:defRPr>
            </a:pPr>
            <a:r>
              <a:rPr sz="855">
                <a:solidFill>
                  <a:srgbClr val="315D91"/>
                </a:solidFill>
                <a:latin typeface="Roboto"/>
                <a:ea typeface="Roboto"/>
                <a:cs typeface="Roboto"/>
              </a:rPr>
              <a:t>Quellen: offizielles SDK 2.3.1, Commit 72a2d99; Quellcodeprüfung vom 5. Oktober 2026</a:t>
            </a:r>
          </a:p>
        </p:txBody>
      </p:sp>
      <p:sp>
        <p:nvSpPr>
          <p:cNvPr id="3" name="Text">
            <a:extLst xmlns:a="http://schemas.openxmlformats.org/drawingml/2006/main">
              <a:ext uri="{FF2B5EF4-FFF2-40B4-BE49-F238E27FC236}">
                <a16:creationId xmlns:a16="http://schemas.microsoft.com/office/drawing/2014/main" id="{AC619981-35D1-4B46-99EB-BF38A89D94CF}"/>
              </a:ext>
            </a:extLst>
          </p:cNvPr>
          <p:cNvSpPr>
            <a:spLocks xmlns:a="http://schemas.openxmlformats.org/drawingml/2006/main" noGrp="1"/>
          </p:cNvSpPr>
          <p:nvPr/>
        </p:nvSpPr>
        <p:spPr>
          <a:xfrm xmlns:a="http://schemas.openxmlformats.org/drawingml/2006/main">
            <a:off x="8667750" y="4819650"/>
            <a:ext cx="2286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a:solidFill>
                  <a:srgbClr val="595959"/>
                </a:solidFill>
                <a:latin typeface="Roboto"/>
                <a:ea typeface="Roboto"/>
                <a:cs typeface="Roboto"/>
              </a:defRPr>
            </a:pPr>
            <a:r>
              <a:rPr sz="900">
                <a:solidFill>
                  <a:srgbClr val="595959"/>
                </a:solidFill>
                <a:latin typeface="Roboto"/>
                <a:ea typeface="Roboto"/>
                <a:cs typeface="Roboto"/>
              </a:rPr>
              <a:t>6</a:t>
            </a:r>
          </a:p>
        </p:txBody>
      </p:sp>
      <p:graphicFrame>
        <p:nvGraphicFramePr>
          <p:cNvPr id="10" name=""/>
          <p:cNvGraphicFramePr/>
          <p:nvPr/>
        </p:nvGraphicFramePr>
        <p:xfrm>
          <a:off xmlns:a="http://schemas.openxmlformats.org/drawingml/2006/main" x="542925" y="1133475"/>
          <a:ext xmlns:a="http://schemas.openxmlformats.org/drawingml/2006/main" cx="8058150" cy="2495550"/>
        </p:xfrm>
        <a:graphic xmlns:a="http://schemas.openxmlformats.org/drawingml/2006/main">
          <a:graphicData uri="http://schemas.openxmlformats.org/drawingml/2006/table">
            <a:tbl>
              <a:tblPr firstRow="1" bandRow="0"/>
              <a:tblGrid>
                <a:gridCol w="1895475"/>
                <a:gridCol w="2686050"/>
                <a:gridCol w="3476625"/>
              </a:tblGrid>
              <a:tr h="499110">
                <a:tc>
                  <a:txBody>
                    <a:bodyPr lIns="85725" tIns="66675" rIns="85725" bIns="66675">
                      <a:noAutofit/>
                    </a:bodyPr>
                    <a:lstStyle/>
                    <a:p>
                      <a:r>
                        <a:rPr sz="1155" b="1">
                          <a:solidFill>
                            <a:srgbClr val="111111"/>
                          </a:solidFill>
                          <a:latin typeface="Roboto"/>
                          <a:ea typeface="Roboto"/>
                          <a:cs typeface="Roboto"/>
                        </a:rPr>
                        <a:t>Funktion</a:t>
                      </a:r>
                    </a:p>
                  </a:txBody>
                  <a:tcPr marL="91440" marR="91440" marT="45720" marB="45720" anchor="ctr">
                    <a:solidFill>
                      <a:srgbClr val="F1F1F1"/>
                    </a:solidFill>
                  </a:tcPr>
                </a:tc>
                <a:tc>
                  <a:txBody>
                    <a:bodyPr lIns="85725" tIns="66675" rIns="85725" bIns="66675">
                      <a:noAutofit/>
                    </a:bodyPr>
                    <a:lstStyle/>
                    <a:p>
                      <a:r>
                        <a:rPr sz="1155" b="1">
                          <a:solidFill>
                            <a:srgbClr val="111111"/>
                          </a:solidFill>
                          <a:latin typeface="Roboto"/>
                          <a:ea typeface="Roboto"/>
                          <a:cs typeface="Roboto"/>
                        </a:rPr>
                        <a:t>Geprüfter Ausführungspfad</a:t>
                      </a:r>
                    </a:p>
                  </a:txBody>
                  <a:tcPr marL="91440" marR="91440" marT="45720" marB="45720" anchor="ctr">
                    <a:solidFill>
                      <a:srgbClr val="F1F1F1"/>
                    </a:solidFill>
                  </a:tcPr>
                </a:tc>
                <a:tc>
                  <a:txBody>
                    <a:bodyPr lIns="85725" tIns="66675" rIns="85725" bIns="66675">
                      <a:noAutofit/>
                    </a:bodyPr>
                    <a:lstStyle/>
                    <a:p>
                      <a:r>
                        <a:rPr sz="1155" b="1">
                          <a:solidFill>
                            <a:srgbClr val="111111"/>
                          </a:solidFill>
                          <a:latin typeface="Roboto"/>
                          <a:ea typeface="Roboto"/>
                          <a:cs typeface="Roboto"/>
                        </a:rPr>
                        <a:t>Aussage für die Thesis</a:t>
                      </a:r>
                    </a:p>
                  </a:txBody>
                  <a:tcPr marL="91440" marR="91440" marT="45720" marB="45720" anchor="ctr">
                    <a:solidFill>
                      <a:srgbClr val="F1F1F1"/>
                    </a:solidFill>
                  </a:tcPr>
                </a:tc>
              </a:tr>
              <a:tr h="499110">
                <a:tc>
                  <a:txBody>
                    <a:bodyPr lIns="85725" tIns="66675" rIns="85725" bIns="66675">
                      <a:noAutofit/>
                    </a:bodyPr>
                    <a:lstStyle/>
                    <a:p>
                      <a:r>
                        <a:rPr sz="1155" b="0">
                          <a:solidFill>
                            <a:srgbClr val="595959"/>
                          </a:solidFill>
                          <a:latin typeface="Roboto"/>
                          <a:ea typeface="Roboto"/>
                          <a:cs typeface="Roboto"/>
                        </a:rPr>
                        <a:t>Lineare MVM</a:t>
                      </a:r>
                    </a:p>
                    <a:p>
                      <a:r>
                        <a:rPr sz="1155" b="0">
                          <a:solidFill>
                            <a:srgbClr val="595959"/>
                          </a:solidFill>
                          <a:latin typeface="Roboto"/>
                          <a:ea typeface="Roboto"/>
                          <a:cs typeface="Roboto"/>
                        </a:rPr>
                        <a:t>Y = XWᵀ</a:t>
                      </a:r>
                    </a:p>
                  </a:txBody>
                  <a:tcPr marL="91440" marR="91440" marT="45720" marB="45720" anchor="ctr">
                    <a:solidFill>
                      <a:srgbClr val="FFFFFF"/>
                    </a:solidFill>
                  </a:tcPr>
                </a:tc>
                <a:tc>
                  <a:txBody>
                    <a:bodyPr lIns="85725" tIns="66675" rIns="85725" bIns="66675">
                      <a:noAutofit/>
                    </a:bodyPr>
                    <a:lstStyle/>
                    <a:p>
                      <a:r>
                        <a:rPr sz="1155" b="0">
                          <a:solidFill>
                            <a:srgbClr val="595959"/>
                          </a:solidFill>
                          <a:latin typeface="Roboto"/>
                          <a:ea typeface="Roboto"/>
                          <a:cs typeface="Roboto"/>
                        </a:rPr>
                        <a:t>Aufruf des NPU-Treibers</a:t>
                      </a:r>
                    </a:p>
                  </a:txBody>
                  <a:tcPr marL="91440" marR="91440" marT="45720" marB="45720" anchor="ctr">
                    <a:solidFill>
                      <a:srgbClr val="FFFFFF"/>
                    </a:solidFill>
                  </a:tcPr>
                </a:tc>
                <a:tc>
                  <a:txBody>
                    <a:bodyPr lIns="85725" tIns="66675" rIns="85725" bIns="66675">
                      <a:noAutofit/>
                    </a:bodyPr>
                    <a:lstStyle/>
                    <a:p>
                      <a:r>
                        <a:rPr sz="1155" b="0">
                          <a:solidFill>
                            <a:srgbClr val="595959"/>
                          </a:solidFill>
                          <a:latin typeface="Roboto"/>
                          <a:ea typeface="Roboto"/>
                          <a:cs typeface="Roboto"/>
                        </a:rPr>
                        <a:t>Differenzbildung ist über die Schnittstelle abbildbar.</a:t>
                      </a:r>
                    </a:p>
                  </a:txBody>
                  <a:tcPr marL="91440" marR="91440" marT="45720" marB="45720" anchor="ctr">
                    <a:solidFill>
                      <a:srgbClr val="FFFFFF"/>
                    </a:solidFill>
                  </a:tcPr>
                </a:tc>
              </a:tr>
              <a:tr h="499110">
                <a:tc>
                  <a:txBody>
                    <a:bodyPr lIns="85725" tIns="66675" rIns="85725" bIns="66675">
                      <a:noAutofit/>
                    </a:bodyPr>
                    <a:lstStyle/>
                    <a:p>
                      <a:r>
                        <a:rPr sz="1155" b="0">
                          <a:solidFill>
                            <a:srgbClr val="595959"/>
                          </a:solidFill>
                          <a:latin typeface="Roboto"/>
                          <a:ea typeface="Roboto"/>
                          <a:cs typeface="Roboto"/>
                        </a:rPr>
                        <a:t>Periodisch</a:t>
                      </a:r>
                    </a:p>
                    <a:p>
                      <a:r>
                        <a:rPr sz="1155" b="0">
                          <a:solidFill>
                            <a:srgbClr val="595959"/>
                          </a:solidFill>
                          <a:latin typeface="Roboto"/>
                          <a:ea typeface="Roboto"/>
                          <a:cs typeface="Roboto"/>
                        </a:rPr>
                        <a:t>y = v · tcos(u)</a:t>
                      </a:r>
                    </a:p>
                  </a:txBody>
                  <a:tcPr marL="91440" marR="91440" marT="45720" marB="45720" anchor="ctr">
                    <a:solidFill>
                      <a:srgbClr val="FFFFFF"/>
                    </a:solidFill>
                  </a:tcPr>
                </a:tc>
                <a:tc>
                  <a:txBody>
                    <a:bodyPr lIns="85725" tIns="66675" rIns="85725" bIns="66675">
                      <a:noAutofit/>
                    </a:bodyPr>
                    <a:lstStyle/>
                    <a:p>
                      <a:r>
                        <a:rPr sz="1155" b="0">
                          <a:solidFill>
                            <a:srgbClr val="595959"/>
                          </a:solidFill>
                          <a:latin typeface="Roboto"/>
                          <a:ea typeface="Roboto"/>
                          <a:cs typeface="Roboto"/>
                        </a:rPr>
                        <a:t>Eigener NPU-Treiberaufruf</a:t>
                      </a:r>
                    </a:p>
                  </a:txBody>
                  <a:tcPr marL="91440" marR="91440" marT="45720" marB="45720" anchor="ctr">
                    <a:solidFill>
                      <a:srgbClr val="FFFFFF"/>
                    </a:solidFill>
                  </a:tcPr>
                </a:tc>
                <a:tc>
                  <a:txBody>
                    <a:bodyPr lIns="85725" tIns="66675" rIns="85725" bIns="66675">
                      <a:noAutofit/>
                    </a:bodyPr>
                    <a:lstStyle/>
                    <a:p>
                      <a:r>
                        <a:rPr sz="1155" b="0">
                          <a:solidFill>
                            <a:srgbClr val="595959"/>
                          </a:solidFill>
                          <a:latin typeface="Roboto"/>
                          <a:ea typeface="Roboto"/>
                          <a:cs typeface="Roboto"/>
                        </a:rPr>
                        <a:t>Native Nichtlinearität verfügbar; kosinusähnlich.</a:t>
                      </a:r>
                    </a:p>
                  </a:txBody>
                  <a:tcPr marL="91440" marR="91440" marT="45720" marB="45720" anchor="ctr">
                    <a:solidFill>
                      <a:srgbClr val="FFFFFF"/>
                    </a:solidFill>
                  </a:tcPr>
                </a:tc>
              </a:tr>
              <a:tr h="499110">
                <a:tc>
                  <a:txBody>
                    <a:bodyPr lIns="85725" tIns="66675" rIns="85725" bIns="66675">
                      <a:noAutofit/>
                    </a:bodyPr>
                    <a:lstStyle/>
                    <a:p>
                      <a:r>
                        <a:rPr sz="1155" b="0">
                          <a:solidFill>
                            <a:srgbClr val="595959"/>
                          </a:solidFill>
                          <a:latin typeface="Roboto"/>
                          <a:ea typeface="Roboto"/>
                          <a:cs typeface="Roboto"/>
                        </a:rPr>
                        <a:t>ReLU</a:t>
                      </a:r>
                    </a:p>
                    <a:p>
                      <a:r>
                        <a:rPr sz="1155" b="0">
                          <a:solidFill>
                            <a:srgbClr val="595959"/>
                          </a:solidFill>
                          <a:latin typeface="Roboto"/>
                          <a:ea typeface="Roboto"/>
                          <a:cs typeface="Roboto"/>
                        </a:rPr>
                        <a:t>r = max(d, 0)</a:t>
                      </a:r>
                    </a:p>
                  </a:txBody>
                  <a:tcPr marL="91440" marR="91440" marT="45720" marB="45720" anchor="ctr">
                    <a:solidFill>
                      <a:srgbClr val="FFFFFF"/>
                    </a:solidFill>
                  </a:tcPr>
                </a:tc>
                <a:tc>
                  <a:txBody>
                    <a:bodyPr lIns="85725" tIns="66675" rIns="85725" bIns="66675">
                      <a:noAutofit/>
                    </a:bodyPr>
                    <a:lstStyle/>
                    <a:p>
                      <a:r>
                        <a:rPr sz="1155" b="0">
                          <a:solidFill>
                            <a:srgbClr val="595959"/>
                          </a:solidFill>
                          <a:latin typeface="Roboto"/>
                          <a:ea typeface="Roboto"/>
                          <a:cs typeface="Roboto"/>
                        </a:rPr>
                        <a:t>CPU-Schleife im SDK</a:t>
                      </a:r>
                    </a:p>
                  </a:txBody>
                  <a:tcPr marL="91440" marR="91440" marT="45720" marB="45720" anchor="ctr">
                    <a:solidFill>
                      <a:srgbClr val="FFFFFF"/>
                    </a:solidFill>
                  </a:tcPr>
                </a:tc>
                <a:tc>
                  <a:txBody>
                    <a:bodyPr lIns="85725" tIns="66675" rIns="85725" bIns="66675">
                      <a:noAutofit/>
                    </a:bodyPr>
                    <a:lstStyle/>
                    <a:p>
                      <a:r>
                        <a:rPr sz="1155" b="0">
                          <a:solidFill>
                            <a:srgbClr val="595959"/>
                          </a:solidFill>
                          <a:latin typeface="Roboto"/>
                          <a:ea typeface="Roboto"/>
                          <a:cs typeface="Roboto"/>
                        </a:rPr>
                        <a:t>Keine native optische ReLU durch diesen Aufruf.</a:t>
                      </a:r>
                    </a:p>
                  </a:txBody>
                  <a:tcPr marL="91440" marR="91440" marT="45720" marB="45720" anchor="ctr">
                    <a:solidFill>
                      <a:srgbClr val="FFFFFF"/>
                    </a:solidFill>
                  </a:tcPr>
                </a:tc>
              </a:tr>
              <a:tr h="499110">
                <a:tc>
                  <a:txBody>
                    <a:bodyPr lIns="85725" tIns="66675" rIns="85725" bIns="66675">
                      <a:noAutofit/>
                    </a:bodyPr>
                    <a:lstStyle/>
                    <a:p>
                      <a:r>
                        <a:rPr sz="1155" b="0">
                          <a:solidFill>
                            <a:srgbClr val="595959"/>
                          </a:solidFill>
                          <a:latin typeface="Roboto"/>
                          <a:ea typeface="Roboto"/>
                          <a:cs typeface="Roboto"/>
                        </a:rPr>
                        <a:t>Vollständiges C&amp;E</a:t>
                      </a:r>
                    </a:p>
                    <a:p>
                      <a:r>
                        <a:rPr sz="1155" b="0">
                          <a:solidFill>
                            <a:srgbClr val="595959"/>
                          </a:solidFill>
                          <a:latin typeface="Roboto"/>
                          <a:ea typeface="Roboto"/>
                          <a:cs typeface="Roboto"/>
                        </a:rPr>
                        <a:t>und optische Kaskade</a:t>
                      </a:r>
                    </a:p>
                  </a:txBody>
                  <a:tcPr marL="91440" marR="91440" marT="45720" marB="45720" anchor="ctr">
                    <a:solidFill>
                      <a:srgbClr val="FFFFFF"/>
                    </a:solidFill>
                  </a:tcPr>
                </a:tc>
                <a:tc>
                  <a:txBody>
                    <a:bodyPr lIns="85725" tIns="66675" rIns="85725" bIns="66675">
                      <a:noAutofit/>
                    </a:bodyPr>
                    <a:lstStyle/>
                    <a:p>
                      <a:r>
                        <a:rPr sz="1155" b="0">
                          <a:solidFill>
                            <a:srgbClr val="595959"/>
                          </a:solidFill>
                          <a:latin typeface="Roboto"/>
                          <a:ea typeface="Roboto"/>
                          <a:cs typeface="Roboto"/>
                        </a:rPr>
                        <a:t>Kein entsprechender Nachweis in der geprüften Schnittstelle</a:t>
                      </a:r>
                    </a:p>
                  </a:txBody>
                  <a:tcPr marL="91440" marR="91440" marT="45720" marB="45720" anchor="ctr">
                    <a:solidFill>
                      <a:srgbClr val="FFFFFF"/>
                    </a:solidFill>
                  </a:tcPr>
                </a:tc>
                <a:tc>
                  <a:txBody>
                    <a:bodyPr lIns="85725" tIns="66675" rIns="85725" bIns="66675">
                      <a:noAutofit/>
                    </a:bodyPr>
                    <a:lstStyle/>
                    <a:p>
                      <a:r>
                        <a:rPr sz="1155" b="0">
                          <a:solidFill>
                            <a:srgbClr val="595959"/>
                          </a:solidFill>
                          <a:latin typeface="Roboto"/>
                          <a:ea typeface="Roboto"/>
                          <a:cs typeface="Roboto"/>
                        </a:rPr>
                        <a:t>Forschungsfrage bleibt offen; keine Zusage der Hardware.</a:t>
                      </a:r>
                    </a:p>
                  </a:txBody>
                  <a:tcPr marL="91440" marR="91440" marT="45720" marB="45720" anchor="ctr">
                    <a:solidFill>
                      <a:srgbClr val="FFFFFF"/>
                    </a:solidFill>
                  </a:tcPr>
                </a:tc>
              </a:tr>
            </a:tbl>
          </a:graphicData>
        </a:graphic>
      </p:graphicFrame>
      <p:sp>
        <p:nvSpPr>
          <p:cNvPr id="5" name="Text">
            <a:extLst xmlns:a="http://schemas.openxmlformats.org/drawingml/2006/main">
              <a:ext uri="{FF2B5EF4-FFF2-40B4-BE49-F238E27FC236}">
                <a16:creationId xmlns:a16="http://schemas.microsoft.com/office/drawing/2014/main" id="{D8DCF2EF-67AA-4D66-890B-AA3828058A5F}"/>
              </a:ext>
            </a:extLst>
          </p:cNvPr>
          <p:cNvSpPr>
            <a:spLocks xmlns:a="http://schemas.openxmlformats.org/drawingml/2006/main" noGrp="1"/>
          </p:cNvSpPr>
          <p:nvPr/>
        </p:nvSpPr>
        <p:spPr>
          <a:xfrm xmlns:a="http://schemas.openxmlformats.org/drawingml/2006/main">
            <a:off x="542925" y="3848100"/>
            <a:ext cx="8096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Die SDK-Funktion tcos ist kein dokumentierter Min/Max- oder Schwellwertoperator.</a:t>
            </a:r>
          </a:p>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Das CPU-Backend verwendet cos(u); die reale optische Kennlinie ist damit nicht kalibriert.</a:t>
            </a:r>
          </a:p>
        </p:txBody>
      </p:sp>
      <p:sp>
        <p:nvSpPr>
          <p:cNvPr id="6" name="Text">
            <a:extLst xmlns:a="http://schemas.openxmlformats.org/drawingml/2006/main">
              <a:ext uri="{FF2B5EF4-FFF2-40B4-BE49-F238E27FC236}">
                <a16:creationId xmlns:a16="http://schemas.microsoft.com/office/drawing/2014/main" id="{6D536207-2402-4608-AD11-3BF1257C51CB}"/>
              </a:ext>
            </a:extLst>
          </p:cNvPr>
          <p:cNvSpPr>
            <a:spLocks xmlns:a="http://schemas.openxmlformats.org/drawingml/2006/main" noGrp="1"/>
          </p:cNvSpPr>
          <p:nvPr/>
        </p:nvSpPr>
        <p:spPr>
          <a:xfrm xmlns:a="http://schemas.openxmlformats.org/drawingml/2006/main">
            <a:off x="542925" y="4486275"/>
            <a:ext cx="811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73">
                <a:solidFill>
                  <a:srgbClr val="595959"/>
                </a:solidFill>
                <a:latin typeface="Roboto"/>
                <a:ea typeface="Roboto"/>
                <a:cs typeface="Roboto"/>
              </a:defRPr>
            </a:pPr>
            <a:r>
              <a:rPr sz="1073">
                <a:solidFill>
                  <a:srgbClr val="595959"/>
                </a:solidFill>
                <a:latin typeface="Roboto"/>
                <a:ea typeface="Roboto"/>
                <a:cs typeface="Roboto"/>
              </a:rPr>
              <a:t>Korrektur: „Native Nichtlinearität“ erlaubt keine pauschale Zuordnung von ReLU zur Optik.</a:t>
            </a:r>
          </a:p>
        </p:txBody>
      </p:sp>
    </p:spTree>
    <p:extLst>
      <p:ext uri="{BB962C8B-B14F-4D97-AF65-F5344CB8AC3E}">
        <p14:creationId xmlns:p14="http://schemas.microsoft.com/office/powerpoint/2010/main" val="5081914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olientitel">
            <a:extLst xmlns:a="http://schemas.openxmlformats.org/drawingml/2006/main">
              <a:ext uri="{FF2B5EF4-FFF2-40B4-BE49-F238E27FC236}">
                <a16:creationId xmlns:a16="http://schemas.microsoft.com/office/drawing/2014/main" id="{A9CE042C-D2F2-4D34-8E00-0E6E8BC983EE}"/>
              </a:ext>
            </a:extLst>
          </p:cNvPr>
          <p:cNvSpPr>
            <a:spLocks xmlns:a="http://schemas.openxmlformats.org/drawingml/2006/main" noGrp="1"/>
          </p:cNvSpPr>
          <p:nvPr/>
        </p:nvSpPr>
        <p:spPr>
          <a:xfrm xmlns:a="http://schemas.openxmlformats.org/drawingml/2006/main">
            <a:off x="400050" y="542925"/>
            <a:ext cx="828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20">
                <a:solidFill>
                  <a:srgbClr val="111111"/>
                </a:solidFill>
                <a:latin typeface="Roboto"/>
                <a:ea typeface="Roboto"/>
                <a:cs typeface="Roboto"/>
              </a:defRPr>
            </a:pPr>
            <a:r>
              <a:rPr sz="1620">
                <a:solidFill>
                  <a:srgbClr val="111111"/>
                </a:solidFill>
                <a:latin typeface="Roboto"/>
                <a:ea typeface="Roboto"/>
                <a:cs typeface="Roboto"/>
              </a:rPr>
              <a:t>Compare-and-Exchange: Mathematik und Ausführungsgrenze</a:t>
            </a:r>
          </a:p>
        </p:txBody>
      </p:sp>
      <p:sp>
        <p:nvSpPr>
          <p:cNvPr id="2" name="Text">
            <a:extLst xmlns:a="http://schemas.openxmlformats.org/drawingml/2006/main">
              <a:ext uri="{FF2B5EF4-FFF2-40B4-BE49-F238E27FC236}">
                <a16:creationId xmlns:a16="http://schemas.microsoft.com/office/drawing/2014/main" id="{2BF9C0BE-6434-4E84-AAF1-02E2149ECC88}"/>
              </a:ext>
            </a:extLst>
          </p:cNvPr>
          <p:cNvSpPr>
            <a:spLocks xmlns:a="http://schemas.openxmlformats.org/drawingml/2006/main" noGrp="1"/>
          </p:cNvSpPr>
          <p:nvPr/>
        </p:nvSpPr>
        <p:spPr>
          <a:xfrm xmlns:a="http://schemas.openxmlformats.org/drawingml/2006/main">
            <a:off x="400050" y="4772025"/>
            <a:ext cx="798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55">
                <a:solidFill>
                  <a:srgbClr val="315D91"/>
                </a:solidFill>
                <a:latin typeface="Roboto"/>
                <a:ea typeface="Roboto"/>
                <a:cs typeface="Roboto"/>
              </a:defRPr>
            </a:pPr>
            <a:r>
              <a:rPr sz="855">
                <a:solidFill>
                  <a:srgbClr val="315D91"/>
                </a:solidFill>
                <a:latin typeface="Roboto"/>
                <a:ea typeface="Roboto"/>
                <a:cs typeface="Roboto"/>
              </a:rPr>
              <a:t>Neue Kontrolle: check_sdk_nonlinearity.py; validation/nonlinearity_check.json</a:t>
            </a:r>
          </a:p>
        </p:txBody>
      </p:sp>
      <p:sp>
        <p:nvSpPr>
          <p:cNvPr id="3" name="Text">
            <a:extLst xmlns:a="http://schemas.openxmlformats.org/drawingml/2006/main">
              <a:ext uri="{FF2B5EF4-FFF2-40B4-BE49-F238E27FC236}">
                <a16:creationId xmlns:a16="http://schemas.microsoft.com/office/drawing/2014/main" id="{9C07E4C3-8995-4DD8-AC06-78DC724C4D98}"/>
              </a:ext>
            </a:extLst>
          </p:cNvPr>
          <p:cNvSpPr>
            <a:spLocks xmlns:a="http://schemas.openxmlformats.org/drawingml/2006/main" noGrp="1"/>
          </p:cNvSpPr>
          <p:nvPr/>
        </p:nvSpPr>
        <p:spPr>
          <a:xfrm xmlns:a="http://schemas.openxmlformats.org/drawingml/2006/main">
            <a:off x="8667750" y="4819650"/>
            <a:ext cx="2286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a:solidFill>
                  <a:srgbClr val="595959"/>
                </a:solidFill>
                <a:latin typeface="Roboto"/>
                <a:ea typeface="Roboto"/>
                <a:cs typeface="Roboto"/>
              </a:defRPr>
            </a:pPr>
            <a:r>
              <a:rPr sz="900">
                <a:solidFill>
                  <a:srgbClr val="595959"/>
                </a:solidFill>
                <a:latin typeface="Roboto"/>
                <a:ea typeface="Roboto"/>
                <a:cs typeface="Roboto"/>
              </a:rPr>
              <a:t>7</a:t>
            </a:r>
          </a:p>
        </p:txBody>
      </p:sp>
      <p:sp>
        <p:nvSpPr>
          <p:cNvPr id="4" name="Text">
            <a:extLst xmlns:a="http://schemas.openxmlformats.org/drawingml/2006/main">
              <a:ext uri="{FF2B5EF4-FFF2-40B4-BE49-F238E27FC236}">
                <a16:creationId xmlns:a16="http://schemas.microsoft.com/office/drawing/2014/main" id="{64D3107B-0BC3-4046-A2FE-A72DCD7A8BB7}"/>
              </a:ext>
            </a:extLst>
          </p:cNvPr>
          <p:cNvSpPr>
            <a:spLocks xmlns:a="http://schemas.openxmlformats.org/drawingml/2006/main" noGrp="1"/>
          </p:cNvSpPr>
          <p:nvPr/>
        </p:nvSpPr>
        <p:spPr>
          <a:xfrm xmlns:a="http://schemas.openxmlformats.org/drawingml/2006/main">
            <a:off x="685800" y="1143000"/>
            <a:ext cx="481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a:solidFill>
                  <a:srgbClr val="111111"/>
                </a:solidFill>
                <a:latin typeface="Roboto"/>
                <a:ea typeface="Roboto"/>
                <a:cs typeface="Roboto"/>
              </a:defRPr>
            </a:pPr>
            <a:r>
              <a:rPr sz="1725">
                <a:solidFill>
                  <a:srgbClr val="111111"/>
                </a:solidFill>
                <a:latin typeface="Roboto"/>
                <a:ea typeface="Roboto"/>
                <a:cs typeface="Roboto"/>
              </a:rPr>
              <a:t>d = a − b</a:t>
            </a:r>
          </a:p>
        </p:txBody>
      </p:sp>
      <p:sp>
        <p:nvSpPr>
          <p:cNvPr id="5" name="Text">
            <a:extLst xmlns:a="http://schemas.openxmlformats.org/drawingml/2006/main">
              <a:ext uri="{FF2B5EF4-FFF2-40B4-BE49-F238E27FC236}">
                <a16:creationId xmlns:a16="http://schemas.microsoft.com/office/drawing/2014/main" id="{70347E1B-6E7B-4C02-A3A6-53764B70953A}"/>
              </a:ext>
            </a:extLst>
          </p:cNvPr>
          <p:cNvSpPr>
            <a:spLocks xmlns:a="http://schemas.openxmlformats.org/drawingml/2006/main" noGrp="1"/>
          </p:cNvSpPr>
          <p:nvPr/>
        </p:nvSpPr>
        <p:spPr>
          <a:xfrm xmlns:a="http://schemas.openxmlformats.org/drawingml/2006/main">
            <a:off x="5629275" y="1171575"/>
            <a:ext cx="3019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a:solidFill>
                  <a:srgbClr val="315D91"/>
                </a:solidFill>
                <a:latin typeface="Roboto"/>
                <a:ea typeface="Roboto"/>
                <a:cs typeface="Roboto"/>
              </a:defRPr>
            </a:pPr>
            <a:r>
              <a:rPr sz="1125">
                <a:solidFill>
                  <a:srgbClr val="315D91"/>
                </a:solidFill>
                <a:latin typeface="Roboto"/>
                <a:ea typeface="Roboto"/>
                <a:cs typeface="Roboto"/>
              </a:rPr>
              <a:t>NPU-Treiberpfad für die MVM</a:t>
            </a:r>
          </a:p>
        </p:txBody>
      </p:sp>
      <p:sp>
        <p:nvSpPr>
          <p:cNvPr id="6" name="Text">
            <a:extLst xmlns:a="http://schemas.openxmlformats.org/drawingml/2006/main">
              <a:ext uri="{FF2B5EF4-FFF2-40B4-BE49-F238E27FC236}">
                <a16:creationId xmlns:a16="http://schemas.microsoft.com/office/drawing/2014/main" id="{3D7CBEE1-A970-4778-BB0A-54A53B34E331}"/>
              </a:ext>
            </a:extLst>
          </p:cNvPr>
          <p:cNvSpPr>
            <a:spLocks xmlns:a="http://schemas.openxmlformats.org/drawingml/2006/main" noGrp="1"/>
          </p:cNvSpPr>
          <p:nvPr/>
        </p:nvSpPr>
        <p:spPr>
          <a:xfrm xmlns:a="http://schemas.openxmlformats.org/drawingml/2006/main">
            <a:off x="685800" y="1628775"/>
            <a:ext cx="4810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a:solidFill>
                  <a:srgbClr val="111111"/>
                </a:solidFill>
                <a:latin typeface="Roboto"/>
                <a:ea typeface="Roboto"/>
                <a:cs typeface="Roboto"/>
              </a:defRPr>
            </a:pPr>
            <a:r>
              <a:rPr sz="1725">
                <a:solidFill>
                  <a:srgbClr val="111111"/>
                </a:solidFill>
                <a:latin typeface="Roboto"/>
                <a:ea typeface="Roboto"/>
                <a:cs typeface="Roboto"/>
              </a:rPr>
              <a:t>r = ReLU(d) = max(0, d)</a:t>
            </a:r>
          </a:p>
        </p:txBody>
      </p:sp>
      <p:sp>
        <p:nvSpPr>
          <p:cNvPr id="7" name="Text">
            <a:extLst xmlns:a="http://schemas.openxmlformats.org/drawingml/2006/main">
              <a:ext uri="{FF2B5EF4-FFF2-40B4-BE49-F238E27FC236}">
                <a16:creationId xmlns:a16="http://schemas.microsoft.com/office/drawing/2014/main" id="{E286875E-4890-4A53-9D79-52DE96435B89}"/>
              </a:ext>
            </a:extLst>
          </p:cNvPr>
          <p:cNvSpPr>
            <a:spLocks xmlns:a="http://schemas.openxmlformats.org/drawingml/2006/main" noGrp="1"/>
          </p:cNvSpPr>
          <p:nvPr/>
        </p:nvSpPr>
        <p:spPr>
          <a:xfrm xmlns:a="http://schemas.openxmlformats.org/drawingml/2006/main">
            <a:off x="5629275" y="1657350"/>
            <a:ext cx="3019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a:solidFill>
                  <a:srgbClr val="595959"/>
                </a:solidFill>
                <a:latin typeface="Roboto"/>
                <a:ea typeface="Roboto"/>
                <a:cs typeface="Roboto"/>
              </a:defRPr>
            </a:pPr>
            <a:r>
              <a:rPr sz="1125">
                <a:solidFill>
                  <a:srgbClr val="595959"/>
                </a:solidFill>
                <a:latin typeface="Roboto"/>
                <a:ea typeface="Roboto"/>
                <a:cs typeface="Roboto"/>
              </a:rPr>
              <a:t>Im geprüften SDK: CPU</a:t>
            </a:r>
          </a:p>
        </p:txBody>
      </p:sp>
      <p:sp>
        <p:nvSpPr>
          <p:cNvPr id="8" name="Text">
            <a:extLst xmlns:a="http://schemas.openxmlformats.org/drawingml/2006/main">
              <a:ext uri="{FF2B5EF4-FFF2-40B4-BE49-F238E27FC236}">
                <a16:creationId xmlns:a16="http://schemas.microsoft.com/office/drawing/2014/main" id="{5AA48C74-F05F-4CB8-B8F4-5D7E3921F8C0}"/>
              </a:ext>
            </a:extLst>
          </p:cNvPr>
          <p:cNvSpPr>
            <a:spLocks xmlns:a="http://schemas.openxmlformats.org/drawingml/2006/main" noGrp="1"/>
          </p:cNvSpPr>
          <p:nvPr/>
        </p:nvSpPr>
        <p:spPr>
          <a:xfrm xmlns:a="http://schemas.openxmlformats.org/drawingml/2006/main">
            <a:off x="685800" y="2114550"/>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a:solidFill>
                  <a:srgbClr val="111111"/>
                </a:solidFill>
                <a:latin typeface="Roboto"/>
                <a:ea typeface="Roboto"/>
                <a:cs typeface="Roboto"/>
              </a:defRPr>
            </a:pPr>
            <a:r>
              <a:rPr sz="1650">
                <a:solidFill>
                  <a:srgbClr val="111111"/>
                </a:solidFill>
                <a:latin typeface="Roboto"/>
                <a:ea typeface="Roboto"/>
                <a:cs typeface="Roboto"/>
              </a:rPr>
              <a:t>min(a, b) = a − r</a:t>
            </a:r>
          </a:p>
        </p:txBody>
      </p:sp>
      <p:sp>
        <p:nvSpPr>
          <p:cNvPr id="9" name="Text">
            <a:extLst xmlns:a="http://schemas.openxmlformats.org/drawingml/2006/main">
              <a:ext uri="{FF2B5EF4-FFF2-40B4-BE49-F238E27FC236}">
                <a16:creationId xmlns:a16="http://schemas.microsoft.com/office/drawing/2014/main" id="{E9794C85-4DF5-4146-8EE1-BF6426B96B6C}"/>
              </a:ext>
            </a:extLst>
          </p:cNvPr>
          <p:cNvSpPr>
            <a:spLocks xmlns:a="http://schemas.openxmlformats.org/drawingml/2006/main" noGrp="1"/>
          </p:cNvSpPr>
          <p:nvPr/>
        </p:nvSpPr>
        <p:spPr>
          <a:xfrm xmlns:a="http://schemas.openxmlformats.org/drawingml/2006/main">
            <a:off x="4857750" y="2114550"/>
            <a:ext cx="3619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a:solidFill>
                  <a:srgbClr val="111111"/>
                </a:solidFill>
                <a:latin typeface="Roboto"/>
                <a:ea typeface="Roboto"/>
                <a:cs typeface="Roboto"/>
              </a:defRPr>
            </a:pPr>
            <a:r>
              <a:rPr sz="1650">
                <a:solidFill>
                  <a:srgbClr val="111111"/>
                </a:solidFill>
                <a:latin typeface="Roboto"/>
                <a:ea typeface="Roboto"/>
                <a:cs typeface="Roboto"/>
              </a:rPr>
              <a:t>max(a, b) = b + r</a:t>
            </a:r>
          </a:p>
        </p:txBody>
      </p:sp>
      <p:sp>
        <p:nvSpPr>
          <p:cNvPr id="10" name="Text">
            <a:extLst xmlns:a="http://schemas.openxmlformats.org/drawingml/2006/main">
              <a:ext uri="{FF2B5EF4-FFF2-40B4-BE49-F238E27FC236}">
                <a16:creationId xmlns:a16="http://schemas.microsoft.com/office/drawing/2014/main" id="{7AD7B28D-BBB5-4907-897D-4C7D555BA4E1}"/>
              </a:ext>
            </a:extLst>
          </p:cNvPr>
          <p:cNvSpPr>
            <a:spLocks xmlns:a="http://schemas.openxmlformats.org/drawingml/2006/main" noGrp="1"/>
          </p:cNvSpPr>
          <p:nvPr/>
        </p:nvSpPr>
        <p:spPr>
          <a:xfrm xmlns:a="http://schemas.openxmlformats.org/drawingml/2006/main">
            <a:off x="685800" y="2667000"/>
            <a:ext cx="77533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Beispiel in Schlüsselwerten: a = 10, b = 9 ⇒ d = r = 1 ⇒ Ausgabe (9, 10).</a:t>
            </a:r>
          </a:p>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Im 8-Bit-Check sind alle Werte zuvor durch 256 normiert.</a:t>
            </a:r>
          </a:p>
        </p:txBody>
      </p:sp>
      <p:sp>
        <p:nvSpPr>
          <p:cNvPr id="11" name="Text">
            <a:extLst xmlns:a="http://schemas.openxmlformats.org/drawingml/2006/main">
              <a:ext uri="{FF2B5EF4-FFF2-40B4-BE49-F238E27FC236}">
                <a16:creationId xmlns:a16="http://schemas.microsoft.com/office/drawing/2014/main" id="{581DCD35-72EB-4958-B8EE-331729D8C57A}"/>
              </a:ext>
            </a:extLst>
          </p:cNvPr>
          <p:cNvSpPr>
            <a:spLocks xmlns:a="http://schemas.openxmlformats.org/drawingml/2006/main" noGrp="1"/>
          </p:cNvSpPr>
          <p:nvPr/>
        </p:nvSpPr>
        <p:spPr>
          <a:xfrm xmlns:a="http://schemas.openxmlformats.org/drawingml/2006/main">
            <a:off x="542925" y="3371850"/>
            <a:ext cx="81153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CPU-Prüfung: 256 / 65.536 geordnete Paare bei 4 / 8 Bit, alle Min/Max-Werte korrekt.</a:t>
            </a:r>
          </a:p>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Diese neue Kontrolle enthält weder Zusatzrauschen noch einen optischen ReLU-Aufruf.</a:t>
            </a:r>
          </a:p>
        </p:txBody>
      </p:sp>
      <p:sp>
        <p:nvSpPr>
          <p:cNvPr id="12" name="Text">
            <a:extLst xmlns:a="http://schemas.openxmlformats.org/drawingml/2006/main">
              <a:ext uri="{FF2B5EF4-FFF2-40B4-BE49-F238E27FC236}">
                <a16:creationId xmlns:a16="http://schemas.microsoft.com/office/drawing/2014/main" id="{D0AC946A-9A58-4770-9282-E7E7ED8A0382}"/>
              </a:ext>
            </a:extLst>
          </p:cNvPr>
          <p:cNvSpPr>
            <a:spLocks xmlns:a="http://schemas.openxmlformats.org/drawingml/2006/main" noGrp="1"/>
          </p:cNvSpPr>
          <p:nvPr/>
        </p:nvSpPr>
        <p:spPr>
          <a:xfrm xmlns:a="http://schemas.openxmlformats.org/drawingml/2006/main">
            <a:off x="542925" y="4114800"/>
            <a:ext cx="811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Grenze: Der bisherige Quantisierer sättigt große Differenzen. Seine Vorzeichen reichen</a:t>
            </a:r>
          </a:p>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zum Tauschen der Originalschlüssel, aber nicht zur obigen Min/Max-Rekonstruktion.</a:t>
            </a:r>
          </a:p>
        </p:txBody>
      </p:sp>
    </p:spTree>
    <p:extLst>
      <p:ext uri="{BB962C8B-B14F-4D97-AF65-F5344CB8AC3E}">
        <p14:creationId xmlns:p14="http://schemas.microsoft.com/office/powerpoint/2010/main" val="159705987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Folientitel">
            <a:extLst xmlns:a="http://schemas.openxmlformats.org/drawingml/2006/main">
              <a:ext uri="{FF2B5EF4-FFF2-40B4-BE49-F238E27FC236}">
                <a16:creationId xmlns:a16="http://schemas.microsoft.com/office/drawing/2014/main" id="{225B432A-D39C-4AF8-9422-6E5A07984106}"/>
              </a:ext>
            </a:extLst>
          </p:cNvPr>
          <p:cNvSpPr>
            <a:spLocks xmlns:a="http://schemas.openxmlformats.org/drawingml/2006/main" noGrp="1"/>
          </p:cNvSpPr>
          <p:nvPr/>
        </p:nvSpPr>
        <p:spPr>
          <a:xfrm xmlns:a="http://schemas.openxmlformats.org/drawingml/2006/main">
            <a:off x="400050" y="542925"/>
            <a:ext cx="828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20">
                <a:solidFill>
                  <a:srgbClr val="111111"/>
                </a:solidFill>
                <a:latin typeface="Roboto"/>
                <a:ea typeface="Roboto"/>
                <a:cs typeface="Roboto"/>
              </a:defRPr>
            </a:pPr>
            <a:r>
              <a:rPr sz="1620">
                <a:solidFill>
                  <a:srgbClr val="111111"/>
                </a:solidFill>
                <a:latin typeface="Roboto"/>
                <a:ea typeface="Roboto"/>
                <a:cs typeface="Roboto"/>
              </a:rPr>
              <a:t>Versuchsplan und bisherige Validierung</a:t>
            </a:r>
          </a:p>
        </p:txBody>
      </p:sp>
      <p:sp>
        <p:nvSpPr>
          <p:cNvPr id="2" name="Text">
            <a:extLst xmlns:a="http://schemas.openxmlformats.org/drawingml/2006/main">
              <a:ext uri="{FF2B5EF4-FFF2-40B4-BE49-F238E27FC236}">
                <a16:creationId xmlns:a16="http://schemas.microsoft.com/office/drawing/2014/main" id="{83E07197-1452-46E5-BB97-BB267DE5ABDC}"/>
              </a:ext>
            </a:extLst>
          </p:cNvPr>
          <p:cNvSpPr>
            <a:spLocks xmlns:a="http://schemas.openxmlformats.org/drawingml/2006/main" noGrp="1"/>
          </p:cNvSpPr>
          <p:nvPr/>
        </p:nvSpPr>
        <p:spPr>
          <a:xfrm xmlns:a="http://schemas.openxmlformats.org/drawingml/2006/main">
            <a:off x="400050" y="4772025"/>
            <a:ext cx="798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55">
                <a:solidFill>
                  <a:srgbClr val="315D91"/>
                </a:solidFill>
                <a:latin typeface="Roboto"/>
                <a:ea typeface="Roboto"/>
                <a:cs typeface="Roboto"/>
              </a:defRPr>
            </a:pPr>
            <a:r>
              <a:rPr sz="855">
                <a:solidFill>
                  <a:srgbClr val="315D91"/>
                </a:solidFill>
                <a:latin typeface="Roboto"/>
                <a:ea typeface="Roboto"/>
                <a:cs typeface="Roboto"/>
              </a:rPr>
              <a:t>Projekt: data/inputs.npz; results/reference/; results/sdk_reference/; validation/current_checks.json</a:t>
            </a:r>
          </a:p>
        </p:txBody>
      </p:sp>
      <p:sp>
        <p:nvSpPr>
          <p:cNvPr id="3" name="Text">
            <a:extLst xmlns:a="http://schemas.openxmlformats.org/drawingml/2006/main">
              <a:ext uri="{FF2B5EF4-FFF2-40B4-BE49-F238E27FC236}">
                <a16:creationId xmlns:a16="http://schemas.microsoft.com/office/drawing/2014/main" id="{F92825B7-7EF4-45FA-9A08-F61B5386EC70}"/>
              </a:ext>
            </a:extLst>
          </p:cNvPr>
          <p:cNvSpPr>
            <a:spLocks xmlns:a="http://schemas.openxmlformats.org/drawingml/2006/main" noGrp="1"/>
          </p:cNvSpPr>
          <p:nvPr/>
        </p:nvSpPr>
        <p:spPr>
          <a:xfrm xmlns:a="http://schemas.openxmlformats.org/drawingml/2006/main">
            <a:off x="8667750" y="4819650"/>
            <a:ext cx="2286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a:solidFill>
                  <a:srgbClr val="595959"/>
                </a:solidFill>
                <a:latin typeface="Roboto"/>
                <a:ea typeface="Roboto"/>
                <a:cs typeface="Roboto"/>
              </a:defRPr>
            </a:pPr>
            <a:r>
              <a:rPr sz="900">
                <a:solidFill>
                  <a:srgbClr val="595959"/>
                </a:solidFill>
                <a:latin typeface="Roboto"/>
                <a:ea typeface="Roboto"/>
                <a:cs typeface="Roboto"/>
              </a:rPr>
              <a:t>8</a:t>
            </a:r>
          </a:p>
        </p:txBody>
      </p:sp>
      <p:sp>
        <p:nvSpPr>
          <p:cNvPr id="4" name="Text">
            <a:extLst xmlns:a="http://schemas.openxmlformats.org/drawingml/2006/main">
              <a:ext uri="{FF2B5EF4-FFF2-40B4-BE49-F238E27FC236}">
                <a16:creationId xmlns:a16="http://schemas.microsoft.com/office/drawing/2014/main" id="{55AC839E-3A11-42F9-90A0-4693392D6ADC}"/>
              </a:ext>
            </a:extLst>
          </p:cNvPr>
          <p:cNvSpPr>
            <a:spLocks xmlns:a="http://schemas.openxmlformats.org/drawingml/2006/main" noGrp="1"/>
          </p:cNvSpPr>
          <p:nvPr/>
        </p:nvSpPr>
        <p:spPr>
          <a:xfrm xmlns:a="http://schemas.openxmlformats.org/drawingml/2006/main">
            <a:off x="542925" y="1123950"/>
            <a:ext cx="81343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15900" indent="-139700" algn="l">
              <a:spcAft>
                <a:spcPts val="1000"/>
              </a:spcAft>
              <a:buChar char="➔"/>
              <a:defRPr sz="1200">
                <a:solidFill>
                  <a:srgbClr val="595959"/>
                </a:solidFill>
                <a:latin typeface="Roboto"/>
                <a:ea typeface="Roboto"/>
                <a:cs typeface="Roboto"/>
              </a:defRPr>
            </a:pPr>
            <a:r>
              <a:t>4 Bit: Schlüssel 0–15; N = 2, 4, 8, 16. 8 Bit: Schlüssel 0–255; N = 2, 4, …, 256.</a:t>
            </a:r>
          </a:p>
          <a:p xmlns:a="http://schemas.openxmlformats.org/drawingml/2006/main">
            <a:pPr marL="215900" indent="-139700" algn="l">
              <a:spcAft>
                <a:spcPts val="1000"/>
              </a:spcAft>
              <a:buChar char="➔"/>
              <a:defRPr sz="1200">
                <a:solidFill>
                  <a:srgbClr val="595959"/>
                </a:solidFill>
                <a:latin typeface="Roboto"/>
                <a:ea typeface="Roboto"/>
                <a:cs typeface="Roboto"/>
              </a:defRPr>
            </a:pPr>
            <a:r>
              <a:t>Je 1.000 gespeicherte Arrays pro Größe und Familie: verschiedene Schlüssel oder Duplikate erlaubt.</a:t>
            </a:r>
          </a:p>
          <a:p xmlns:a="http://schemas.openxmlformats.org/drawingml/2006/main">
            <a:pPr marL="215900" indent="-139700" algn="l">
              <a:spcAft>
                <a:spcPts val="1000"/>
              </a:spcAft>
              <a:buChar char="➔"/>
              <a:defRPr sz="1200">
                <a:solidFill>
                  <a:srgbClr val="595959"/>
                </a:solidFill>
                <a:latin typeface="Roboto"/>
                <a:ea typeface="Roboto"/>
                <a:cs typeface="Roboto"/>
              </a:defRPr>
            </a:pPr>
            <a:r>
              <a:t>Identische Eingaben für beide Mappings; η = 0; 0,05; 0,10; 0,15; 0,20; 0,25.</a:t>
            </a:r>
          </a:p>
        </p:txBody>
      </p:sp>
      <p:graphicFrame>
        <p:nvGraphicFramePr>
          <p:cNvPr id="11" name=""/>
          <p:cNvGraphicFramePr/>
          <p:nvPr/>
        </p:nvGraphicFramePr>
        <p:xfrm>
          <a:off xmlns:a="http://schemas.openxmlformats.org/drawingml/2006/main" x="542925" y="2638425"/>
          <a:ext xmlns:a="http://schemas.openxmlformats.org/drawingml/2006/main" cx="8058150" cy="1752600"/>
        </p:xfrm>
        <a:graphic xmlns:a="http://schemas.openxmlformats.org/drawingml/2006/main">
          <a:graphicData uri="http://schemas.openxmlformats.org/drawingml/2006/table">
            <a:tbl>
              <a:tblPr firstRow="1" bandRow="0"/>
              <a:tblGrid>
                <a:gridCol w="2686050"/>
                <a:gridCol w="5372100"/>
              </a:tblGrid>
              <a:tr h="350520">
                <a:tc>
                  <a:txBody>
                    <a:bodyPr lIns="85725" tIns="66675" rIns="85725" bIns="66675">
                      <a:noAutofit/>
                    </a:bodyPr>
                    <a:lstStyle/>
                    <a:p>
                      <a:r>
                        <a:rPr sz="1140" b="1">
                          <a:solidFill>
                            <a:srgbClr val="111111"/>
                          </a:solidFill>
                          <a:latin typeface="Roboto"/>
                          <a:ea typeface="Roboto"/>
                          <a:cs typeface="Roboto"/>
                        </a:rPr>
                        <a:t>Prüfung</a:t>
                      </a:r>
                    </a:p>
                  </a:txBody>
                  <a:tcPr marL="91440" marR="91440" marT="45720" marB="45720" anchor="ctr">
                    <a:solidFill>
                      <a:srgbClr val="F1F1F1"/>
                    </a:solidFill>
                  </a:tcPr>
                </a:tc>
                <a:tc>
                  <a:txBody>
                    <a:bodyPr lIns="85725" tIns="66675" rIns="85725" bIns="66675">
                      <a:noAutofit/>
                    </a:bodyPr>
                    <a:lstStyle/>
                    <a:p>
                      <a:r>
                        <a:rPr sz="1140" b="1">
                          <a:solidFill>
                            <a:srgbClr val="111111"/>
                          </a:solidFill>
                          <a:latin typeface="Roboto"/>
                          <a:ea typeface="Roboto"/>
                          <a:cs typeface="Roboto"/>
                        </a:rPr>
                        <a:t>Nachgewiesener Stand</a:t>
                      </a:r>
                    </a:p>
                  </a:txBody>
                  <a:tcPr marL="91440" marR="91440" marT="45720" marB="45720" anchor="ctr">
                    <a:solidFill>
                      <a:srgbClr val="F1F1F1"/>
                    </a:solidFill>
                  </a:tcPr>
                </a:tc>
              </a:tr>
              <a:tr h="350520">
                <a:tc>
                  <a:txBody>
                    <a:bodyPr lIns="85725" tIns="66675" rIns="85725" bIns="66675">
                      <a:noAutofit/>
                    </a:bodyPr>
                    <a:lstStyle/>
                    <a:p>
                      <a:r>
                        <a:rPr sz="1140" b="0">
                          <a:solidFill>
                            <a:srgbClr val="595959"/>
                          </a:solidFill>
                          <a:latin typeface="Roboto"/>
                          <a:ea typeface="Roboto"/>
                          <a:cs typeface="Roboto"/>
                        </a:rPr>
                        <a:t>Quellen und ideale Mathematik</a:t>
                      </a:r>
                    </a:p>
                  </a:txBody>
                  <a:tcPr marL="91440" marR="91440" marT="45720" marB="45720" anchor="ctr">
                    <a:solidFill>
                      <a:srgbClr val="FFFFFF"/>
                    </a:solidFill>
                  </a:tcPr>
                </a:tc>
                <a:tc>
                  <a:txBody>
                    <a:bodyPr lIns="85725" tIns="66675" rIns="85725" bIns="66675">
                      <a:noAutofit/>
                    </a:bodyPr>
                    <a:lstStyle/>
                    <a:p>
                      <a:r>
                        <a:rPr sz="1140" b="0">
                          <a:solidFill>
                            <a:srgbClr val="595959"/>
                          </a:solidFill>
                          <a:latin typeface="Roboto"/>
                          <a:ea typeface="Roboto"/>
                          <a:cs typeface="Roboto"/>
                        </a:rPr>
                        <a:t>Bitonic-Stufen und Vergleichszahlen; Louris Rangbeispiel reproduziert.</a:t>
                      </a:r>
                    </a:p>
                  </a:txBody>
                  <a:tcPr marL="91440" marR="91440" marT="45720" marB="45720" anchor="ctr">
                    <a:solidFill>
                      <a:srgbClr val="FFFFFF"/>
                    </a:solidFill>
                  </a:tcPr>
                </a:tc>
              </a:tr>
              <a:tr h="350520">
                <a:tc>
                  <a:txBody>
                    <a:bodyPr lIns="85725" tIns="66675" rIns="85725" bIns="66675">
                      <a:noAutofit/>
                    </a:bodyPr>
                    <a:lstStyle/>
                    <a:p>
                      <a:r>
                        <a:rPr sz="1140" b="0">
                          <a:solidFill>
                            <a:srgbClr val="595959"/>
                          </a:solidFill>
                          <a:latin typeface="Roboto"/>
                          <a:ea typeface="Roboto"/>
                          <a:cs typeface="Roboto"/>
                        </a:rPr>
                        <a:t>Vorzeichen ohne Rauschen</a:t>
                      </a:r>
                    </a:p>
                  </a:txBody>
                  <a:tcPr marL="91440" marR="91440" marT="45720" marB="45720" anchor="ctr">
                    <a:solidFill>
                      <a:srgbClr val="FFFFFF"/>
                    </a:solidFill>
                  </a:tcPr>
                </a:tc>
                <a:tc>
                  <a:txBody>
                    <a:bodyPr lIns="85725" tIns="66675" rIns="85725" bIns="66675">
                      <a:noAutofit/>
                    </a:bodyPr>
                    <a:lstStyle/>
                    <a:p>
                      <a:r>
                        <a:rPr sz="1140" b="0">
                          <a:solidFill>
                            <a:srgbClr val="595959"/>
                          </a:solidFill>
                          <a:latin typeface="Roboto"/>
                          <a:ea typeface="Roboto"/>
                          <a:cs typeface="Roboto"/>
                        </a:rPr>
                        <a:t>Alle geordneten Schlüsselpaare bei 4 und 8 Bit korrekt verglichen.</a:t>
                      </a:r>
                    </a:p>
                  </a:txBody>
                  <a:tcPr marL="91440" marR="91440" marT="45720" marB="45720" anchor="ctr">
                    <a:solidFill>
                      <a:srgbClr val="FFFFFF"/>
                    </a:solidFill>
                  </a:tcPr>
                </a:tc>
              </a:tr>
              <a:tr h="350520">
                <a:tc>
                  <a:txBody>
                    <a:bodyPr lIns="85725" tIns="66675" rIns="85725" bIns="66675">
                      <a:noAutofit/>
                    </a:bodyPr>
                    <a:lstStyle/>
                    <a:p>
                      <a:r>
                        <a:rPr sz="1140" b="0">
                          <a:solidFill>
                            <a:srgbClr val="595959"/>
                          </a:solidFill>
                          <a:latin typeface="Roboto"/>
                          <a:ea typeface="Roboto"/>
                          <a:cs typeface="Roboto"/>
                        </a:rPr>
                        <a:t>Reproduzierbarkeit der Simulation</a:t>
                      </a:r>
                    </a:p>
                  </a:txBody>
                  <a:tcPr marL="91440" marR="91440" marT="45720" marB="45720" anchor="ctr">
                    <a:solidFill>
                      <a:srgbClr val="FFFFFF"/>
                    </a:solidFill>
                  </a:tcPr>
                </a:tc>
                <a:tc>
                  <a:txBody>
                    <a:bodyPr lIns="85725" tIns="66675" rIns="85725" bIns="66675">
                      <a:noAutofit/>
                    </a:bodyPr>
                    <a:lstStyle/>
                    <a:p>
                      <a:r>
                        <a:rPr sz="1140" b="0">
                          <a:solidFill>
                            <a:srgbClr val="595959"/>
                          </a:solidFill>
                          <a:latin typeface="Roboto"/>
                          <a:ea typeface="Roboto"/>
                          <a:cs typeface="Roboto"/>
                        </a:rPr>
                        <a:t>288 Konfigurationen, 288.000 Sortierläufe identisch reproduziert.</a:t>
                      </a:r>
                    </a:p>
                  </a:txBody>
                  <a:tcPr marL="91440" marR="91440" marT="45720" marB="45720" anchor="ctr">
                    <a:solidFill>
                      <a:srgbClr val="FFFFFF"/>
                    </a:solidFill>
                  </a:tcPr>
                </a:tc>
              </a:tr>
              <a:tr h="350520">
                <a:tc>
                  <a:txBody>
                    <a:bodyPr lIns="85725" tIns="66675" rIns="85725" bIns="66675">
                      <a:noAutofit/>
                    </a:bodyPr>
                    <a:lstStyle/>
                    <a:p>
                      <a:r>
                        <a:rPr sz="1140" b="0">
                          <a:solidFill>
                            <a:srgbClr val="595959"/>
                          </a:solidFill>
                          <a:latin typeface="Roboto"/>
                          <a:ea typeface="Roboto"/>
                          <a:cs typeface="Roboto"/>
                        </a:rPr>
                        <a:t>Offizielles Q.ANT-SDK, CPU-Backend</a:t>
                      </a:r>
                    </a:p>
                  </a:txBody>
                  <a:tcPr marL="91440" marR="91440" marT="45720" marB="45720" anchor="ctr">
                    <a:solidFill>
                      <a:srgbClr val="FFFFFF"/>
                    </a:solidFill>
                  </a:tcPr>
                </a:tc>
                <a:tc>
                  <a:txBody>
                    <a:bodyPr lIns="85725" tIns="66675" rIns="85725" bIns="66675">
                      <a:noAutofit/>
                    </a:bodyPr>
                    <a:lstStyle/>
                    <a:p>
                      <a:r>
                        <a:rPr sz="1140" b="0">
                          <a:solidFill>
                            <a:srgbClr val="595959"/>
                          </a:solidFill>
                          <a:latin typeface="Roboto"/>
                          <a:ea typeface="Roboto"/>
                          <a:cs typeface="Roboto"/>
                        </a:rPr>
                        <a:t>48.000 Sortierungen ohne Zusatzrauschen korrekt; kein Hardwaretest.</a:t>
                      </a:r>
                    </a:p>
                  </a:txBody>
                  <a:tcPr marL="91440" marR="91440" marT="45720" marB="45720" anchor="ctr">
                    <a:solidFill>
                      <a:srgbClr val="FFFFFF"/>
                    </a:solidFill>
                  </a:tcPr>
                </a:tc>
              </a:tr>
            </a:tbl>
          </a:graphicData>
        </a:graphic>
      </p:graphicFrame>
      <p:sp>
        <p:nvSpPr>
          <p:cNvPr id="6" name="Text">
            <a:extLst xmlns:a="http://schemas.openxmlformats.org/drawingml/2006/main">
              <a:ext uri="{FF2B5EF4-FFF2-40B4-BE49-F238E27FC236}">
                <a16:creationId xmlns:a16="http://schemas.microsoft.com/office/drawing/2014/main" id="{E11247DF-AEBC-4B47-8E75-EAC691CC5535}"/>
              </a:ext>
            </a:extLst>
          </p:cNvPr>
          <p:cNvSpPr>
            <a:spLocks xmlns:a="http://schemas.openxmlformats.org/drawingml/2006/main" noGrp="1"/>
          </p:cNvSpPr>
          <p:nvPr/>
        </p:nvSpPr>
        <p:spPr>
          <a:xfrm xmlns:a="http://schemas.openxmlformats.org/drawingml/2006/main">
            <a:off x="542925" y="4524375"/>
            <a:ext cx="8105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80">
                <a:solidFill>
                  <a:srgbClr val="595959"/>
                </a:solidFill>
                <a:latin typeface="Roboto"/>
                <a:ea typeface="Roboto"/>
                <a:cs typeface="Roboto"/>
              </a:defRPr>
            </a:pPr>
            <a:r>
              <a:rPr sz="1080">
                <a:solidFill>
                  <a:srgbClr val="595959"/>
                </a:solidFill>
                <a:latin typeface="Roboto"/>
                <a:ea typeface="Roboto"/>
                <a:cs typeface="Roboto"/>
              </a:rPr>
              <a:t>Erfolg = gesamtes Array korrekt sortiert und alle Datensätze erhalten; Stabilität separat erfasst.</a:t>
            </a:r>
          </a:p>
        </p:txBody>
      </p:sp>
    </p:spTree>
    <p:extLst>
      <p:ext uri="{BB962C8B-B14F-4D97-AF65-F5344CB8AC3E}">
        <p14:creationId xmlns:p14="http://schemas.microsoft.com/office/powerpoint/2010/main" val="713754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Folientitel">
            <a:extLst xmlns:a="http://schemas.openxmlformats.org/drawingml/2006/main">
              <a:ext uri="{FF2B5EF4-FFF2-40B4-BE49-F238E27FC236}">
                <a16:creationId xmlns:a16="http://schemas.microsoft.com/office/drawing/2014/main" id="{0C926617-9D9B-445F-975F-AA8558EB2D1E}"/>
              </a:ext>
            </a:extLst>
          </p:cNvPr>
          <p:cNvSpPr>
            <a:spLocks xmlns:a="http://schemas.openxmlformats.org/drawingml/2006/main" noGrp="1"/>
          </p:cNvSpPr>
          <p:nvPr/>
        </p:nvSpPr>
        <p:spPr>
          <a:xfrm xmlns:a="http://schemas.openxmlformats.org/drawingml/2006/main">
            <a:off x="400050" y="542925"/>
            <a:ext cx="828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20">
                <a:solidFill>
                  <a:srgbClr val="111111"/>
                </a:solidFill>
                <a:latin typeface="Roboto"/>
                <a:ea typeface="Roboto"/>
                <a:cs typeface="Roboto"/>
              </a:defRPr>
            </a:pPr>
            <a:r>
              <a:rPr sz="1620">
                <a:solidFill>
                  <a:srgbClr val="111111"/>
                </a:solidFill>
                <a:latin typeface="Roboto"/>
                <a:ea typeface="Roboto"/>
                <a:cs typeface="Roboto"/>
              </a:rPr>
              <a:t>Ergebnisse: Anteil vollständig korrekter Sortierungen</a:t>
            </a:r>
          </a:p>
        </p:txBody>
      </p:sp>
      <p:sp>
        <p:nvSpPr>
          <p:cNvPr id="2" name="Text">
            <a:extLst xmlns:a="http://schemas.openxmlformats.org/drawingml/2006/main">
              <a:ext uri="{FF2B5EF4-FFF2-40B4-BE49-F238E27FC236}">
                <a16:creationId xmlns:a16="http://schemas.microsoft.com/office/drawing/2014/main" id="{9462AB79-DB40-4186-9DEB-ED2DAE616D6A}"/>
              </a:ext>
            </a:extLst>
          </p:cNvPr>
          <p:cNvSpPr>
            <a:spLocks xmlns:a="http://schemas.openxmlformats.org/drawingml/2006/main" noGrp="1"/>
          </p:cNvSpPr>
          <p:nvPr/>
        </p:nvSpPr>
        <p:spPr>
          <a:xfrm xmlns:a="http://schemas.openxmlformats.org/drawingml/2006/main">
            <a:off x="400050" y="4772025"/>
            <a:ext cx="798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55">
                <a:solidFill>
                  <a:srgbClr val="315D91"/>
                </a:solidFill>
                <a:latin typeface="Roboto"/>
                <a:ea typeface="Roboto"/>
                <a:cs typeface="Roboto"/>
              </a:defRPr>
            </a:pPr>
            <a:r>
              <a:rPr sz="855">
                <a:solidFill>
                  <a:srgbClr val="315D91"/>
                </a:solidFill>
                <a:latin typeface="Roboto"/>
                <a:ea typeface="Roboto"/>
                <a:cs typeface="Roboto"/>
              </a:rPr>
              <a:t>Quelle: results/reference/accuracy.csv — jeweils 1.000 Versuche pro Konfiguration</a:t>
            </a:r>
          </a:p>
        </p:txBody>
      </p:sp>
      <p:sp>
        <p:nvSpPr>
          <p:cNvPr id="3" name="Text">
            <a:extLst xmlns:a="http://schemas.openxmlformats.org/drawingml/2006/main">
              <a:ext uri="{FF2B5EF4-FFF2-40B4-BE49-F238E27FC236}">
                <a16:creationId xmlns:a16="http://schemas.microsoft.com/office/drawing/2014/main" id="{446FE876-4976-4049-88EA-1A749DE8FAEB}"/>
              </a:ext>
            </a:extLst>
          </p:cNvPr>
          <p:cNvSpPr>
            <a:spLocks xmlns:a="http://schemas.openxmlformats.org/drawingml/2006/main" noGrp="1"/>
          </p:cNvSpPr>
          <p:nvPr/>
        </p:nvSpPr>
        <p:spPr>
          <a:xfrm xmlns:a="http://schemas.openxmlformats.org/drawingml/2006/main">
            <a:off x="8667750" y="4819650"/>
            <a:ext cx="2286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a:solidFill>
                  <a:srgbClr val="595959"/>
                </a:solidFill>
                <a:latin typeface="Roboto"/>
                <a:ea typeface="Roboto"/>
                <a:cs typeface="Roboto"/>
              </a:defRPr>
            </a:pPr>
            <a:r>
              <a:rPr sz="900">
                <a:solidFill>
                  <a:srgbClr val="595959"/>
                </a:solidFill>
                <a:latin typeface="Roboto"/>
                <a:ea typeface="Roboto"/>
                <a:cs typeface="Roboto"/>
              </a:rPr>
              <a:t>9</a:t>
            </a:r>
          </a:p>
        </p:txBody>
      </p:sp>
      <p:sp>
        <p:nvSpPr>
          <p:cNvPr id="4" name="Text">
            <a:extLst xmlns:a="http://schemas.openxmlformats.org/drawingml/2006/main">
              <a:ext uri="{FF2B5EF4-FFF2-40B4-BE49-F238E27FC236}">
                <a16:creationId xmlns:a16="http://schemas.microsoft.com/office/drawing/2014/main" id="{96DC63F0-C0F9-46E1-B4CB-481C492EA657}"/>
              </a:ext>
            </a:extLst>
          </p:cNvPr>
          <p:cNvSpPr>
            <a:spLocks xmlns:a="http://schemas.openxmlformats.org/drawingml/2006/main" noGrp="1"/>
          </p:cNvSpPr>
          <p:nvPr/>
        </p:nvSpPr>
        <p:spPr>
          <a:xfrm xmlns:a="http://schemas.openxmlformats.org/drawingml/2006/main">
            <a:off x="542925" y="1114425"/>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Zellen: Bitonic / Rang in Prozent. Gezeigt wird jeweils das größte getestete N.</a:t>
            </a:r>
          </a:p>
        </p:txBody>
      </p:sp>
      <p:graphicFrame>
        <p:nvGraphicFramePr>
          <p:cNvPr id="11" name=""/>
          <p:cNvGraphicFramePr/>
          <p:nvPr/>
        </p:nvGraphicFramePr>
        <p:xfrm>
          <a:off xmlns:a="http://schemas.openxmlformats.org/drawingml/2006/main" x="400050" y="1543050"/>
          <a:ext xmlns:a="http://schemas.openxmlformats.org/drawingml/2006/main" cx="8343900" cy="2181225"/>
        </p:xfrm>
        <a:graphic xmlns:a="http://schemas.openxmlformats.org/drawingml/2006/main">
          <a:graphicData uri="http://schemas.openxmlformats.org/drawingml/2006/table">
            <a:tbl>
              <a:tblPr firstRow="1" bandRow="0"/>
              <a:tblGrid>
                <a:gridCol w="2533650"/>
                <a:gridCol w="1809750"/>
                <a:gridCol w="1333500"/>
                <a:gridCol w="1333500"/>
                <a:gridCol w="1333500"/>
              </a:tblGrid>
              <a:tr h="436245">
                <a:tc>
                  <a:txBody>
                    <a:bodyPr lIns="85725" tIns="66675" rIns="85725" bIns="66675">
                      <a:noAutofit/>
                    </a:bodyPr>
                    <a:lstStyle/>
                    <a:p>
                      <a:r>
                        <a:rPr sz="1163" b="1">
                          <a:solidFill>
                            <a:srgbClr val="111111"/>
                          </a:solidFill>
                          <a:latin typeface="Roboto"/>
                          <a:ea typeface="Roboto"/>
                          <a:cs typeface="Roboto"/>
                        </a:rPr>
                        <a:t>Eingabe</a:t>
                      </a:r>
                    </a:p>
                  </a:txBody>
                  <a:tcPr marL="91440" marR="91440" marT="45720" marB="45720" anchor="ctr">
                    <a:solidFill>
                      <a:srgbClr val="F1F1F1"/>
                    </a:solidFill>
                  </a:tcPr>
                </a:tc>
                <a:tc>
                  <a:txBody>
                    <a:bodyPr lIns="85725" tIns="66675" rIns="85725" bIns="66675">
                      <a:noAutofit/>
                    </a:bodyPr>
                    <a:lstStyle/>
                    <a:p>
                      <a:r>
                        <a:rPr sz="1163" b="1">
                          <a:solidFill>
                            <a:srgbClr val="111111"/>
                          </a:solidFill>
                          <a:latin typeface="Roboto"/>
                          <a:ea typeface="Roboto"/>
                          <a:cs typeface="Roboto"/>
                        </a:rPr>
                        <a:t>η = 0 / 0,05 / 0,10</a:t>
                      </a:r>
                    </a:p>
                    <a:p>
                      <a:r>
                        <a:rPr sz="1163" b="1">
                          <a:solidFill>
                            <a:srgbClr val="111111"/>
                          </a:solidFill>
                          <a:latin typeface="Roboto"/>
                          <a:ea typeface="Roboto"/>
                          <a:cs typeface="Roboto"/>
                        </a:rPr>
                        <a:t>jeweils</a:t>
                      </a:r>
                    </a:p>
                  </a:txBody>
                  <a:tcPr marL="91440" marR="91440" marT="45720" marB="45720" anchor="ctr">
                    <a:solidFill>
                      <a:srgbClr val="F1F1F1"/>
                    </a:solidFill>
                  </a:tcPr>
                </a:tc>
                <a:tc>
                  <a:txBody>
                    <a:bodyPr lIns="85725" tIns="66675" rIns="85725" bIns="66675">
                      <a:noAutofit/>
                    </a:bodyPr>
                    <a:lstStyle/>
                    <a:p>
                      <a:r>
                        <a:rPr sz="1163" b="1">
                          <a:solidFill>
                            <a:srgbClr val="111111"/>
                          </a:solidFill>
                          <a:latin typeface="Roboto"/>
                          <a:ea typeface="Roboto"/>
                          <a:cs typeface="Roboto"/>
                        </a:rPr>
                        <a:t>η = 0,15</a:t>
                      </a:r>
                    </a:p>
                  </a:txBody>
                  <a:tcPr marL="91440" marR="91440" marT="45720" marB="45720" anchor="ctr">
                    <a:solidFill>
                      <a:srgbClr val="F1F1F1"/>
                    </a:solidFill>
                  </a:tcPr>
                </a:tc>
                <a:tc>
                  <a:txBody>
                    <a:bodyPr lIns="85725" tIns="66675" rIns="85725" bIns="66675">
                      <a:noAutofit/>
                    </a:bodyPr>
                    <a:lstStyle/>
                    <a:p>
                      <a:r>
                        <a:rPr sz="1163" b="1">
                          <a:solidFill>
                            <a:srgbClr val="111111"/>
                          </a:solidFill>
                          <a:latin typeface="Roboto"/>
                          <a:ea typeface="Roboto"/>
                          <a:cs typeface="Roboto"/>
                        </a:rPr>
                        <a:t>η = 0,20</a:t>
                      </a:r>
                    </a:p>
                  </a:txBody>
                  <a:tcPr marL="91440" marR="91440" marT="45720" marB="45720" anchor="ctr">
                    <a:solidFill>
                      <a:srgbClr val="F1F1F1"/>
                    </a:solidFill>
                  </a:tcPr>
                </a:tc>
                <a:tc>
                  <a:txBody>
                    <a:bodyPr lIns="85725" tIns="66675" rIns="85725" bIns="66675">
                      <a:noAutofit/>
                    </a:bodyPr>
                    <a:lstStyle/>
                    <a:p>
                      <a:r>
                        <a:rPr sz="1163" b="1">
                          <a:solidFill>
                            <a:srgbClr val="111111"/>
                          </a:solidFill>
                          <a:latin typeface="Roboto"/>
                          <a:ea typeface="Roboto"/>
                          <a:cs typeface="Roboto"/>
                        </a:rPr>
                        <a:t>η = 0,25</a:t>
                      </a:r>
                    </a:p>
                  </a:txBody>
                  <a:tcPr marL="91440" marR="91440" marT="45720" marB="45720" anchor="ctr">
                    <a:solidFill>
                      <a:srgbClr val="F1F1F1"/>
                    </a:solidFill>
                  </a:tcPr>
                </a:tc>
              </a:tr>
              <a:tr h="436245">
                <a:tc>
                  <a:txBody>
                    <a:bodyPr lIns="85725" tIns="66675" rIns="85725" bIns="66675">
                      <a:noAutofit/>
                    </a:bodyPr>
                    <a:lstStyle/>
                    <a:p>
                      <a:r>
                        <a:rPr sz="1163" b="0">
                          <a:solidFill>
                            <a:srgbClr val="595959"/>
                          </a:solidFill>
                          <a:latin typeface="Roboto"/>
                          <a:ea typeface="Roboto"/>
                          <a:cs typeface="Roboto"/>
                        </a:rPr>
                        <a:t>4 Bit, N = 16</a:t>
                      </a:r>
                    </a:p>
                    <a:p>
                      <a:r>
                        <a:rPr sz="1163" b="0">
                          <a:solidFill>
                            <a:srgbClr val="595959"/>
                          </a:solidFill>
                          <a:latin typeface="Roboto"/>
                          <a:ea typeface="Roboto"/>
                          <a:cs typeface="Roboto"/>
                        </a:rPr>
                        <a:t>Verschiedene Schlüssel</a:t>
                      </a:r>
                    </a:p>
                  </a:txBody>
                  <a:tcPr marL="91440" marR="91440" marT="45720" marB="45720" anchor="ctr">
                    <a:solidFill>
                      <a:srgbClr val="FFFFFF"/>
                    </a:solidFill>
                  </a:tcPr>
                </a:tc>
                <a:tc>
                  <a:txBody>
                    <a:bodyPr lIns="85725" tIns="66675" rIns="85725" bIns="66675">
                      <a:noAutofit/>
                    </a:bodyPr>
                    <a:lstStyle/>
                    <a:p>
                      <a:r>
                        <a:rPr sz="1163" b="0">
                          <a:solidFill>
                            <a:srgbClr val="595959"/>
                          </a:solidFill>
                          <a:latin typeface="Roboto"/>
                          <a:ea typeface="Roboto"/>
                          <a:cs typeface="Roboto"/>
                        </a:rPr>
                        <a:t>100 / 100</a:t>
                      </a:r>
                    </a:p>
                  </a:txBody>
                  <a:tcPr marL="91440" marR="91440" marT="45720" marB="45720" anchor="ctr">
                    <a:solidFill>
                      <a:srgbClr val="FFFFFF"/>
                    </a:solidFill>
                  </a:tcPr>
                </a:tc>
                <a:tc>
                  <a:txBody>
                    <a:bodyPr lIns="85725" tIns="66675" rIns="85725" bIns="66675">
                      <a:noAutofit/>
                    </a:bodyPr>
                    <a:lstStyle/>
                    <a:p>
                      <a:r>
                        <a:rPr sz="1163" b="0">
                          <a:solidFill>
                            <a:srgbClr val="595959"/>
                          </a:solidFill>
                          <a:latin typeface="Roboto"/>
                          <a:ea typeface="Roboto"/>
                          <a:cs typeface="Roboto"/>
                        </a:rPr>
                        <a:t>99,6 / 99,9</a:t>
                      </a:r>
                    </a:p>
                  </a:txBody>
                  <a:tcPr marL="91440" marR="91440" marT="45720" marB="45720" anchor="ctr">
                    <a:solidFill>
                      <a:srgbClr val="FFFFFF"/>
                    </a:solidFill>
                  </a:tcPr>
                </a:tc>
                <a:tc>
                  <a:txBody>
                    <a:bodyPr lIns="85725" tIns="66675" rIns="85725" bIns="66675">
                      <a:noAutofit/>
                    </a:bodyPr>
                    <a:lstStyle/>
                    <a:p>
                      <a:r>
                        <a:rPr sz="1163" b="0">
                          <a:solidFill>
                            <a:srgbClr val="595959"/>
                          </a:solidFill>
                          <a:latin typeface="Roboto"/>
                          <a:ea typeface="Roboto"/>
                          <a:cs typeface="Roboto"/>
                        </a:rPr>
                        <a:t>95,5 / 95,0</a:t>
                      </a:r>
                    </a:p>
                  </a:txBody>
                  <a:tcPr marL="91440" marR="91440" marT="45720" marB="45720" anchor="ctr">
                    <a:solidFill>
                      <a:srgbClr val="FFFFFF"/>
                    </a:solidFill>
                  </a:tcPr>
                </a:tc>
                <a:tc>
                  <a:txBody>
                    <a:bodyPr lIns="85725" tIns="66675" rIns="85725" bIns="66675">
                      <a:noAutofit/>
                    </a:bodyPr>
                    <a:lstStyle/>
                    <a:p>
                      <a:r>
                        <a:rPr sz="1163" b="0">
                          <a:solidFill>
                            <a:srgbClr val="595959"/>
                          </a:solidFill>
                          <a:latin typeface="Roboto"/>
                          <a:ea typeface="Roboto"/>
                          <a:cs typeface="Roboto"/>
                        </a:rPr>
                        <a:t>84,3 / 83,1</a:t>
                      </a:r>
                    </a:p>
                  </a:txBody>
                  <a:tcPr marL="91440" marR="91440" marT="45720" marB="45720" anchor="ctr">
                    <a:solidFill>
                      <a:srgbClr val="FFFFFF"/>
                    </a:solidFill>
                  </a:tcPr>
                </a:tc>
              </a:tr>
              <a:tr h="436245">
                <a:tc>
                  <a:txBody>
                    <a:bodyPr lIns="85725" tIns="66675" rIns="85725" bIns="66675">
                      <a:noAutofit/>
                    </a:bodyPr>
                    <a:lstStyle/>
                    <a:p>
                      <a:r>
                        <a:rPr sz="1163" b="0">
                          <a:solidFill>
                            <a:srgbClr val="595959"/>
                          </a:solidFill>
                          <a:latin typeface="Roboto"/>
                          <a:ea typeface="Roboto"/>
                          <a:cs typeface="Roboto"/>
                        </a:rPr>
                        <a:t>4 Bit, N = 16</a:t>
                      </a:r>
                    </a:p>
                    <a:p>
                      <a:r>
                        <a:rPr sz="1163" b="0">
                          <a:solidFill>
                            <a:srgbClr val="595959"/>
                          </a:solidFill>
                          <a:latin typeface="Roboto"/>
                          <a:ea typeface="Roboto"/>
                          <a:cs typeface="Roboto"/>
                        </a:rPr>
                        <a:t>Duplikate erlaubt</a:t>
                      </a:r>
                    </a:p>
                  </a:txBody>
                  <a:tcPr marL="91440" marR="91440" marT="45720" marB="45720" anchor="ctr">
                    <a:solidFill>
                      <a:srgbClr val="FFFFFF"/>
                    </a:solidFill>
                  </a:tcPr>
                </a:tc>
                <a:tc>
                  <a:txBody>
                    <a:bodyPr lIns="85725" tIns="66675" rIns="85725" bIns="66675">
                      <a:noAutofit/>
                    </a:bodyPr>
                    <a:lstStyle/>
                    <a:p>
                      <a:r>
                        <a:rPr sz="1163" b="0">
                          <a:solidFill>
                            <a:srgbClr val="595959"/>
                          </a:solidFill>
                          <a:latin typeface="Roboto"/>
                          <a:ea typeface="Roboto"/>
                          <a:cs typeface="Roboto"/>
                        </a:rPr>
                        <a:t>100 / 100</a:t>
                      </a:r>
                    </a:p>
                  </a:txBody>
                  <a:tcPr marL="91440" marR="91440" marT="45720" marB="45720" anchor="ctr">
                    <a:solidFill>
                      <a:srgbClr val="FFFFFF"/>
                    </a:solidFill>
                  </a:tcPr>
                </a:tc>
                <a:tc>
                  <a:txBody>
                    <a:bodyPr lIns="85725" tIns="66675" rIns="85725" bIns="66675">
                      <a:noAutofit/>
                    </a:bodyPr>
                    <a:lstStyle/>
                    <a:p>
                      <a:r>
                        <a:rPr sz="1163" b="0">
                          <a:solidFill>
                            <a:srgbClr val="595959"/>
                          </a:solidFill>
                          <a:latin typeface="Roboto"/>
                          <a:ea typeface="Roboto"/>
                          <a:cs typeface="Roboto"/>
                        </a:rPr>
                        <a:t>99,6 / 99,7</a:t>
                      </a:r>
                    </a:p>
                  </a:txBody>
                  <a:tcPr marL="91440" marR="91440" marT="45720" marB="45720" anchor="ctr">
                    <a:solidFill>
                      <a:srgbClr val="FFFFFF"/>
                    </a:solidFill>
                  </a:tcPr>
                </a:tc>
                <a:tc>
                  <a:txBody>
                    <a:bodyPr lIns="85725" tIns="66675" rIns="85725" bIns="66675">
                      <a:noAutofit/>
                    </a:bodyPr>
                    <a:lstStyle/>
                    <a:p>
                      <a:r>
                        <a:rPr sz="1163" b="0">
                          <a:solidFill>
                            <a:srgbClr val="595959"/>
                          </a:solidFill>
                          <a:latin typeface="Roboto"/>
                          <a:ea typeface="Roboto"/>
                          <a:cs typeface="Roboto"/>
                        </a:rPr>
                        <a:t>95,1 / 95,2</a:t>
                      </a:r>
                    </a:p>
                  </a:txBody>
                  <a:tcPr marL="91440" marR="91440" marT="45720" marB="45720" anchor="ctr">
                    <a:solidFill>
                      <a:srgbClr val="FFFFFF"/>
                    </a:solidFill>
                  </a:tcPr>
                </a:tc>
                <a:tc>
                  <a:txBody>
                    <a:bodyPr lIns="85725" tIns="66675" rIns="85725" bIns="66675">
                      <a:noAutofit/>
                    </a:bodyPr>
                    <a:lstStyle/>
                    <a:p>
                      <a:r>
                        <a:rPr sz="1163" b="0">
                          <a:solidFill>
                            <a:srgbClr val="595959"/>
                          </a:solidFill>
                          <a:latin typeface="Roboto"/>
                          <a:ea typeface="Roboto"/>
                          <a:cs typeface="Roboto"/>
                        </a:rPr>
                        <a:t>87,9 / 80,2</a:t>
                      </a:r>
                    </a:p>
                  </a:txBody>
                  <a:tcPr marL="91440" marR="91440" marT="45720" marB="45720" anchor="ctr">
                    <a:solidFill>
                      <a:srgbClr val="FFFFFF"/>
                    </a:solidFill>
                  </a:tcPr>
                </a:tc>
              </a:tr>
              <a:tr h="436245">
                <a:tc>
                  <a:txBody>
                    <a:bodyPr lIns="85725" tIns="66675" rIns="85725" bIns="66675">
                      <a:noAutofit/>
                    </a:bodyPr>
                    <a:lstStyle/>
                    <a:p>
                      <a:r>
                        <a:rPr sz="1163" b="0">
                          <a:solidFill>
                            <a:srgbClr val="595959"/>
                          </a:solidFill>
                          <a:latin typeface="Roboto"/>
                          <a:ea typeface="Roboto"/>
                          <a:cs typeface="Roboto"/>
                        </a:rPr>
                        <a:t>8 Bit, N = 256</a:t>
                      </a:r>
                    </a:p>
                    <a:p>
                      <a:r>
                        <a:rPr sz="1163" b="0">
                          <a:solidFill>
                            <a:srgbClr val="595959"/>
                          </a:solidFill>
                          <a:latin typeface="Roboto"/>
                          <a:ea typeface="Roboto"/>
                          <a:cs typeface="Roboto"/>
                        </a:rPr>
                        <a:t>Verschiedene Schlüssel</a:t>
                      </a:r>
                    </a:p>
                  </a:txBody>
                  <a:tcPr marL="91440" marR="91440" marT="45720" marB="45720" anchor="ctr">
                    <a:solidFill>
                      <a:srgbClr val="FFFFFF"/>
                    </a:solidFill>
                  </a:tcPr>
                </a:tc>
                <a:tc>
                  <a:txBody>
                    <a:bodyPr lIns="85725" tIns="66675" rIns="85725" bIns="66675">
                      <a:noAutofit/>
                    </a:bodyPr>
                    <a:lstStyle/>
                    <a:p>
                      <a:r>
                        <a:rPr sz="1163" b="0">
                          <a:solidFill>
                            <a:srgbClr val="595959"/>
                          </a:solidFill>
                          <a:latin typeface="Roboto"/>
                          <a:ea typeface="Roboto"/>
                          <a:cs typeface="Roboto"/>
                        </a:rPr>
                        <a:t>100 / 100</a:t>
                      </a:r>
                    </a:p>
                  </a:txBody>
                  <a:tcPr marL="91440" marR="91440" marT="45720" marB="45720" anchor="ctr">
                    <a:solidFill>
                      <a:srgbClr val="FFFFFF"/>
                    </a:solidFill>
                  </a:tcPr>
                </a:tc>
                <a:tc>
                  <a:txBody>
                    <a:bodyPr lIns="85725" tIns="66675" rIns="85725" bIns="66675">
                      <a:noAutofit/>
                    </a:bodyPr>
                    <a:lstStyle/>
                    <a:p>
                      <a:r>
                        <a:rPr sz="1163" b="0">
                          <a:solidFill>
                            <a:srgbClr val="595959"/>
                          </a:solidFill>
                          <a:latin typeface="Roboto"/>
                          <a:ea typeface="Roboto"/>
                          <a:cs typeface="Roboto"/>
                        </a:rPr>
                        <a:t>93,9 / 96,1</a:t>
                      </a:r>
                    </a:p>
                  </a:txBody>
                  <a:tcPr marL="91440" marR="91440" marT="45720" marB="45720" anchor="ctr">
                    <a:solidFill>
                      <a:srgbClr val="FFFFFF"/>
                    </a:solidFill>
                  </a:tcPr>
                </a:tc>
                <a:tc>
                  <a:txBody>
                    <a:bodyPr lIns="85725" tIns="66675" rIns="85725" bIns="66675">
                      <a:noAutofit/>
                    </a:bodyPr>
                    <a:lstStyle/>
                    <a:p>
                      <a:r>
                        <a:rPr sz="1163" b="0">
                          <a:solidFill>
                            <a:srgbClr val="595959"/>
                          </a:solidFill>
                          <a:latin typeface="Roboto"/>
                          <a:ea typeface="Roboto"/>
                          <a:cs typeface="Roboto"/>
                        </a:rPr>
                        <a:t>44,7 / 45,4</a:t>
                      </a:r>
                    </a:p>
                  </a:txBody>
                  <a:tcPr marL="91440" marR="91440" marT="45720" marB="45720" anchor="ctr">
                    <a:solidFill>
                      <a:srgbClr val="FFFFFF"/>
                    </a:solidFill>
                  </a:tcPr>
                </a:tc>
                <a:tc>
                  <a:txBody>
                    <a:bodyPr lIns="85725" tIns="66675" rIns="85725" bIns="66675">
                      <a:noAutofit/>
                    </a:bodyPr>
                    <a:lstStyle/>
                    <a:p>
                      <a:r>
                        <a:rPr sz="1163" b="0">
                          <a:solidFill>
                            <a:srgbClr val="595959"/>
                          </a:solidFill>
                          <a:latin typeface="Roboto"/>
                          <a:ea typeface="Roboto"/>
                          <a:cs typeface="Roboto"/>
                        </a:rPr>
                        <a:t>5,9 / 4,0</a:t>
                      </a:r>
                    </a:p>
                  </a:txBody>
                  <a:tcPr marL="91440" marR="91440" marT="45720" marB="45720" anchor="ctr">
                    <a:solidFill>
                      <a:srgbClr val="FFFFFF"/>
                    </a:solidFill>
                  </a:tcPr>
                </a:tc>
              </a:tr>
              <a:tr h="436245">
                <a:tc>
                  <a:txBody>
                    <a:bodyPr lIns="85725" tIns="66675" rIns="85725" bIns="66675">
                      <a:noAutofit/>
                    </a:bodyPr>
                    <a:lstStyle/>
                    <a:p>
                      <a:r>
                        <a:rPr sz="1163" b="0">
                          <a:solidFill>
                            <a:srgbClr val="595959"/>
                          </a:solidFill>
                          <a:latin typeface="Roboto"/>
                          <a:ea typeface="Roboto"/>
                          <a:cs typeface="Roboto"/>
                        </a:rPr>
                        <a:t>8 Bit, N = 256</a:t>
                      </a:r>
                    </a:p>
                    <a:p>
                      <a:r>
                        <a:rPr sz="1163" b="0">
                          <a:solidFill>
                            <a:srgbClr val="595959"/>
                          </a:solidFill>
                          <a:latin typeface="Roboto"/>
                          <a:ea typeface="Roboto"/>
                          <a:cs typeface="Roboto"/>
                        </a:rPr>
                        <a:t>Duplikate erlaubt</a:t>
                      </a:r>
                    </a:p>
                  </a:txBody>
                  <a:tcPr marL="91440" marR="91440" marT="45720" marB="45720" anchor="ctr">
                    <a:solidFill>
                      <a:srgbClr val="FFFFFF"/>
                    </a:solidFill>
                  </a:tcPr>
                </a:tc>
                <a:tc>
                  <a:txBody>
                    <a:bodyPr lIns="85725" tIns="66675" rIns="85725" bIns="66675">
                      <a:noAutofit/>
                    </a:bodyPr>
                    <a:lstStyle/>
                    <a:p>
                      <a:r>
                        <a:rPr sz="1163" b="0">
                          <a:solidFill>
                            <a:srgbClr val="595959"/>
                          </a:solidFill>
                          <a:latin typeface="Roboto"/>
                          <a:ea typeface="Roboto"/>
                          <a:cs typeface="Roboto"/>
                        </a:rPr>
                        <a:t>100 / 100</a:t>
                      </a:r>
                    </a:p>
                  </a:txBody>
                  <a:tcPr marL="91440" marR="91440" marT="45720" marB="45720" anchor="ctr">
                    <a:solidFill>
                      <a:srgbClr val="FFFFFF"/>
                    </a:solidFill>
                  </a:tcPr>
                </a:tc>
                <a:tc>
                  <a:txBody>
                    <a:bodyPr lIns="85725" tIns="66675" rIns="85725" bIns="66675">
                      <a:noAutofit/>
                    </a:bodyPr>
                    <a:lstStyle/>
                    <a:p>
                      <a:r>
                        <a:rPr sz="1163" b="0">
                          <a:solidFill>
                            <a:srgbClr val="595959"/>
                          </a:solidFill>
                          <a:latin typeface="Roboto"/>
                          <a:ea typeface="Roboto"/>
                          <a:cs typeface="Roboto"/>
                        </a:rPr>
                        <a:t>95,5 / 94,7</a:t>
                      </a:r>
                    </a:p>
                  </a:txBody>
                  <a:tcPr marL="91440" marR="91440" marT="45720" marB="45720" anchor="ctr">
                    <a:solidFill>
                      <a:srgbClr val="FFFFFF"/>
                    </a:solidFill>
                  </a:tcPr>
                </a:tc>
                <a:tc>
                  <a:txBody>
                    <a:bodyPr lIns="85725" tIns="66675" rIns="85725" bIns="66675">
                      <a:noAutofit/>
                    </a:bodyPr>
                    <a:lstStyle/>
                    <a:p>
                      <a:r>
                        <a:rPr sz="1163" b="0">
                          <a:solidFill>
                            <a:srgbClr val="595959"/>
                          </a:solidFill>
                          <a:latin typeface="Roboto"/>
                          <a:ea typeface="Roboto"/>
                          <a:cs typeface="Roboto"/>
                        </a:rPr>
                        <a:t>54,8 / 38,3</a:t>
                      </a:r>
                    </a:p>
                  </a:txBody>
                  <a:tcPr marL="91440" marR="91440" marT="45720" marB="45720" anchor="ctr">
                    <a:solidFill>
                      <a:srgbClr val="FFFFFF"/>
                    </a:solidFill>
                  </a:tcPr>
                </a:tc>
                <a:tc>
                  <a:txBody>
                    <a:bodyPr lIns="85725" tIns="66675" rIns="85725" bIns="66675">
                      <a:noAutofit/>
                    </a:bodyPr>
                    <a:lstStyle/>
                    <a:p>
                      <a:r>
                        <a:rPr sz="1163" b="0">
                          <a:solidFill>
                            <a:srgbClr val="595959"/>
                          </a:solidFill>
                          <a:latin typeface="Roboto"/>
                          <a:ea typeface="Roboto"/>
                          <a:cs typeface="Roboto"/>
                        </a:rPr>
                        <a:t>10,4 / 3,1</a:t>
                      </a:r>
                    </a:p>
                  </a:txBody>
                  <a:tcPr marL="91440" marR="91440" marT="45720" marB="45720" anchor="ctr">
                    <a:solidFill>
                      <a:srgbClr val="FFFFFF"/>
                    </a:solidFill>
                  </a:tcPr>
                </a:tc>
              </a:tr>
            </a:tbl>
          </a:graphicData>
        </a:graphic>
      </p:graphicFrame>
      <p:sp>
        <p:nvSpPr>
          <p:cNvPr id="6" name="Text">
            <a:extLst xmlns:a="http://schemas.openxmlformats.org/drawingml/2006/main">
              <a:ext uri="{FF2B5EF4-FFF2-40B4-BE49-F238E27FC236}">
                <a16:creationId xmlns:a16="http://schemas.microsoft.com/office/drawing/2014/main" id="{59058D7D-3323-4D5C-B35A-357517E13764}"/>
              </a:ext>
            </a:extLst>
          </p:cNvPr>
          <p:cNvSpPr>
            <a:spLocks xmlns:a="http://schemas.openxmlformats.org/drawingml/2006/main" noGrp="1"/>
          </p:cNvSpPr>
          <p:nvPr/>
        </p:nvSpPr>
        <p:spPr>
          <a:xfrm xmlns:a="http://schemas.openxmlformats.org/drawingml/2006/main">
            <a:off x="542925" y="3914775"/>
            <a:ext cx="8143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15900" indent="-139700" algn="l">
              <a:spcAft>
                <a:spcPts val="1000"/>
              </a:spcAft>
              <a:buChar char="➔"/>
              <a:defRPr sz="1118">
                <a:solidFill>
                  <a:srgbClr val="595959"/>
                </a:solidFill>
                <a:latin typeface="Roboto"/>
                <a:ea typeface="Roboto"/>
                <a:cs typeface="Roboto"/>
              </a:defRPr>
            </a:pPr>
            <a:r>
              <a:t>Bei η ≤ 0,10: in allen getesteten Größen und Familien 100 % beobachtete Genauigkeit.</a:t>
            </a:r>
          </a:p>
          <a:p xmlns:a="http://schemas.openxmlformats.org/drawingml/2006/main">
            <a:pPr marL="215900" indent="-139700" algn="l">
              <a:spcAft>
                <a:spcPts val="1000"/>
              </a:spcAft>
              <a:buChar char="➔"/>
              <a:defRPr sz="1118">
                <a:solidFill>
                  <a:srgbClr val="595959"/>
                </a:solidFill>
                <a:latin typeface="Roboto"/>
                <a:ea typeface="Roboto"/>
                <a:cs typeface="Roboto"/>
              </a:defRPr>
            </a:pPr>
            <a:r>
              <a:t>Bei η = 0,25: deutlicher Einbruch für N = 256; kein durchgehend überlegener Sortierer.</a:t>
            </a:r>
          </a:p>
          <a:p xmlns:a="http://schemas.openxmlformats.org/drawingml/2006/main">
            <a:pPr marL="215900" indent="-139700" algn="l">
              <a:spcAft>
                <a:spcPts val="1000"/>
              </a:spcAft>
              <a:buChar char="➔"/>
              <a:defRPr sz="1118">
                <a:solidFill>
                  <a:srgbClr val="595959"/>
                </a:solidFill>
                <a:latin typeface="Roboto"/>
                <a:ea typeface="Roboto"/>
                <a:cs typeface="Roboto"/>
              </a:defRPr>
            </a:pPr>
            <a:r>
              <a:t>1.000/1.000 Erfolge ergeben pro Konfiguration ein 95-%-Wilson-Intervall von ca. 99,62–100 %.</a:t>
            </a:r>
          </a:p>
        </p:txBody>
      </p:sp>
    </p:spTree>
    <p:extLst>
      <p:ext uri="{BB962C8B-B14F-4D97-AF65-F5344CB8AC3E}">
        <p14:creationId xmlns:p14="http://schemas.microsoft.com/office/powerpoint/2010/main" val="3721235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olientitel">
            <a:extLst xmlns:a="http://schemas.openxmlformats.org/drawingml/2006/main">
              <a:ext uri="{FF2B5EF4-FFF2-40B4-BE49-F238E27FC236}">
                <a16:creationId xmlns:a16="http://schemas.microsoft.com/office/drawing/2014/main" id="{427AB963-D2E3-416F-85DE-69715FFDC608}"/>
              </a:ext>
            </a:extLst>
          </p:cNvPr>
          <p:cNvSpPr>
            <a:spLocks xmlns:a="http://schemas.openxmlformats.org/drawingml/2006/main" noGrp="1"/>
          </p:cNvSpPr>
          <p:nvPr/>
        </p:nvSpPr>
        <p:spPr>
          <a:xfrm xmlns:a="http://schemas.openxmlformats.org/drawingml/2006/main">
            <a:off x="400050" y="542925"/>
            <a:ext cx="828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20">
                <a:solidFill>
                  <a:srgbClr val="111111"/>
                </a:solidFill>
                <a:latin typeface="Roboto"/>
                <a:ea typeface="Roboto"/>
                <a:cs typeface="Roboto"/>
              </a:defRPr>
            </a:pPr>
            <a:r>
              <a:rPr sz="1620">
                <a:solidFill>
                  <a:srgbClr val="111111"/>
                </a:solidFill>
                <a:latin typeface="Roboto"/>
                <a:ea typeface="Roboto"/>
                <a:cs typeface="Roboto"/>
              </a:rPr>
              <a:t>Warum sinkt die Genauigkeit bei größeren Arrays?</a:t>
            </a:r>
          </a:p>
        </p:txBody>
      </p:sp>
      <p:sp>
        <p:nvSpPr>
          <p:cNvPr id="2" name="Text">
            <a:extLst xmlns:a="http://schemas.openxmlformats.org/drawingml/2006/main">
              <a:ext uri="{FF2B5EF4-FFF2-40B4-BE49-F238E27FC236}">
                <a16:creationId xmlns:a16="http://schemas.microsoft.com/office/drawing/2014/main" id="{AF57830D-FB6E-4666-8495-BCE0F9BB42A9}"/>
              </a:ext>
            </a:extLst>
          </p:cNvPr>
          <p:cNvSpPr>
            <a:spLocks xmlns:a="http://schemas.openxmlformats.org/drawingml/2006/main" noGrp="1"/>
          </p:cNvSpPr>
          <p:nvPr/>
        </p:nvSpPr>
        <p:spPr>
          <a:xfrm xmlns:a="http://schemas.openxmlformats.org/drawingml/2006/main">
            <a:off x="400050" y="4772025"/>
            <a:ext cx="798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55">
                <a:solidFill>
                  <a:srgbClr val="315D91"/>
                </a:solidFill>
                <a:latin typeface="Roboto"/>
                <a:ea typeface="Roboto"/>
                <a:cs typeface="Roboto"/>
              </a:defRPr>
            </a:pPr>
            <a:r>
              <a:rPr sz="855">
                <a:solidFill>
                  <a:srgbClr val="315D91"/>
                </a:solidFill>
                <a:latin typeface="Roboto"/>
                <a:ea typeface="Roboto"/>
                <a:cs typeface="Roboto"/>
              </a:rPr>
              <a:t>Quelle: results/reference/accuracy.csv; Fehlermechanismus des dokumentierten Quantisierers</a:t>
            </a:r>
          </a:p>
        </p:txBody>
      </p:sp>
      <p:sp>
        <p:nvSpPr>
          <p:cNvPr id="3" name="Text">
            <a:extLst xmlns:a="http://schemas.openxmlformats.org/drawingml/2006/main">
              <a:ext uri="{FF2B5EF4-FFF2-40B4-BE49-F238E27FC236}">
                <a16:creationId xmlns:a16="http://schemas.microsoft.com/office/drawing/2014/main" id="{E7ADA4A2-7968-4880-99DE-5D4C80128AEC}"/>
              </a:ext>
            </a:extLst>
          </p:cNvPr>
          <p:cNvSpPr>
            <a:spLocks xmlns:a="http://schemas.openxmlformats.org/drawingml/2006/main" noGrp="1"/>
          </p:cNvSpPr>
          <p:nvPr/>
        </p:nvSpPr>
        <p:spPr>
          <a:xfrm xmlns:a="http://schemas.openxmlformats.org/drawingml/2006/main">
            <a:off x="8667750" y="4819650"/>
            <a:ext cx="2286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a:solidFill>
                  <a:srgbClr val="595959"/>
                </a:solidFill>
                <a:latin typeface="Roboto"/>
                <a:ea typeface="Roboto"/>
                <a:cs typeface="Roboto"/>
              </a:defRPr>
            </a:pPr>
            <a:r>
              <a:rPr sz="900">
                <a:solidFill>
                  <a:srgbClr val="595959"/>
                </a:solidFill>
                <a:latin typeface="Roboto"/>
                <a:ea typeface="Roboto"/>
                <a:cs typeface="Roboto"/>
              </a:rPr>
              <a:t>10</a:t>
            </a:r>
          </a:p>
        </p:txBody>
      </p:sp>
      <p:graphicFrame>
        <p:nvGraphicFramePr>
          <p:cNvPr id="11" name="Chart"/>
          <p:cNvGraphicFramePr/>
          <p:nvPr/>
        </p:nvGraphicFramePr>
        <p:xfrm>
          <a:off xmlns:a="http://schemas.openxmlformats.org/drawingml/2006/main" x="352425" y="1228725"/>
          <a:ext xmlns:a="http://schemas.openxmlformats.org/drawingml/2006/main" cx="5267325" cy="3238500"/>
        </p:xfrm>
        <a:graphic xmlns:a="http://schemas.openxmlformats.org/drawingml/2006/main">
          <a:graphicData uri="http://schemas.openxmlformats.org/drawingml/2006/chart">
            <c:chart xmlns:r="http://schemas.openxmlformats.org/officeDocument/2006/relationships" xmlns:c="http://schemas.openxmlformats.org/drawingml/2006/chart" r:id="Rb30a1cbf26fa4e4e"/>
          </a:graphicData>
        </a:graphic>
      </p:graphicFrame>
      <p:sp>
        <p:nvSpPr>
          <p:cNvPr id="5" name="Text">
            <a:extLst xmlns:a="http://schemas.openxmlformats.org/drawingml/2006/main">
              <a:ext uri="{FF2B5EF4-FFF2-40B4-BE49-F238E27FC236}">
                <a16:creationId xmlns:a16="http://schemas.microsoft.com/office/drawing/2014/main" id="{686830FE-89C8-49F4-9422-4063FADE731C}"/>
              </a:ext>
            </a:extLst>
          </p:cNvPr>
          <p:cNvSpPr>
            <a:spLocks xmlns:a="http://schemas.openxmlformats.org/drawingml/2006/main" noGrp="1"/>
          </p:cNvSpPr>
          <p:nvPr/>
        </p:nvSpPr>
        <p:spPr>
          <a:xfrm xmlns:a="http://schemas.openxmlformats.org/drawingml/2006/main">
            <a:off x="609600" y="1019175"/>
            <a:ext cx="45053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a:solidFill>
                  <a:srgbClr val="111111"/>
                </a:solidFill>
                <a:latin typeface="Roboto"/>
                <a:ea typeface="Roboto"/>
                <a:cs typeface="Roboto"/>
              </a:defRPr>
            </a:pPr>
            <a:r>
              <a:rPr sz="1200">
                <a:solidFill>
                  <a:srgbClr val="111111"/>
                </a:solidFill>
                <a:latin typeface="Roboto"/>
                <a:ea typeface="Roboto"/>
                <a:cs typeface="Roboto"/>
              </a:rPr>
              <a:t>8 Bit, N = 256</a:t>
            </a:r>
          </a:p>
        </p:txBody>
      </p:sp>
      <p:sp>
        <p:nvSpPr>
          <p:cNvPr id="6" name="Text">
            <a:extLst xmlns:a="http://schemas.openxmlformats.org/drawingml/2006/main">
              <a:ext uri="{FF2B5EF4-FFF2-40B4-BE49-F238E27FC236}">
                <a16:creationId xmlns:a16="http://schemas.microsoft.com/office/drawing/2014/main" id="{24B73285-04C5-43AD-9611-22D8C5421315}"/>
              </a:ext>
            </a:extLst>
          </p:cNvPr>
          <p:cNvSpPr>
            <a:spLocks xmlns:a="http://schemas.openxmlformats.org/drawingml/2006/main" noGrp="1"/>
          </p:cNvSpPr>
          <p:nvPr/>
        </p:nvSpPr>
        <p:spPr>
          <a:xfrm xmlns:a="http://schemas.openxmlformats.org/drawingml/2006/main">
            <a:off x="5829300" y="1419225"/>
            <a:ext cx="29146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15900" indent="-139700" algn="l">
              <a:spcAft>
                <a:spcPts val="1000"/>
              </a:spcAft>
              <a:buChar char="➔"/>
              <a:defRPr sz="1200">
                <a:solidFill>
                  <a:srgbClr val="595959"/>
                </a:solidFill>
                <a:latin typeface="Roboto"/>
                <a:ea typeface="Roboto"/>
                <a:cs typeface="Roboto"/>
              </a:defRPr>
            </a:pPr>
            <a:r>
              <a:t>Die Kennzahl bewertet das gesamte Array: Ein einziger relevanter Fehler genügt für einen Misserfolg.</a:t>
            </a:r>
          </a:p>
          <a:p xmlns:a="http://schemas.openxmlformats.org/drawingml/2006/main">
            <a:pPr marL="215900" indent="-139700" algn="l">
              <a:spcAft>
                <a:spcPts val="1000"/>
              </a:spcAft>
              <a:buChar char="➔"/>
              <a:defRPr sz="1200">
                <a:solidFill>
                  <a:srgbClr val="595959"/>
                </a:solidFill>
                <a:latin typeface="Roboto"/>
                <a:ea typeface="Roboto"/>
                <a:cs typeface="Roboto"/>
              </a:defRPr>
            </a:pPr>
            <a:r>
              <a:t>Benachbarte Schlüssel können durch Rauschen als gleich erscheinen. Auch Rangkonflikte zählen als Fehler.</a:t>
            </a:r>
          </a:p>
          <a:p xmlns:a="http://schemas.openxmlformats.org/drawingml/2006/main">
            <a:pPr marL="215900" indent="-139700" algn="l">
              <a:spcAft>
                <a:spcPts val="1000"/>
              </a:spcAft>
              <a:buChar char="➔"/>
              <a:defRPr sz="1200">
                <a:solidFill>
                  <a:srgbClr val="595959"/>
                </a:solidFill>
                <a:latin typeface="Roboto"/>
                <a:ea typeface="Roboto"/>
                <a:cs typeface="Roboto"/>
              </a:defRPr>
            </a:pPr>
            <a:r>
              <a:t>Bei η = 0,25 wird ein Abstand Δ mit ca. 2,28 % Wahrscheinlichkeit zu einem gemessenen Gleichstand.</a:t>
            </a:r>
          </a:p>
        </p:txBody>
      </p:sp>
      <p:sp>
        <p:nvSpPr>
          <p:cNvPr id="7" name="Text">
            <a:extLst xmlns:a="http://schemas.openxmlformats.org/drawingml/2006/main">
              <a:ext uri="{FF2B5EF4-FFF2-40B4-BE49-F238E27FC236}">
                <a16:creationId xmlns:a16="http://schemas.microsoft.com/office/drawing/2014/main" id="{4C56FF2F-2E79-4F2D-BADF-74870E1674FF}"/>
              </a:ext>
            </a:extLst>
          </p:cNvPr>
          <p:cNvSpPr>
            <a:spLocks xmlns:a="http://schemas.openxmlformats.org/drawingml/2006/main" noGrp="1"/>
          </p:cNvSpPr>
          <p:nvPr/>
        </p:nvSpPr>
        <p:spPr>
          <a:xfrm xmlns:a="http://schemas.openxmlformats.org/drawingml/2006/main">
            <a:off x="542925" y="4476750"/>
            <a:ext cx="814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a:solidFill>
                  <a:srgbClr val="595959"/>
                </a:solidFill>
                <a:latin typeface="Roboto"/>
                <a:ea typeface="Roboto"/>
                <a:cs typeface="Roboto"/>
              </a:defRPr>
            </a:pPr>
            <a:r>
              <a:rPr sz="1125">
                <a:solidFill>
                  <a:srgbClr val="595959"/>
                </a:solidFill>
                <a:latin typeface="Roboto"/>
                <a:ea typeface="Roboto"/>
                <a:cs typeface="Roboto"/>
              </a:rPr>
              <a:t>η ist eine Modellgröße. Das tatsächliche Q.ANT-Rauschen muss separat bestimmt werden.</a:t>
            </a:r>
          </a:p>
        </p:txBody>
      </p:sp>
    </p:spTree>
    <p:extLst>
      <p:ext uri="{BB962C8B-B14F-4D97-AF65-F5344CB8AC3E}">
        <p14:creationId xmlns:p14="http://schemas.microsoft.com/office/powerpoint/2010/main" val="106406306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olientitel">
            <a:extLst xmlns:a="http://schemas.openxmlformats.org/drawingml/2006/main">
              <a:ext uri="{FF2B5EF4-FFF2-40B4-BE49-F238E27FC236}">
                <a16:creationId xmlns:a16="http://schemas.microsoft.com/office/drawing/2014/main" id="{BD032137-6C47-4FC3-8600-70455F66711E}"/>
              </a:ext>
            </a:extLst>
          </p:cNvPr>
          <p:cNvSpPr>
            <a:spLocks xmlns:a="http://schemas.openxmlformats.org/drawingml/2006/main" noGrp="1"/>
          </p:cNvSpPr>
          <p:nvPr/>
        </p:nvSpPr>
        <p:spPr>
          <a:xfrm xmlns:a="http://schemas.openxmlformats.org/drawingml/2006/main">
            <a:off x="400050" y="542925"/>
            <a:ext cx="828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20">
                <a:solidFill>
                  <a:srgbClr val="111111"/>
                </a:solidFill>
                <a:latin typeface="Roboto"/>
                <a:ea typeface="Roboto"/>
                <a:cs typeface="Roboto"/>
              </a:defRPr>
            </a:pPr>
            <a:r>
              <a:rPr sz="1620">
                <a:solidFill>
                  <a:srgbClr val="111111"/>
                </a:solidFill>
                <a:latin typeface="Roboto"/>
                <a:ea typeface="Roboto"/>
                <a:cs typeface="Roboto"/>
              </a:rPr>
              <a:t>Q.ANT-Bezug: überprüfte Schnittstelle und Ressourcen</a:t>
            </a:r>
          </a:p>
        </p:txBody>
      </p:sp>
      <p:sp>
        <p:nvSpPr>
          <p:cNvPr id="2" name="Text">
            <a:extLst xmlns:a="http://schemas.openxmlformats.org/drawingml/2006/main">
              <a:ext uri="{FF2B5EF4-FFF2-40B4-BE49-F238E27FC236}">
                <a16:creationId xmlns:a16="http://schemas.microsoft.com/office/drawing/2014/main" id="{EDFAD622-C1B4-4721-9578-64761E0FF737}"/>
              </a:ext>
            </a:extLst>
          </p:cNvPr>
          <p:cNvSpPr>
            <a:spLocks xmlns:a="http://schemas.openxmlformats.org/drawingml/2006/main" noGrp="1"/>
          </p:cNvSpPr>
          <p:nvPr/>
        </p:nvSpPr>
        <p:spPr>
          <a:xfrm xmlns:a="http://schemas.openxmlformats.org/drawingml/2006/main">
            <a:off x="400050" y="4772025"/>
            <a:ext cx="798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55">
                <a:solidFill>
                  <a:srgbClr val="315D91"/>
                </a:solidFill>
                <a:latin typeface="Roboto"/>
                <a:ea typeface="Roboto"/>
                <a:cs typeface="Roboto"/>
              </a:defRPr>
            </a:pPr>
            <a:r>
              <a:rPr sz="855">
                <a:solidFill>
                  <a:srgbClr val="315D91"/>
                </a:solidFill>
                <a:latin typeface="Roboto"/>
                <a:ea typeface="Roboto"/>
                <a:cs typeface="Roboto"/>
              </a:rPr>
              <a:t>Quellen: offizielles Q.ANT-SDK 2.3.1 (CPU); sdk_mapping.py; validation/hardware_resources.csv</a:t>
            </a:r>
          </a:p>
        </p:txBody>
      </p:sp>
      <p:sp>
        <p:nvSpPr>
          <p:cNvPr id="3" name="Text">
            <a:extLst xmlns:a="http://schemas.openxmlformats.org/drawingml/2006/main">
              <a:ext uri="{FF2B5EF4-FFF2-40B4-BE49-F238E27FC236}">
                <a16:creationId xmlns:a16="http://schemas.microsoft.com/office/drawing/2014/main" id="{F90BEAAB-260F-4D4D-8FD2-402E48607C44}"/>
              </a:ext>
            </a:extLst>
          </p:cNvPr>
          <p:cNvSpPr>
            <a:spLocks xmlns:a="http://schemas.openxmlformats.org/drawingml/2006/main" noGrp="1"/>
          </p:cNvSpPr>
          <p:nvPr/>
        </p:nvSpPr>
        <p:spPr>
          <a:xfrm xmlns:a="http://schemas.openxmlformats.org/drawingml/2006/main">
            <a:off x="8667750" y="4819650"/>
            <a:ext cx="2286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a:solidFill>
                  <a:srgbClr val="595959"/>
                </a:solidFill>
                <a:latin typeface="Roboto"/>
                <a:ea typeface="Roboto"/>
                <a:cs typeface="Roboto"/>
              </a:defRPr>
            </a:pPr>
            <a:r>
              <a:rPr sz="900">
                <a:solidFill>
                  <a:srgbClr val="595959"/>
                </a:solidFill>
                <a:latin typeface="Roboto"/>
                <a:ea typeface="Roboto"/>
                <a:cs typeface="Roboto"/>
              </a:rPr>
              <a:t>11</a:t>
            </a:r>
          </a:p>
        </p:txBody>
      </p:sp>
      <p:sp>
        <p:nvSpPr>
          <p:cNvPr id="4" name="Text">
            <a:extLst xmlns:a="http://schemas.openxmlformats.org/drawingml/2006/main">
              <a:ext uri="{FF2B5EF4-FFF2-40B4-BE49-F238E27FC236}">
                <a16:creationId xmlns:a16="http://schemas.microsoft.com/office/drawing/2014/main" id="{454CF661-207C-470B-8928-0339EF4393C8}"/>
              </a:ext>
            </a:extLst>
          </p:cNvPr>
          <p:cNvSpPr>
            <a:spLocks xmlns:a="http://schemas.openxmlformats.org/drawingml/2006/main" noGrp="1"/>
          </p:cNvSpPr>
          <p:nvPr/>
        </p:nvSpPr>
        <p:spPr>
          <a:xfrm xmlns:a="http://schemas.openxmlformats.org/drawingml/2006/main">
            <a:off x="542925" y="1114425"/>
            <a:ext cx="813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Dokumentiert und auf CPU geprüft: linear_fprop(X, W) = XWᵀ mit BF16.</a:t>
            </a:r>
          </a:p>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X enthält Paare als Zeilen; W = [1  −1]. Die physische Batchgrenze bleibt offen.</a:t>
            </a:r>
          </a:p>
        </p:txBody>
      </p:sp>
      <p:graphicFrame>
        <p:nvGraphicFramePr>
          <p:cNvPr id="12" name=""/>
          <p:cNvGraphicFramePr/>
          <p:nvPr/>
        </p:nvGraphicFramePr>
        <p:xfrm>
          <a:off xmlns:a="http://schemas.openxmlformats.org/drawingml/2006/main" x="542925" y="1866900"/>
          <a:ext xmlns:a="http://schemas.openxmlformats.org/drawingml/2006/main" cx="8058150" cy="1628775"/>
        </p:xfrm>
        <a:graphic xmlns:a="http://schemas.openxmlformats.org/drawingml/2006/main">
          <a:graphicData uri="http://schemas.openxmlformats.org/drawingml/2006/table">
            <a:tbl>
              <a:tblPr firstRow="1" bandRow="0"/>
              <a:tblGrid>
                <a:gridCol w="4438650"/>
                <a:gridCol w="1809750"/>
                <a:gridCol w="1809750"/>
              </a:tblGrid>
              <a:tr h="407194">
                <a:tc>
                  <a:txBody>
                    <a:bodyPr lIns="85725" tIns="66675" rIns="85725" bIns="66675">
                      <a:noAutofit/>
                    </a:bodyPr>
                    <a:lstStyle/>
                    <a:p>
                      <a:r>
                        <a:rPr sz="1140" b="1">
                          <a:solidFill>
                            <a:srgbClr val="111111"/>
                          </a:solidFill>
                          <a:latin typeface="Roboto"/>
                          <a:ea typeface="Roboto"/>
                          <a:cs typeface="Roboto"/>
                        </a:rPr>
                        <a:t>Eine Sortierung bei N = 256</a:t>
                      </a:r>
                    </a:p>
                  </a:txBody>
                  <a:tcPr marL="91440" marR="91440" marT="45720" marB="45720" anchor="ctr">
                    <a:solidFill>
                      <a:srgbClr val="F1F1F1"/>
                    </a:solidFill>
                  </a:tcPr>
                </a:tc>
                <a:tc>
                  <a:txBody>
                    <a:bodyPr lIns="85725" tIns="66675" rIns="85725" bIns="66675">
                      <a:noAutofit/>
                    </a:bodyPr>
                    <a:lstStyle/>
                    <a:p>
                      <a:r>
                        <a:rPr sz="1140" b="1">
                          <a:solidFill>
                            <a:srgbClr val="111111"/>
                          </a:solidFill>
                          <a:latin typeface="Roboto"/>
                          <a:ea typeface="Roboto"/>
                          <a:cs typeface="Roboto"/>
                        </a:rPr>
                        <a:t>Bitonic</a:t>
                      </a:r>
                    </a:p>
                  </a:txBody>
                  <a:tcPr marL="91440" marR="91440" marT="45720" marB="45720" anchor="ctr">
                    <a:solidFill>
                      <a:srgbClr val="F1F1F1"/>
                    </a:solidFill>
                  </a:tcPr>
                </a:tc>
                <a:tc>
                  <a:txBody>
                    <a:bodyPr lIns="85725" tIns="66675" rIns="85725" bIns="66675">
                      <a:noAutofit/>
                    </a:bodyPr>
                    <a:lstStyle/>
                    <a:p>
                      <a:r>
                        <a:rPr sz="1140" b="1">
                          <a:solidFill>
                            <a:srgbClr val="111111"/>
                          </a:solidFill>
                          <a:latin typeface="Roboto"/>
                          <a:ea typeface="Roboto"/>
                          <a:cs typeface="Roboto"/>
                        </a:rPr>
                        <a:t>Rang</a:t>
                      </a:r>
                    </a:p>
                  </a:txBody>
                  <a:tcPr marL="91440" marR="91440" marT="45720" marB="45720" anchor="ctr">
                    <a:solidFill>
                      <a:srgbClr val="F1F1F1"/>
                    </a:solidFill>
                  </a:tcPr>
                </a:tc>
              </a:tr>
              <a:tr h="407194">
                <a:tc>
                  <a:txBody>
                    <a:bodyPr lIns="85725" tIns="66675" rIns="85725" bIns="66675">
                      <a:noAutofit/>
                    </a:bodyPr>
                    <a:lstStyle/>
                    <a:p>
                      <a:r>
                        <a:rPr sz="1140" b="0">
                          <a:solidFill>
                            <a:srgbClr val="595959"/>
                          </a:solidFill>
                          <a:latin typeface="Roboto"/>
                          <a:ea typeface="Roboto"/>
                          <a:cs typeface="Roboto"/>
                        </a:rPr>
                        <a:t>Paarweise Differenzen</a:t>
                      </a:r>
                    </a:p>
                  </a:txBody>
                  <a:tcPr marL="91440" marR="91440" marT="45720" marB="45720" anchor="ctr">
                    <a:solidFill>
                      <a:srgbClr val="FFFFFF"/>
                    </a:solidFill>
                  </a:tcPr>
                </a:tc>
                <a:tc>
                  <a:txBody>
                    <a:bodyPr lIns="85725" tIns="66675" rIns="85725" bIns="66675">
                      <a:noAutofit/>
                    </a:bodyPr>
                    <a:lstStyle/>
                    <a:p>
                      <a:r>
                        <a:rPr sz="1140" b="0">
                          <a:solidFill>
                            <a:srgbClr val="595959"/>
                          </a:solidFill>
                          <a:latin typeface="Roboto"/>
                          <a:ea typeface="Roboto"/>
                          <a:cs typeface="Roboto"/>
                        </a:rPr>
                        <a:t>4.608</a:t>
                      </a:r>
                    </a:p>
                  </a:txBody>
                  <a:tcPr marL="91440" marR="91440" marT="45720" marB="45720" anchor="ctr">
                    <a:solidFill>
                      <a:srgbClr val="FFFFFF"/>
                    </a:solidFill>
                  </a:tcPr>
                </a:tc>
                <a:tc>
                  <a:txBody>
                    <a:bodyPr lIns="85725" tIns="66675" rIns="85725" bIns="66675">
                      <a:noAutofit/>
                    </a:bodyPr>
                    <a:lstStyle/>
                    <a:p>
                      <a:r>
                        <a:rPr sz="1140" b="0">
                          <a:solidFill>
                            <a:srgbClr val="595959"/>
                          </a:solidFill>
                          <a:latin typeface="Roboto"/>
                          <a:ea typeface="Roboto"/>
                          <a:cs typeface="Roboto"/>
                        </a:rPr>
                        <a:t>32.640</a:t>
                      </a:r>
                    </a:p>
                  </a:txBody>
                  <a:tcPr marL="91440" marR="91440" marT="45720" marB="45720" anchor="ctr">
                    <a:solidFill>
                      <a:srgbClr val="FFFFFF"/>
                    </a:solidFill>
                  </a:tcPr>
                </a:tc>
              </a:tr>
              <a:tr h="407194">
                <a:tc>
                  <a:txBody>
                    <a:bodyPr lIns="85725" tIns="66675" rIns="85725" bIns="66675">
                      <a:noAutofit/>
                    </a:bodyPr>
                    <a:lstStyle/>
                    <a:p>
                      <a:r>
                        <a:rPr sz="1140" b="0">
                          <a:solidFill>
                            <a:srgbClr val="595959"/>
                          </a:solidFill>
                          <a:latin typeface="Roboto"/>
                          <a:ea typeface="Roboto"/>
                          <a:cs typeface="Roboto"/>
                        </a:rPr>
                        <a:t>Aufrufe, wenn alle benötigten Paare hineinpassen</a:t>
                      </a:r>
                    </a:p>
                  </a:txBody>
                  <a:tcPr marL="91440" marR="91440" marT="45720" marB="45720" anchor="ctr">
                    <a:solidFill>
                      <a:srgbClr val="FFFFFF"/>
                    </a:solidFill>
                  </a:tcPr>
                </a:tc>
                <a:tc>
                  <a:txBody>
                    <a:bodyPr lIns="85725" tIns="66675" rIns="85725" bIns="66675">
                      <a:noAutofit/>
                    </a:bodyPr>
                    <a:lstStyle/>
                    <a:p>
                      <a:r>
                        <a:rPr sz="1140" b="0">
                          <a:solidFill>
                            <a:srgbClr val="595959"/>
                          </a:solidFill>
                          <a:latin typeface="Roboto"/>
                          <a:ea typeface="Roboto"/>
                          <a:cs typeface="Roboto"/>
                        </a:rPr>
                        <a:t>36</a:t>
                      </a:r>
                    </a:p>
                  </a:txBody>
                  <a:tcPr marL="91440" marR="91440" marT="45720" marB="45720" anchor="ctr">
                    <a:solidFill>
                      <a:srgbClr val="FFFFFF"/>
                    </a:solidFill>
                  </a:tcPr>
                </a:tc>
                <a:tc>
                  <a:txBody>
                    <a:bodyPr lIns="85725" tIns="66675" rIns="85725" bIns="66675">
                      <a:noAutofit/>
                    </a:bodyPr>
                    <a:lstStyle/>
                    <a:p>
                      <a:r>
                        <a:rPr sz="1140" b="0">
                          <a:solidFill>
                            <a:srgbClr val="595959"/>
                          </a:solidFill>
                          <a:latin typeface="Roboto"/>
                          <a:ea typeface="Roboto"/>
                          <a:cs typeface="Roboto"/>
                        </a:rPr>
                        <a:t>1</a:t>
                      </a:r>
                    </a:p>
                  </a:txBody>
                  <a:tcPr marL="91440" marR="91440" marT="45720" marB="45720" anchor="ctr">
                    <a:solidFill>
                      <a:srgbClr val="FFFFFF"/>
                    </a:solidFill>
                  </a:tcPr>
                </a:tc>
              </a:tr>
              <a:tr h="407194">
                <a:tc>
                  <a:txBody>
                    <a:bodyPr lIns="85725" tIns="66675" rIns="85725" bIns="66675">
                      <a:noAutofit/>
                    </a:bodyPr>
                    <a:lstStyle/>
                    <a:p>
                      <a:r>
                        <a:rPr sz="1140" b="0">
                          <a:solidFill>
                            <a:srgbClr val="595959"/>
                          </a:solidFill>
                          <a:latin typeface="Roboto"/>
                          <a:ea typeface="Roboto"/>
                          <a:cs typeface="Roboto"/>
                        </a:rPr>
                        <a:t>Logische Nutzlast unter dieser Annahme</a:t>
                      </a:r>
                    </a:p>
                  </a:txBody>
                  <a:tcPr marL="91440" marR="91440" marT="45720" marB="45720" anchor="ctr">
                    <a:solidFill>
                      <a:srgbClr val="FFFFFF"/>
                    </a:solidFill>
                  </a:tcPr>
                </a:tc>
                <a:tc>
                  <a:txBody>
                    <a:bodyPr lIns="85725" tIns="66675" rIns="85725" bIns="66675">
                      <a:noAutofit/>
                    </a:bodyPr>
                    <a:lstStyle/>
                    <a:p>
                      <a:r>
                        <a:rPr sz="1140" b="0">
                          <a:solidFill>
                            <a:srgbClr val="595959"/>
                          </a:solidFill>
                          <a:latin typeface="Roboto"/>
                          <a:ea typeface="Roboto"/>
                          <a:cs typeface="Roboto"/>
                        </a:rPr>
                        <a:t>27.792 Byte</a:t>
                      </a:r>
                    </a:p>
                  </a:txBody>
                  <a:tcPr marL="91440" marR="91440" marT="45720" marB="45720" anchor="ctr">
                    <a:solidFill>
                      <a:srgbClr val="FFFFFF"/>
                    </a:solidFill>
                  </a:tcPr>
                </a:tc>
                <a:tc>
                  <a:txBody>
                    <a:bodyPr lIns="85725" tIns="66675" rIns="85725" bIns="66675">
                      <a:noAutofit/>
                    </a:bodyPr>
                    <a:lstStyle/>
                    <a:p>
                      <a:r>
                        <a:rPr sz="1140" b="0">
                          <a:solidFill>
                            <a:srgbClr val="595959"/>
                          </a:solidFill>
                          <a:latin typeface="Roboto"/>
                          <a:ea typeface="Roboto"/>
                          <a:cs typeface="Roboto"/>
                        </a:rPr>
                        <a:t>195.844 Byte</a:t>
                      </a:r>
                    </a:p>
                  </a:txBody>
                  <a:tcPr marL="91440" marR="91440" marT="45720" marB="45720" anchor="ctr">
                    <a:solidFill>
                      <a:srgbClr val="FFFFFF"/>
                    </a:solidFill>
                  </a:tcPr>
                </a:tc>
              </a:tr>
            </a:tbl>
          </a:graphicData>
        </a:graphic>
      </p:graphicFrame>
      <p:sp>
        <p:nvSpPr>
          <p:cNvPr id="6" name="Text">
            <a:extLst xmlns:a="http://schemas.openxmlformats.org/drawingml/2006/main">
              <a:ext uri="{FF2B5EF4-FFF2-40B4-BE49-F238E27FC236}">
                <a16:creationId xmlns:a16="http://schemas.microsoft.com/office/drawing/2014/main" id="{17BE682A-E4C5-45BD-BB65-C222F0FEE6C7}"/>
              </a:ext>
            </a:extLst>
          </p:cNvPr>
          <p:cNvSpPr>
            <a:spLocks xmlns:a="http://schemas.openxmlformats.org/drawingml/2006/main" noGrp="1"/>
          </p:cNvSpPr>
          <p:nvPr/>
        </p:nvSpPr>
        <p:spPr>
          <a:xfrm xmlns:a="http://schemas.openxmlformats.org/drawingml/2006/main">
            <a:off x="542925" y="3695700"/>
            <a:ext cx="8124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Die Rangmethode spart nur bei ausreichend großen Batches Aufrufe.</a:t>
            </a:r>
          </a:p>
          <a:p xmlns:a="http://schemas.openxmlformats.org/drawingml/2006/main">
            <a:pPr algn="l">
              <a:defRPr sz="1200">
                <a:solidFill>
                  <a:srgbClr val="595959"/>
                </a:solidFill>
                <a:latin typeface="Roboto"/>
                <a:ea typeface="Roboto"/>
                <a:cs typeface="Roboto"/>
              </a:defRPr>
            </a:pPr>
            <a:r>
              <a:rPr sz="1200">
                <a:solidFill>
                  <a:srgbClr val="595959"/>
                </a:solidFill>
                <a:latin typeface="Roboto"/>
                <a:ea typeface="Roboto"/>
                <a:cs typeface="Roboto"/>
              </a:rPr>
              <a:t>Beispiel: maximal 128 Paare je Aufruf ⇒ Bitonic 36, Rang 255 Aufrufe.</a:t>
            </a:r>
          </a:p>
        </p:txBody>
      </p:sp>
      <p:sp>
        <p:nvSpPr>
          <p:cNvPr id="7" name="Text">
            <a:extLst xmlns:a="http://schemas.openxmlformats.org/drawingml/2006/main">
              <a:ext uri="{FF2B5EF4-FFF2-40B4-BE49-F238E27FC236}">
                <a16:creationId xmlns:a16="http://schemas.microsoft.com/office/drawing/2014/main" id="{1307EAEE-B110-420B-9040-C855CC6066F9}"/>
              </a:ext>
            </a:extLst>
          </p:cNvPr>
          <p:cNvSpPr>
            <a:spLocks xmlns:a="http://schemas.openxmlformats.org/drawingml/2006/main" noGrp="1"/>
          </p:cNvSpPr>
          <p:nvPr/>
        </p:nvSpPr>
        <p:spPr>
          <a:xfrm xmlns:a="http://schemas.openxmlformats.org/drawingml/2006/main">
            <a:off x="542925" y="4314825"/>
            <a:ext cx="8124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a:solidFill>
                  <a:srgbClr val="595959"/>
                </a:solidFill>
                <a:latin typeface="Roboto"/>
                <a:ea typeface="Roboto"/>
                <a:cs typeface="Roboto"/>
              </a:defRPr>
            </a:pPr>
            <a:r>
              <a:rPr sz="1125">
                <a:solidFill>
                  <a:srgbClr val="595959"/>
                </a:solidFill>
                <a:latin typeface="Roboto"/>
                <a:ea typeface="Roboto"/>
                <a:cs typeface="Roboto"/>
              </a:rPr>
              <a:t>Offen: physische Matrixgrößen, Transfers, Latenz, effektive Präzision und Rauschen.</a:t>
            </a:r>
          </a:p>
          <a:p xmlns:a="http://schemas.openxmlformats.org/drawingml/2006/main">
            <a:pPr algn="l">
              <a:defRPr sz="1125">
                <a:solidFill>
                  <a:srgbClr val="595959"/>
                </a:solidFill>
                <a:latin typeface="Roboto"/>
                <a:ea typeface="Roboto"/>
                <a:cs typeface="Roboto"/>
              </a:defRPr>
            </a:pPr>
            <a:r>
              <a:rPr sz="1125">
                <a:solidFill>
                  <a:srgbClr val="595959"/>
                </a:solidFill>
                <a:latin typeface="Roboto"/>
                <a:ea typeface="Roboto"/>
                <a:cs typeface="Roboto"/>
              </a:rPr>
              <a:t>Die Bilanz gilt für die Differenz-Basis, nicht für einen neuen nichtlinearen C&amp;E-Kern.</a:t>
            </a:r>
          </a:p>
        </p:txBody>
      </p:sp>
    </p:spTree>
    <p:extLst>
      <p:ext uri="{BB962C8B-B14F-4D97-AF65-F5344CB8AC3E}">
        <p14:creationId xmlns:p14="http://schemas.microsoft.com/office/powerpoint/2010/main" val="72045082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Folientitel">
            <a:extLst xmlns:a="http://schemas.openxmlformats.org/drawingml/2006/main">
              <a:ext uri="{FF2B5EF4-FFF2-40B4-BE49-F238E27FC236}">
                <a16:creationId xmlns:a16="http://schemas.microsoft.com/office/drawing/2014/main" id="{04CAF0E5-1223-484F-BCBD-D075AD639D1D}"/>
              </a:ext>
            </a:extLst>
          </p:cNvPr>
          <p:cNvSpPr>
            <a:spLocks xmlns:a="http://schemas.openxmlformats.org/drawingml/2006/main" noGrp="1"/>
          </p:cNvSpPr>
          <p:nvPr/>
        </p:nvSpPr>
        <p:spPr>
          <a:xfrm xmlns:a="http://schemas.openxmlformats.org/drawingml/2006/main">
            <a:off x="400050" y="542925"/>
            <a:ext cx="828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20">
                <a:solidFill>
                  <a:srgbClr val="111111"/>
                </a:solidFill>
                <a:latin typeface="Roboto"/>
                <a:ea typeface="Roboto"/>
                <a:cs typeface="Roboto"/>
              </a:defRPr>
            </a:pPr>
            <a:r>
              <a:rPr sz="1620">
                <a:solidFill>
                  <a:srgbClr val="111111"/>
                </a:solidFill>
                <a:latin typeface="Roboto"/>
                <a:ea typeface="Roboto"/>
                <a:cs typeface="Roboto"/>
              </a:rPr>
              <a:t>Code und Evaluationsergebnisse im Repository</a:t>
            </a:r>
          </a:p>
        </p:txBody>
      </p:sp>
      <p:sp>
        <p:nvSpPr>
          <p:cNvPr id="2" name="Text">
            <a:extLst xmlns:a="http://schemas.openxmlformats.org/drawingml/2006/main">
              <a:ext uri="{FF2B5EF4-FFF2-40B4-BE49-F238E27FC236}">
                <a16:creationId xmlns:a16="http://schemas.microsoft.com/office/drawing/2014/main" id="{2AF9AF54-BA68-4716-A835-ED5ED00883FF}"/>
              </a:ext>
            </a:extLst>
          </p:cNvPr>
          <p:cNvSpPr>
            <a:spLocks xmlns:a="http://schemas.openxmlformats.org/drawingml/2006/main" noGrp="1"/>
          </p:cNvSpPr>
          <p:nvPr/>
        </p:nvSpPr>
        <p:spPr>
          <a:xfrm xmlns:a="http://schemas.openxmlformats.org/drawingml/2006/main">
            <a:off x="400050" y="4772025"/>
            <a:ext cx="798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55">
                <a:solidFill>
                  <a:srgbClr val="315D91"/>
                </a:solidFill>
                <a:latin typeface="Roboto"/>
                <a:ea typeface="Roboto"/>
                <a:cs typeface="Roboto"/>
              </a:defRPr>
            </a:pPr>
            <a:r>
              <a:rPr sz="855">
                <a:solidFill>
                  <a:srgbClr val="315D91"/>
                </a:solidFill>
                <a:latin typeface="Roboto"/>
                <a:ea typeface="Roboto"/>
                <a:cs typeface="Roboto"/>
              </a:rPr>
              <a:t>Referenzdaten: Commit 22ef167; Ergänzung vom 05.10.: SDK-Befund und separate CPU-Prüfung</a:t>
            </a:r>
          </a:p>
        </p:txBody>
      </p:sp>
      <p:sp>
        <p:nvSpPr>
          <p:cNvPr id="3" name="Text">
            <a:extLst xmlns:a="http://schemas.openxmlformats.org/drawingml/2006/main">
              <a:ext uri="{FF2B5EF4-FFF2-40B4-BE49-F238E27FC236}">
                <a16:creationId xmlns:a16="http://schemas.microsoft.com/office/drawing/2014/main" id="{A44C5378-E3A9-45C8-8058-EEE5B650D62D}"/>
              </a:ext>
            </a:extLst>
          </p:cNvPr>
          <p:cNvSpPr>
            <a:spLocks xmlns:a="http://schemas.openxmlformats.org/drawingml/2006/main" noGrp="1"/>
          </p:cNvSpPr>
          <p:nvPr/>
        </p:nvSpPr>
        <p:spPr>
          <a:xfrm xmlns:a="http://schemas.openxmlformats.org/drawingml/2006/main">
            <a:off x="8667750" y="4819650"/>
            <a:ext cx="2286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a:solidFill>
                  <a:srgbClr val="595959"/>
                </a:solidFill>
                <a:latin typeface="Roboto"/>
                <a:ea typeface="Roboto"/>
                <a:cs typeface="Roboto"/>
              </a:defRPr>
            </a:pPr>
            <a:r>
              <a:rPr sz="900">
                <a:solidFill>
                  <a:srgbClr val="595959"/>
                </a:solidFill>
                <a:latin typeface="Roboto"/>
                <a:ea typeface="Roboto"/>
                <a:cs typeface="Roboto"/>
              </a:rPr>
              <a:t>12</a:t>
            </a:r>
          </a:p>
        </p:txBody>
      </p:sp>
      <p:sp>
        <p:nvSpPr>
          <p:cNvPr id="4" name="Text">
            <a:extLst xmlns:a="http://schemas.openxmlformats.org/drawingml/2006/main">
              <a:ext uri="{FF2B5EF4-FFF2-40B4-BE49-F238E27FC236}">
                <a16:creationId xmlns:a16="http://schemas.microsoft.com/office/drawing/2014/main" id="{927CD0C7-835E-418C-9987-6EECE766F0AA}"/>
              </a:ext>
            </a:extLst>
          </p:cNvPr>
          <p:cNvSpPr>
            <a:spLocks xmlns:a="http://schemas.openxmlformats.org/drawingml/2006/main" noGrp="1"/>
          </p:cNvSpPr>
          <p:nvPr/>
        </p:nvSpPr>
        <p:spPr>
          <a:xfrm xmlns:a="http://schemas.openxmlformats.org/drawingml/2006/main">
            <a:off x="542925" y="1076325"/>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a:solidFill>
                  <a:srgbClr val="315D91"/>
                </a:solidFill>
                <a:latin typeface="Roboto"/>
                <a:ea typeface="Roboto"/>
                <a:cs typeface="Roboto"/>
              </a:defRPr>
            </a:pPr>
            <a:r>
              <a:rPr sz="1200">
                <a:solidFill>
                  <a:srgbClr val="315D91"/>
                </a:solidFill>
                <a:latin typeface="Roboto"/>
                <a:ea typeface="Roboto"/>
                <a:cs typeface="Roboto"/>
                <a:hlinkClick xmlns:r="http://schemas.openxmlformats.org/officeDocument/2006/relationships" r:id="R36821170cfd64431"/>
              </a:rPr>
              <a:t>https://github.com/Bharadwaj-Srikumar/qant-sorting-pilot</a:t>
            </a:r>
          </a:p>
        </p:txBody>
      </p:sp>
      <p:graphicFrame>
        <p:nvGraphicFramePr>
          <p:cNvPr id="11" name=""/>
          <p:cNvGraphicFramePr/>
          <p:nvPr/>
        </p:nvGraphicFramePr>
        <p:xfrm>
          <a:off xmlns:a="http://schemas.openxmlformats.org/drawingml/2006/main" x="542925" y="1457325"/>
          <a:ext xmlns:a="http://schemas.openxmlformats.org/drawingml/2006/main" cx="8058150" cy="2724150"/>
        </p:xfrm>
        <a:graphic xmlns:a="http://schemas.openxmlformats.org/drawingml/2006/main">
          <a:graphicData uri="http://schemas.openxmlformats.org/drawingml/2006/table">
            <a:tbl>
              <a:tblPr firstRow="1" bandRow="0"/>
              <a:tblGrid>
                <a:gridCol w="4333875"/>
                <a:gridCol w="3724275"/>
              </a:tblGrid>
              <a:tr h="340519">
                <a:tc>
                  <a:txBody>
                    <a:bodyPr lIns="85725" tIns="66675" rIns="85725" bIns="66675">
                      <a:noAutofit/>
                    </a:bodyPr>
                    <a:lstStyle/>
                    <a:p>
                      <a:r>
                        <a:rPr sz="1095" b="1">
                          <a:solidFill>
                            <a:srgbClr val="111111"/>
                          </a:solidFill>
                          <a:latin typeface="Roboto"/>
                          <a:ea typeface="Roboto"/>
                          <a:cs typeface="Roboto"/>
                        </a:rPr>
                        <a:t>Dateien / Pfad</a:t>
                      </a:r>
                    </a:p>
                  </a:txBody>
                  <a:tcPr marL="91440" marR="91440" marT="45720" marB="45720" anchor="ctr">
                    <a:solidFill>
                      <a:srgbClr val="F1F1F1"/>
                    </a:solidFill>
                  </a:tcPr>
                </a:tc>
                <a:tc>
                  <a:txBody>
                    <a:bodyPr lIns="85725" tIns="66675" rIns="85725" bIns="66675">
                      <a:noAutofit/>
                    </a:bodyPr>
                    <a:lstStyle/>
                    <a:p>
                      <a:r>
                        <a:rPr sz="1095" b="1">
                          <a:solidFill>
                            <a:srgbClr val="111111"/>
                          </a:solidFill>
                          <a:latin typeface="Roboto"/>
                          <a:ea typeface="Roboto"/>
                          <a:cs typeface="Roboto"/>
                        </a:rPr>
                        <a:t>Zweck</a:t>
                      </a:r>
                    </a:p>
                  </a:txBody>
                  <a:tcPr marL="91440" marR="91440" marT="45720" marB="45720" anchor="ctr">
                    <a:solidFill>
                      <a:srgbClr val="F1F1F1"/>
                    </a:solidFill>
                  </a:tcPr>
                </a:tc>
              </a:tr>
              <a:tr h="340519">
                <a:tc>
                  <a:txBody>
                    <a:bodyPr lIns="85725" tIns="66675" rIns="85725" bIns="66675">
                      <a:noAutofit/>
                    </a:bodyPr>
                    <a:lstStyle/>
                    <a:p>
                      <a:r>
                        <a:rPr sz="1095" b="0">
                          <a:solidFill>
                            <a:srgbClr val="595959"/>
                          </a:solidFill>
                          <a:latin typeface="Roboto"/>
                          <a:ea typeface="Roboto"/>
                          <a:cs typeface="Roboto"/>
                        </a:rPr>
                        <a:t>comparison.py; sorting_schedules.py</a:t>
                      </a:r>
                    </a:p>
                  </a:txBody>
                  <a:tcPr marL="91440" marR="91440" marT="45720" marB="45720" anchor="ctr">
                    <a:solidFill>
                      <a:srgbClr val="FFFFFF"/>
                    </a:solidFill>
                  </a:tcPr>
                </a:tc>
                <a:tc>
                  <a:txBody>
                    <a:bodyPr lIns="85725" tIns="66675" rIns="85725" bIns="66675">
                      <a:noAutofit/>
                    </a:bodyPr>
                    <a:lstStyle/>
                    <a:p>
                      <a:r>
                        <a:rPr sz="1095" b="0">
                          <a:solidFill>
                            <a:srgbClr val="595959"/>
                          </a:solidFill>
                          <a:latin typeface="Roboto"/>
                          <a:ea typeface="Roboto"/>
                          <a:cs typeface="Roboto"/>
                        </a:rPr>
                        <a:t>Vergleichsmodell und beide Sortierabläufe</a:t>
                      </a:r>
                    </a:p>
                  </a:txBody>
                  <a:tcPr marL="91440" marR="91440" marT="45720" marB="45720" anchor="ctr">
                    <a:solidFill>
                      <a:srgbClr val="FFFFFF"/>
                    </a:solidFill>
                  </a:tcPr>
                </a:tc>
              </a:tr>
              <a:tr h="340519">
                <a:tc>
                  <a:txBody>
                    <a:bodyPr lIns="85725" tIns="66675" rIns="85725" bIns="66675">
                      <a:noAutofit/>
                    </a:bodyPr>
                    <a:lstStyle/>
                    <a:p>
                      <a:r>
                        <a:rPr sz="1095" b="0">
                          <a:solidFill>
                            <a:srgbClr val="595959"/>
                          </a:solidFill>
                          <a:latin typeface="Roboto"/>
                          <a:ea typeface="Roboto"/>
                          <a:cs typeface="Roboto"/>
                        </a:rPr>
                        <a:t>run_noise_sweep.py; metrics.py</a:t>
                      </a:r>
                    </a:p>
                  </a:txBody>
                  <a:tcPr marL="91440" marR="91440" marT="45720" marB="45720" anchor="ctr">
                    <a:solidFill>
                      <a:srgbClr val="FFFFFF"/>
                    </a:solidFill>
                  </a:tcPr>
                </a:tc>
                <a:tc>
                  <a:txBody>
                    <a:bodyPr lIns="85725" tIns="66675" rIns="85725" bIns="66675">
                      <a:noAutofit/>
                    </a:bodyPr>
                    <a:lstStyle/>
                    <a:p>
                      <a:r>
                        <a:rPr sz="1095" b="0">
                          <a:solidFill>
                            <a:srgbClr val="595959"/>
                          </a:solidFill>
                          <a:latin typeface="Roboto"/>
                          <a:ea typeface="Roboto"/>
                          <a:cs typeface="Roboto"/>
                        </a:rPr>
                        <a:t>Versuchssteuerung und Korrektheitsprüfung</a:t>
                      </a:r>
                    </a:p>
                  </a:txBody>
                  <a:tcPr marL="91440" marR="91440" marT="45720" marB="45720" anchor="ctr">
                    <a:solidFill>
                      <a:srgbClr val="FFFFFF"/>
                    </a:solidFill>
                  </a:tcPr>
                </a:tc>
              </a:tr>
              <a:tr h="340519">
                <a:tc>
                  <a:txBody>
                    <a:bodyPr lIns="85725" tIns="66675" rIns="85725" bIns="66675">
                      <a:noAutofit/>
                    </a:bodyPr>
                    <a:lstStyle/>
                    <a:p>
                      <a:r>
                        <a:rPr sz="1095" b="0">
                          <a:solidFill>
                            <a:srgbClr val="595959"/>
                          </a:solidFill>
                          <a:latin typeface="Roboto"/>
                          <a:ea typeface="Roboto"/>
                          <a:cs typeface="Roboto"/>
                        </a:rPr>
                        <a:t>sdk_mapping.py; run_sdk_control.py</a:t>
                      </a:r>
                    </a:p>
                  </a:txBody>
                  <a:tcPr marL="91440" marR="91440" marT="45720" marB="45720" anchor="ctr">
                    <a:solidFill>
                      <a:srgbClr val="FFFFFF"/>
                    </a:solidFill>
                  </a:tcPr>
                </a:tc>
                <a:tc>
                  <a:txBody>
                    <a:bodyPr lIns="85725" tIns="66675" rIns="85725" bIns="66675">
                      <a:noAutofit/>
                    </a:bodyPr>
                    <a:lstStyle/>
                    <a:p>
                      <a:r>
                        <a:rPr sz="1095" b="0">
                          <a:solidFill>
                            <a:srgbClr val="595959"/>
                          </a:solidFill>
                          <a:latin typeface="Roboto"/>
                          <a:ea typeface="Roboto"/>
                          <a:cs typeface="Roboto"/>
                        </a:rPr>
                        <a:t>Separater Test mit dem Q.ANT-CPU-Backend</a:t>
                      </a:r>
                    </a:p>
                  </a:txBody>
                  <a:tcPr marL="91440" marR="91440" marT="45720" marB="45720" anchor="ctr">
                    <a:solidFill>
                      <a:srgbClr val="FFFFFF"/>
                    </a:solidFill>
                  </a:tcPr>
                </a:tc>
              </a:tr>
              <a:tr h="340519">
                <a:tc>
                  <a:txBody>
                    <a:bodyPr lIns="85725" tIns="66675" rIns="85725" bIns="66675">
                      <a:noAutofit/>
                    </a:bodyPr>
                    <a:lstStyle/>
                    <a:p>
                      <a:r>
                        <a:rPr sz="1095" b="0">
                          <a:solidFill>
                            <a:srgbClr val="595959"/>
                          </a:solidFill>
                          <a:latin typeface="Roboto"/>
                          <a:ea typeface="Roboto"/>
                          <a:cs typeface="Roboto"/>
                        </a:rPr>
                        <a:t>hardware_conditions.py</a:t>
                      </a:r>
                    </a:p>
                  </a:txBody>
                  <a:tcPr marL="91440" marR="91440" marT="45720" marB="45720" anchor="ctr">
                    <a:solidFill>
                      <a:srgbClr val="FFFFFF"/>
                    </a:solidFill>
                  </a:tcPr>
                </a:tc>
                <a:tc>
                  <a:txBody>
                    <a:bodyPr lIns="85725" tIns="66675" rIns="85725" bIns="66675">
                      <a:noAutofit/>
                    </a:bodyPr>
                    <a:lstStyle/>
                    <a:p>
                      <a:r>
                        <a:rPr sz="1095" b="0">
                          <a:solidFill>
                            <a:srgbClr val="595959"/>
                          </a:solidFill>
                          <a:latin typeface="Roboto"/>
                          <a:ea typeface="Roboto"/>
                          <a:cs typeface="Roboto"/>
                        </a:rPr>
                        <a:t>Operations-, Nutzlast- und Batchgrößenvergleich</a:t>
                      </a:r>
                    </a:p>
                  </a:txBody>
                  <a:tcPr marL="91440" marR="91440" marT="45720" marB="45720" anchor="ctr">
                    <a:solidFill>
                      <a:srgbClr val="FFFFFF"/>
                    </a:solidFill>
                  </a:tcPr>
                </a:tc>
              </a:tr>
              <a:tr h="340519">
                <a:tc>
                  <a:txBody>
                    <a:bodyPr lIns="85725" tIns="66675" rIns="85725" bIns="66675">
                      <a:noAutofit/>
                    </a:bodyPr>
                    <a:lstStyle/>
                    <a:p>
                      <a:r>
                        <a:rPr sz="1095" b="0">
                          <a:solidFill>
                            <a:srgbClr val="595959"/>
                          </a:solidFill>
                          <a:latin typeface="Roboto"/>
                          <a:ea typeface="Roboto"/>
                          <a:cs typeface="Roboto"/>
                        </a:rPr>
                        <a:t>results/reference/accuracy.csv</a:t>
                      </a:r>
                    </a:p>
                  </a:txBody>
                  <a:tcPr marL="91440" marR="91440" marT="45720" marB="45720" anchor="ctr">
                    <a:solidFill>
                      <a:srgbClr val="FFFFFF"/>
                    </a:solidFill>
                  </a:tcPr>
                </a:tc>
                <a:tc>
                  <a:txBody>
                    <a:bodyPr lIns="85725" tIns="66675" rIns="85725" bIns="66675">
                      <a:noAutofit/>
                    </a:bodyPr>
                    <a:lstStyle/>
                    <a:p>
                      <a:r>
                        <a:rPr sz="1095" b="0">
                          <a:solidFill>
                            <a:srgbClr val="595959"/>
                          </a:solidFill>
                          <a:latin typeface="Roboto"/>
                          <a:ea typeface="Roboto"/>
                          <a:cs typeface="Roboto"/>
                        </a:rPr>
                        <a:t>Alle 288 Konfigurationen des Rauschsweeps</a:t>
                      </a:r>
                    </a:p>
                  </a:txBody>
                  <a:tcPr marL="91440" marR="91440" marT="45720" marB="45720" anchor="ctr">
                    <a:solidFill>
                      <a:srgbClr val="FFFFFF"/>
                    </a:solidFill>
                  </a:tcPr>
                </a:tc>
              </a:tr>
              <a:tr h="340519">
                <a:tc>
                  <a:txBody>
                    <a:bodyPr lIns="85725" tIns="66675" rIns="85725" bIns="66675">
                      <a:noAutofit/>
                    </a:bodyPr>
                    <a:lstStyle/>
                    <a:p>
                      <a:r>
                        <a:rPr sz="1095" b="0">
                          <a:solidFill>
                            <a:srgbClr val="595959"/>
                          </a:solidFill>
                          <a:latin typeface="Roboto"/>
                          <a:ea typeface="Roboto"/>
                          <a:cs typeface="Roboto"/>
                        </a:rPr>
                        <a:t>results/sdk_reference/results.csv</a:t>
                      </a:r>
                    </a:p>
                  </a:txBody>
                  <a:tcPr marL="91440" marR="91440" marT="45720" marB="45720" anchor="ctr">
                    <a:solidFill>
                      <a:srgbClr val="FFFFFF"/>
                    </a:solidFill>
                  </a:tcPr>
                </a:tc>
                <a:tc>
                  <a:txBody>
                    <a:bodyPr lIns="85725" tIns="66675" rIns="85725" bIns="66675">
                      <a:noAutofit/>
                    </a:bodyPr>
                    <a:lstStyle/>
                    <a:p>
                      <a:r>
                        <a:rPr sz="1095" b="0">
                          <a:solidFill>
                            <a:srgbClr val="595959"/>
                          </a:solidFill>
                          <a:latin typeface="Roboto"/>
                          <a:ea typeface="Roboto"/>
                          <a:cs typeface="Roboto"/>
                        </a:rPr>
                        <a:t>SDK-Test: Filter mode = sdk_cpu</a:t>
                      </a:r>
                    </a:p>
                  </a:txBody>
                  <a:tcPr marL="91440" marR="91440" marT="45720" marB="45720" anchor="ctr">
                    <a:solidFill>
                      <a:srgbClr val="FFFFFF"/>
                    </a:solidFill>
                  </a:tcPr>
                </a:tc>
              </a:tr>
              <a:tr h="340519">
                <a:tc>
                  <a:txBody>
                    <a:bodyPr lIns="85725" tIns="66675" rIns="85725" bIns="66675">
                      <a:noAutofit/>
                    </a:bodyPr>
                    <a:lstStyle/>
                    <a:p>
                      <a:r>
                        <a:rPr sz="1095" b="0">
                          <a:solidFill>
                            <a:srgbClr val="595959"/>
                          </a:solidFill>
                          <a:latin typeface="Roboto"/>
                          <a:ea typeface="Roboto"/>
                          <a:cs typeface="Roboto"/>
                        </a:rPr>
                        <a:t>check_sdk_nonlinearity.py (neu)</a:t>
                      </a:r>
                    </a:p>
                  </a:txBody>
                  <a:tcPr marL="91440" marR="91440" marT="45720" marB="45720" anchor="ctr">
                    <a:solidFill>
                      <a:srgbClr val="FFFFFF"/>
                    </a:solidFill>
                  </a:tcPr>
                </a:tc>
                <a:tc>
                  <a:txBody>
                    <a:bodyPr lIns="85725" tIns="66675" rIns="85725" bIns="66675">
                      <a:noAutofit/>
                    </a:bodyPr>
                    <a:lstStyle/>
                    <a:p>
                      <a:r>
                        <a:rPr sz="1095" b="0">
                          <a:solidFill>
                            <a:srgbClr val="595959"/>
                          </a:solidFill>
                          <a:latin typeface="Roboto"/>
                          <a:ea typeface="Roboto"/>
                          <a:cs typeface="Roboto"/>
                        </a:rPr>
                        <a:t>Separate Min/Max-Kontrolle auf CPU</a:t>
                      </a:r>
                    </a:p>
                  </a:txBody>
                  <a:tcPr marL="91440" marR="91440" marT="45720" marB="45720" anchor="ctr">
                    <a:solidFill>
                      <a:srgbClr val="FFFFFF"/>
                    </a:solidFill>
                  </a:tcPr>
                </a:tc>
              </a:tr>
            </a:tbl>
          </a:graphicData>
        </a:graphic>
      </p:graphicFrame>
      <p:sp>
        <p:nvSpPr>
          <p:cNvPr id="6" name="Text">
            <a:extLst xmlns:a="http://schemas.openxmlformats.org/drawingml/2006/main">
              <a:ext uri="{FF2B5EF4-FFF2-40B4-BE49-F238E27FC236}">
                <a16:creationId xmlns:a16="http://schemas.microsoft.com/office/drawing/2014/main" id="{83EF711B-70D8-4F5B-B64F-C324F6B3CBAC}"/>
              </a:ext>
            </a:extLst>
          </p:cNvPr>
          <p:cNvSpPr>
            <a:spLocks xmlns:a="http://schemas.openxmlformats.org/drawingml/2006/main" noGrp="1"/>
          </p:cNvSpPr>
          <p:nvPr/>
        </p:nvSpPr>
        <p:spPr>
          <a:xfrm xmlns:a="http://schemas.openxmlformats.org/drawingml/2006/main">
            <a:off x="542925" y="4324350"/>
            <a:ext cx="814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a:solidFill>
                  <a:srgbClr val="595959"/>
                </a:solidFill>
                <a:latin typeface="Roboto"/>
                <a:ea typeface="Roboto"/>
                <a:cs typeface="Roboto"/>
              </a:defRPr>
            </a:pPr>
            <a:r>
              <a:rPr sz="1125">
                <a:solidFill>
                  <a:srgbClr val="595959"/>
                </a:solidFill>
                <a:latin typeface="Roboto"/>
                <a:ea typeface="Roboto"/>
                <a:cs typeface="Roboto"/>
              </a:rPr>
              <a:t>Neu im aktualisierten Projekt-ZIP: docs/QANT_NONLINEARITY.md und</a:t>
            </a:r>
          </a:p>
          <a:p xmlns:a="http://schemas.openxmlformats.org/drawingml/2006/main">
            <a:pPr algn="l">
              <a:defRPr sz="1125">
                <a:solidFill>
                  <a:srgbClr val="595959"/>
                </a:solidFill>
                <a:latin typeface="Roboto"/>
                <a:ea typeface="Roboto"/>
                <a:cs typeface="Roboto"/>
              </a:defRPr>
            </a:pPr>
            <a:r>
              <a:rPr sz="1125">
                <a:solidFill>
                  <a:srgbClr val="595959"/>
                </a:solidFill>
                <a:latin typeface="Roboto"/>
                <a:ea typeface="Roboto"/>
                <a:cs typeface="Roboto"/>
              </a:rPr>
              <a:t>validation/nonlinearity_check.json. GitHub-Abgleich derzeit durch Zugriff blockiert.</a:t>
            </a:r>
          </a:p>
        </p:txBody>
      </p:sp>
    </p:spTree>
    <p:extLst>
      <p:ext uri="{BB962C8B-B14F-4D97-AF65-F5344CB8AC3E}">
        <p14:creationId xmlns:p14="http://schemas.microsoft.com/office/powerpoint/2010/main" val="75228709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Folientitel">
            <a:extLst xmlns:a="http://schemas.openxmlformats.org/drawingml/2006/main">
              <a:ext uri="{FF2B5EF4-FFF2-40B4-BE49-F238E27FC236}">
                <a16:creationId xmlns:a16="http://schemas.microsoft.com/office/drawing/2014/main" id="{FDEDB062-D852-44D0-951A-132F3B4C6293}"/>
              </a:ext>
            </a:extLst>
          </p:cNvPr>
          <p:cNvSpPr>
            <a:spLocks xmlns:a="http://schemas.openxmlformats.org/drawingml/2006/main" noGrp="1"/>
          </p:cNvSpPr>
          <p:nvPr/>
        </p:nvSpPr>
        <p:spPr>
          <a:xfrm xmlns:a="http://schemas.openxmlformats.org/drawingml/2006/main">
            <a:off x="400050" y="542925"/>
            <a:ext cx="828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20">
                <a:solidFill>
                  <a:srgbClr val="111111"/>
                </a:solidFill>
                <a:latin typeface="Roboto"/>
                <a:ea typeface="Roboto"/>
                <a:cs typeface="Roboto"/>
              </a:defRPr>
            </a:pPr>
            <a:r>
              <a:rPr sz="1620">
                <a:solidFill>
                  <a:srgbClr val="111111"/>
                </a:solidFill>
                <a:latin typeface="Roboto"/>
                <a:ea typeface="Roboto"/>
                <a:cs typeface="Roboto"/>
              </a:rPr>
              <a:t>Annahmen und Grenzen des aktuellen Standes</a:t>
            </a:r>
          </a:p>
        </p:txBody>
      </p:sp>
      <p:sp>
        <p:nvSpPr>
          <p:cNvPr id="2" name="Text">
            <a:extLst xmlns:a="http://schemas.openxmlformats.org/drawingml/2006/main">
              <a:ext uri="{FF2B5EF4-FFF2-40B4-BE49-F238E27FC236}">
                <a16:creationId xmlns:a16="http://schemas.microsoft.com/office/drawing/2014/main" id="{067ACF78-0771-4813-A62A-7C7C5786496F}"/>
              </a:ext>
            </a:extLst>
          </p:cNvPr>
          <p:cNvSpPr>
            <a:spLocks xmlns:a="http://schemas.openxmlformats.org/drawingml/2006/main" noGrp="1"/>
          </p:cNvSpPr>
          <p:nvPr/>
        </p:nvSpPr>
        <p:spPr>
          <a:xfrm xmlns:a="http://schemas.openxmlformats.org/drawingml/2006/main">
            <a:off x="400050" y="4772025"/>
            <a:ext cx="798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55">
                <a:solidFill>
                  <a:srgbClr val="315D91"/>
                </a:solidFill>
                <a:latin typeface="Roboto"/>
                <a:ea typeface="Roboto"/>
                <a:cs typeface="Roboto"/>
              </a:defRPr>
            </a:pPr>
            <a:r>
              <a:rPr sz="855">
                <a:solidFill>
                  <a:srgbClr val="315D91"/>
                </a:solidFill>
                <a:latin typeface="Roboto"/>
                <a:ea typeface="Roboto"/>
                <a:cs typeface="Roboto"/>
              </a:rPr>
              <a:t>Die neuen Quellenbefunde ändern die Einordnung; die bestehenden Rauschresultate bleiben unverändert</a:t>
            </a:r>
          </a:p>
        </p:txBody>
      </p:sp>
      <p:sp>
        <p:nvSpPr>
          <p:cNvPr id="3" name="Text">
            <a:extLst xmlns:a="http://schemas.openxmlformats.org/drawingml/2006/main">
              <a:ext uri="{FF2B5EF4-FFF2-40B4-BE49-F238E27FC236}">
                <a16:creationId xmlns:a16="http://schemas.microsoft.com/office/drawing/2014/main" id="{9000DC68-A3C5-4990-B2E4-EDB6C75CD5FE}"/>
              </a:ext>
            </a:extLst>
          </p:cNvPr>
          <p:cNvSpPr>
            <a:spLocks xmlns:a="http://schemas.openxmlformats.org/drawingml/2006/main" noGrp="1"/>
          </p:cNvSpPr>
          <p:nvPr/>
        </p:nvSpPr>
        <p:spPr>
          <a:xfrm xmlns:a="http://schemas.openxmlformats.org/drawingml/2006/main">
            <a:off x="8667750" y="4819650"/>
            <a:ext cx="2286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a:solidFill>
                  <a:srgbClr val="595959"/>
                </a:solidFill>
                <a:latin typeface="Roboto"/>
                <a:ea typeface="Roboto"/>
                <a:cs typeface="Roboto"/>
              </a:defRPr>
            </a:pPr>
            <a:r>
              <a:rPr sz="900">
                <a:solidFill>
                  <a:srgbClr val="595959"/>
                </a:solidFill>
                <a:latin typeface="Roboto"/>
                <a:ea typeface="Roboto"/>
                <a:cs typeface="Roboto"/>
              </a:rPr>
              <a:t>13</a:t>
            </a:r>
          </a:p>
        </p:txBody>
      </p:sp>
      <p:graphicFrame>
        <p:nvGraphicFramePr>
          <p:cNvPr id="9" name=""/>
          <p:cNvGraphicFramePr/>
          <p:nvPr/>
        </p:nvGraphicFramePr>
        <p:xfrm>
          <a:off xmlns:a="http://schemas.openxmlformats.org/drawingml/2006/main" x="542925" y="1133475"/>
          <a:ext xmlns:a="http://schemas.openxmlformats.org/drawingml/2006/main" cx="8058150" cy="2428875"/>
        </p:xfrm>
        <a:graphic xmlns:a="http://schemas.openxmlformats.org/drawingml/2006/main">
          <a:graphicData uri="http://schemas.openxmlformats.org/drawingml/2006/table">
            <a:tbl>
              <a:tblPr firstRow="1" bandRow="0"/>
              <a:tblGrid>
                <a:gridCol w="4048125"/>
                <a:gridCol w="4010025"/>
              </a:tblGrid>
              <a:tr h="485775">
                <a:tc>
                  <a:txBody>
                    <a:bodyPr lIns="85725" tIns="66675" rIns="85725" bIns="66675">
                      <a:noAutofit/>
                    </a:bodyPr>
                    <a:lstStyle/>
                    <a:p>
                      <a:r>
                        <a:rPr sz="1133" b="1">
                          <a:solidFill>
                            <a:srgbClr val="111111"/>
                          </a:solidFill>
                          <a:latin typeface="Roboto"/>
                          <a:ea typeface="Roboto"/>
                          <a:cs typeface="Roboto"/>
                        </a:rPr>
                        <a:t>Beibehaltene Annahme</a:t>
                      </a:r>
                    </a:p>
                  </a:txBody>
                  <a:tcPr marL="91440" marR="91440" marT="45720" marB="45720" anchor="ctr">
                    <a:solidFill>
                      <a:srgbClr val="F1F1F1"/>
                    </a:solidFill>
                  </a:tcPr>
                </a:tc>
                <a:tc>
                  <a:txBody>
                    <a:bodyPr lIns="85725" tIns="66675" rIns="85725" bIns="66675">
                      <a:noAutofit/>
                    </a:bodyPr>
                    <a:lstStyle/>
                    <a:p>
                      <a:r>
                        <a:rPr sz="1133" b="1">
                          <a:solidFill>
                            <a:srgbClr val="111111"/>
                          </a:solidFill>
                          <a:latin typeface="Roboto"/>
                          <a:ea typeface="Roboto"/>
                          <a:cs typeface="Roboto"/>
                        </a:rPr>
                        <a:t>Grenze der Aussage</a:t>
                      </a:r>
                    </a:p>
                  </a:txBody>
                  <a:tcPr marL="91440" marR="91440" marT="45720" marB="45720" anchor="ctr">
                    <a:solidFill>
                      <a:srgbClr val="F1F1F1"/>
                    </a:solidFill>
                  </a:tcPr>
                </a:tc>
              </a:tr>
              <a:tr h="485775">
                <a:tc>
                  <a:txBody>
                    <a:bodyPr lIns="85725" tIns="66675" rIns="85725" bIns="66675">
                      <a:noAutofit/>
                    </a:bodyPr>
                    <a:lstStyle/>
                    <a:p>
                      <a:r>
                        <a:rPr sz="1133" b="0">
                          <a:solidFill>
                            <a:srgbClr val="595959"/>
                          </a:solidFill>
                          <a:latin typeface="Roboto"/>
                          <a:ea typeface="Roboto"/>
                          <a:cs typeface="Roboto"/>
                        </a:rPr>
                        <a:t>4/8 Bit; Δᵢₙ = Δₒᵤₜ = 2⁻ᵇ</a:t>
                      </a:r>
                    </a:p>
                    <a:p>
                      <a:r>
                        <a:rPr sz="1133" b="0">
                          <a:solidFill>
                            <a:srgbClr val="595959"/>
                          </a:solidFill>
                          <a:latin typeface="Roboto"/>
                          <a:ea typeface="Roboto"/>
                          <a:cs typeface="Roboto"/>
                        </a:rPr>
                        <a:t>η = 0 bis 0,25 Ausgangsschritte</a:t>
                      </a:r>
                    </a:p>
                  </a:txBody>
                  <a:tcPr marL="91440" marR="91440" marT="45720" marB="45720" anchor="ctr">
                    <a:solidFill>
                      <a:srgbClr val="FFFFFF"/>
                    </a:solidFill>
                  </a:tcPr>
                </a:tc>
                <a:tc>
                  <a:txBody>
                    <a:bodyPr lIns="85725" tIns="66675" rIns="85725" bIns="66675">
                      <a:noAutofit/>
                    </a:bodyPr>
                    <a:lstStyle/>
                    <a:p>
                      <a:r>
                        <a:rPr sz="1133" b="0">
                          <a:solidFill>
                            <a:srgbClr val="595959"/>
                          </a:solidFill>
                          <a:latin typeface="Roboto"/>
                          <a:ea typeface="Roboto"/>
                          <a:cs typeface="Roboto"/>
                        </a:rPr>
                        <a:t>Illustratives unabhängiges Gaußrauschen; keine gemessenen Q.ANT-Werte.</a:t>
                      </a:r>
                    </a:p>
                  </a:txBody>
                  <a:tcPr marL="91440" marR="91440" marT="45720" marB="45720" anchor="ctr">
                    <a:solidFill>
                      <a:srgbClr val="FFFFFF"/>
                    </a:solidFill>
                  </a:tcPr>
                </a:tc>
              </a:tr>
              <a:tr h="485775">
                <a:tc>
                  <a:txBody>
                    <a:bodyPr lIns="85725" tIns="66675" rIns="85725" bIns="66675">
                      <a:noAutofit/>
                    </a:bodyPr>
                    <a:lstStyle/>
                    <a:p>
                      <a:r>
                        <a:rPr sz="1133" b="0">
                          <a:solidFill>
                            <a:srgbClr val="595959"/>
                          </a:solidFill>
                          <a:latin typeface="Roboto"/>
                          <a:ea typeface="Roboto"/>
                          <a:cs typeface="Roboto"/>
                        </a:rPr>
                        <a:t>Originalschlüssel, Indexregel, Rangsummen</a:t>
                      </a:r>
                    </a:p>
                    <a:p>
                      <a:r>
                        <a:rPr sz="1133" b="0">
                          <a:solidFill>
                            <a:srgbClr val="595959"/>
                          </a:solidFill>
                          <a:latin typeface="Roboto"/>
                          <a:ea typeface="Roboto"/>
                          <a:cs typeface="Roboto"/>
                        </a:rPr>
                        <a:t>und Weiterleitung bleiben elektronisch</a:t>
                      </a:r>
                    </a:p>
                  </a:txBody>
                  <a:tcPr marL="91440" marR="91440" marT="45720" marB="45720" anchor="ctr">
                    <a:solidFill>
                      <a:srgbClr val="FFFFFF"/>
                    </a:solidFill>
                  </a:tcPr>
                </a:tc>
                <a:tc>
                  <a:txBody>
                    <a:bodyPr lIns="85725" tIns="66675" rIns="85725" bIns="66675">
                      <a:noAutofit/>
                    </a:bodyPr>
                    <a:lstStyle/>
                    <a:p>
                      <a:r>
                        <a:rPr sz="1133" b="0">
                          <a:solidFill>
                            <a:srgbClr val="595959"/>
                          </a:solidFill>
                          <a:latin typeface="Roboto"/>
                          <a:ea typeface="Roboto"/>
                          <a:cs typeface="Roboto"/>
                        </a:rPr>
                        <a:t>Keine analoge Fehlerfortpflanzung über mehrere optische Sortierstufen.</a:t>
                      </a:r>
                    </a:p>
                  </a:txBody>
                  <a:tcPr marL="91440" marR="91440" marT="45720" marB="45720" anchor="ctr">
                    <a:solidFill>
                      <a:srgbClr val="FFFFFF"/>
                    </a:solidFill>
                  </a:tcPr>
                </a:tc>
              </a:tr>
              <a:tr h="485775">
                <a:tc>
                  <a:txBody>
                    <a:bodyPr lIns="85725" tIns="66675" rIns="85725" bIns="66675">
                      <a:noAutofit/>
                    </a:bodyPr>
                    <a:lstStyle/>
                    <a:p>
                      <a:r>
                        <a:rPr sz="1133" b="0">
                          <a:solidFill>
                            <a:srgbClr val="595959"/>
                          </a:solidFill>
                          <a:latin typeface="Roboto"/>
                          <a:ea typeface="Roboto"/>
                          <a:cs typeface="Roboto"/>
                        </a:rPr>
                        <a:t>SDK-Kontrolle mit BF16 auf CPU</a:t>
                      </a:r>
                    </a:p>
                  </a:txBody>
                  <a:tcPr marL="91440" marR="91440" marT="45720" marB="45720" anchor="ctr">
                    <a:solidFill>
                      <a:srgbClr val="FFFFFF"/>
                    </a:solidFill>
                  </a:tcPr>
                </a:tc>
                <a:tc>
                  <a:txBody>
                    <a:bodyPr lIns="85725" tIns="66675" rIns="85725" bIns="66675">
                      <a:noAutofit/>
                    </a:bodyPr>
                    <a:lstStyle/>
                    <a:p>
                      <a:r>
                        <a:rPr sz="1133" b="0">
                          <a:solidFill>
                            <a:srgbClr val="595959"/>
                          </a:solidFill>
                          <a:latin typeface="Roboto"/>
                          <a:ea typeface="Roboto"/>
                          <a:cs typeface="Roboto"/>
                        </a:rPr>
                        <a:t>BF16 ist ein Datenformat; optische ENOB und Hardwarelatenz folgen daraus nicht.</a:t>
                      </a:r>
                    </a:p>
                  </a:txBody>
                  <a:tcPr marL="91440" marR="91440" marT="45720" marB="45720" anchor="ctr">
                    <a:solidFill>
                      <a:srgbClr val="FFFFFF"/>
                    </a:solidFill>
                  </a:tcPr>
                </a:tc>
              </a:tr>
              <a:tr h="485775">
                <a:tc>
                  <a:txBody>
                    <a:bodyPr lIns="85725" tIns="66675" rIns="85725" bIns="66675">
                      <a:noAutofit/>
                    </a:bodyPr>
                    <a:lstStyle/>
                    <a:p>
                      <a:r>
                        <a:rPr sz="1133" b="0">
                          <a:solidFill>
                            <a:srgbClr val="595959"/>
                          </a:solidFill>
                          <a:latin typeface="Roboto"/>
                          <a:ea typeface="Roboto"/>
                          <a:cs typeface="Roboto"/>
                        </a:rPr>
                        <a:t>Neue ReLU-Kontrolle: genaue Differenzen,</a:t>
                      </a:r>
                    </a:p>
                    <a:p>
                      <a:r>
                        <a:rPr sz="1133" b="0">
                          <a:solidFill>
                            <a:srgbClr val="595959"/>
                          </a:solidFill>
                          <a:latin typeface="Roboto"/>
                          <a:ea typeface="Roboto"/>
                          <a:cs typeface="Roboto"/>
                        </a:rPr>
                        <a:t>kein Zusatzrauschen und kein Clipping</a:t>
                      </a:r>
                    </a:p>
                  </a:txBody>
                  <a:tcPr marL="91440" marR="91440" marT="45720" marB="45720" anchor="ctr">
                    <a:solidFill>
                      <a:srgbClr val="FFFFFF"/>
                    </a:solidFill>
                  </a:tcPr>
                </a:tc>
                <a:tc>
                  <a:txBody>
                    <a:bodyPr lIns="85725" tIns="66675" rIns="85725" bIns="66675">
                      <a:noAutofit/>
                    </a:bodyPr>
                    <a:lstStyle/>
                    <a:p>
                      <a:r>
                        <a:rPr sz="1133" b="0">
                          <a:solidFill>
                            <a:srgbClr val="595959"/>
                          </a:solidFill>
                          <a:latin typeface="Roboto"/>
                          <a:ea typeface="Roboto"/>
                          <a:cs typeface="Roboto"/>
                        </a:rPr>
                        <a:t>Prüft die Min/Max-Identität; ersetzt keinen vollständigen Sortier- oder Hardwaretest.</a:t>
                      </a:r>
                    </a:p>
                  </a:txBody>
                  <a:tcPr marL="91440" marR="91440" marT="45720" marB="45720" anchor="ctr">
                    <a:solidFill>
                      <a:srgbClr val="FFFFFF"/>
                    </a:solidFill>
                  </a:tcPr>
                </a:tc>
              </a:tr>
            </a:tbl>
          </a:graphicData>
        </a:graphic>
      </p:graphicFrame>
      <p:sp>
        <p:nvSpPr>
          <p:cNvPr id="5" name="Text">
            <a:extLst xmlns:a="http://schemas.openxmlformats.org/drawingml/2006/main">
              <a:ext uri="{FF2B5EF4-FFF2-40B4-BE49-F238E27FC236}">
                <a16:creationId xmlns:a16="http://schemas.microsoft.com/office/drawing/2014/main" id="{3AF580B9-7D21-46E0-B86E-27DB8C176B5C}"/>
              </a:ext>
            </a:extLst>
          </p:cNvPr>
          <p:cNvSpPr>
            <a:spLocks xmlns:a="http://schemas.openxmlformats.org/drawingml/2006/main" noGrp="1"/>
          </p:cNvSpPr>
          <p:nvPr/>
        </p:nvSpPr>
        <p:spPr>
          <a:xfrm xmlns:a="http://schemas.openxmlformats.org/drawingml/2006/main">
            <a:off x="542925" y="3829050"/>
            <a:ext cx="811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a:solidFill>
                  <a:srgbClr val="595959"/>
                </a:solidFill>
                <a:latin typeface="Roboto"/>
                <a:ea typeface="Roboto"/>
                <a:cs typeface="Roboto"/>
              </a:defRPr>
            </a:pPr>
            <a:r>
              <a:rPr sz="1275">
                <a:solidFill>
                  <a:srgbClr val="595959"/>
                </a:solidFill>
                <a:latin typeface="Roboto"/>
                <a:ea typeface="Roboto"/>
                <a:cs typeface="Roboto"/>
              </a:rPr>
              <a:t>Neu zu definieren, bevor wir das nichtlineare Mapping evaluieren:</a:t>
            </a:r>
          </a:p>
          <a:p xmlns:a="http://schemas.openxmlformats.org/drawingml/2006/main">
            <a:pPr algn="l">
              <a:defRPr sz="1275">
                <a:solidFill>
                  <a:srgbClr val="595959"/>
                </a:solidFill>
                <a:latin typeface="Roboto"/>
                <a:ea typeface="Roboto"/>
                <a:cs typeface="Roboto"/>
              </a:defRPr>
            </a:pPr>
            <a:r>
              <a:rPr sz="1275">
                <a:solidFill>
                  <a:srgbClr val="595959"/>
                </a:solidFill>
                <a:latin typeface="Roboto"/>
                <a:ea typeface="Roboto"/>
                <a:cs typeface="Roboto"/>
              </a:rPr>
              <a:t>Kennlinie und Skalierung, Gleichstandsregel, Fehlermaß und zusätzliche Hardwareoperationen.</a:t>
            </a:r>
          </a:p>
        </p:txBody>
      </p:sp>
    </p:spTree>
    <p:extLst>
      <p:ext uri="{BB962C8B-B14F-4D97-AF65-F5344CB8AC3E}">
        <p14:creationId xmlns:p14="http://schemas.microsoft.com/office/powerpoint/2010/main" val="4687744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Folientitel">
            <a:extLst xmlns:a="http://schemas.openxmlformats.org/drawingml/2006/main">
              <a:ext uri="{FF2B5EF4-FFF2-40B4-BE49-F238E27FC236}">
                <a16:creationId xmlns:a16="http://schemas.microsoft.com/office/drawing/2014/main" id="{805F3C75-6008-4196-B71A-47271A9C83B6}"/>
              </a:ext>
            </a:extLst>
          </p:cNvPr>
          <p:cNvSpPr>
            <a:spLocks xmlns:a="http://schemas.openxmlformats.org/drawingml/2006/main" noGrp="1"/>
          </p:cNvSpPr>
          <p:nvPr/>
        </p:nvSpPr>
        <p:spPr>
          <a:xfrm xmlns:a="http://schemas.openxmlformats.org/drawingml/2006/main">
            <a:off x="400050" y="542925"/>
            <a:ext cx="828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20">
                <a:solidFill>
                  <a:srgbClr val="111111"/>
                </a:solidFill>
                <a:latin typeface="Roboto"/>
                <a:ea typeface="Roboto"/>
                <a:cs typeface="Roboto"/>
              </a:defRPr>
            </a:pPr>
            <a:r>
              <a:rPr sz="1620">
                <a:solidFill>
                  <a:srgbClr val="111111"/>
                </a:solidFill>
                <a:latin typeface="Roboto"/>
                <a:ea typeface="Roboto"/>
                <a:cs typeface="Roboto"/>
              </a:rPr>
              <a:t>Nächste Schritte und vorgeschlagener Thesis-Fokus</a:t>
            </a:r>
          </a:p>
        </p:txBody>
      </p:sp>
      <p:sp>
        <p:nvSpPr>
          <p:cNvPr id="2" name="Text">
            <a:extLst xmlns:a="http://schemas.openxmlformats.org/drawingml/2006/main">
              <a:ext uri="{FF2B5EF4-FFF2-40B4-BE49-F238E27FC236}">
                <a16:creationId xmlns:a16="http://schemas.microsoft.com/office/drawing/2014/main" id="{7A79248A-CB3E-402A-BD72-F3364A60B8B7}"/>
              </a:ext>
            </a:extLst>
          </p:cNvPr>
          <p:cNvSpPr>
            <a:spLocks xmlns:a="http://schemas.openxmlformats.org/drawingml/2006/main" noGrp="1"/>
          </p:cNvSpPr>
          <p:nvPr/>
        </p:nvSpPr>
        <p:spPr>
          <a:xfrm xmlns:a="http://schemas.openxmlformats.org/drawingml/2006/main">
            <a:off x="400050" y="4772025"/>
            <a:ext cx="798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55">
                <a:solidFill>
                  <a:srgbClr val="315D91"/>
                </a:solidFill>
                <a:latin typeface="Roboto"/>
                <a:ea typeface="Roboto"/>
                <a:cs typeface="Roboto"/>
              </a:defRPr>
            </a:pPr>
            <a:r>
              <a:rPr sz="855">
                <a:solidFill>
                  <a:srgbClr val="315D91"/>
                </a:solidFill>
                <a:latin typeface="Roboto"/>
                <a:ea typeface="Roboto"/>
                <a:cs typeface="Roboto"/>
              </a:rPr>
              <a:t>Bezug zum Professorenfeedback: Korrektheit, Ressourcen, Nichtlinearität und Regeneration</a:t>
            </a:r>
          </a:p>
        </p:txBody>
      </p:sp>
      <p:sp>
        <p:nvSpPr>
          <p:cNvPr id="3" name="Text">
            <a:extLst xmlns:a="http://schemas.openxmlformats.org/drawingml/2006/main">
              <a:ext uri="{FF2B5EF4-FFF2-40B4-BE49-F238E27FC236}">
                <a16:creationId xmlns:a16="http://schemas.microsoft.com/office/drawing/2014/main" id="{64D9D800-7AA0-4AD2-AC04-E0E7D8485666}"/>
              </a:ext>
            </a:extLst>
          </p:cNvPr>
          <p:cNvSpPr>
            <a:spLocks xmlns:a="http://schemas.openxmlformats.org/drawingml/2006/main" noGrp="1"/>
          </p:cNvSpPr>
          <p:nvPr/>
        </p:nvSpPr>
        <p:spPr>
          <a:xfrm xmlns:a="http://schemas.openxmlformats.org/drawingml/2006/main">
            <a:off x="8667750" y="4819650"/>
            <a:ext cx="2286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00">
                <a:solidFill>
                  <a:srgbClr val="595959"/>
                </a:solidFill>
                <a:latin typeface="Roboto"/>
                <a:ea typeface="Roboto"/>
                <a:cs typeface="Roboto"/>
              </a:defRPr>
            </a:pPr>
            <a:r>
              <a:rPr sz="900">
                <a:solidFill>
                  <a:srgbClr val="595959"/>
                </a:solidFill>
                <a:latin typeface="Roboto"/>
                <a:ea typeface="Roboto"/>
                <a:cs typeface="Roboto"/>
              </a:rPr>
              <a:t>14</a:t>
            </a:r>
          </a:p>
        </p:txBody>
      </p:sp>
      <p:sp>
        <p:nvSpPr>
          <p:cNvPr id="4" name="Text">
            <a:extLst xmlns:a="http://schemas.openxmlformats.org/drawingml/2006/main">
              <a:ext uri="{FF2B5EF4-FFF2-40B4-BE49-F238E27FC236}">
                <a16:creationId xmlns:a16="http://schemas.microsoft.com/office/drawing/2014/main" id="{BCE82C6E-FF66-4DB8-B915-2DD1460825F9}"/>
              </a:ext>
            </a:extLst>
          </p:cNvPr>
          <p:cNvSpPr>
            <a:spLocks xmlns:a="http://schemas.openxmlformats.org/drawingml/2006/main" noGrp="1"/>
          </p:cNvSpPr>
          <p:nvPr/>
        </p:nvSpPr>
        <p:spPr>
          <a:xfrm xmlns:a="http://schemas.openxmlformats.org/drawingml/2006/main">
            <a:off x="542925" y="1095375"/>
            <a:ext cx="8077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a:solidFill>
                  <a:srgbClr val="111111"/>
                </a:solidFill>
                <a:latin typeface="Roboto"/>
                <a:ea typeface="Roboto"/>
                <a:cs typeface="Roboto"/>
              </a:defRPr>
            </a:pPr>
            <a:r>
              <a:rPr sz="1425">
                <a:solidFill>
                  <a:srgbClr val="111111"/>
                </a:solidFill>
                <a:latin typeface="Roboto"/>
                <a:ea typeface="Roboto"/>
                <a:cs typeface="Roboto"/>
              </a:rPr>
              <a:t>Unter welchen Korrektheits- und Ressourcenbedingungen lassen sich Bitonic-</a:t>
            </a:r>
          </a:p>
          <a:p xmlns:a="http://schemas.openxmlformats.org/drawingml/2006/main">
            <a:pPr algn="l">
              <a:defRPr sz="1425">
                <a:solidFill>
                  <a:srgbClr val="111111"/>
                </a:solidFill>
                <a:latin typeface="Roboto"/>
                <a:ea typeface="Roboto"/>
                <a:cs typeface="Roboto"/>
              </a:defRPr>
            </a:pPr>
            <a:r>
              <a:rPr sz="1425">
                <a:solidFill>
                  <a:srgbClr val="111111"/>
                </a:solidFill>
                <a:latin typeface="Roboto"/>
                <a:ea typeface="Roboto"/>
                <a:cs typeface="Roboto"/>
              </a:rPr>
              <a:t>und Rangsortierung sinnvoll auf hybride photonische Prozessoren abbilden?</a:t>
            </a:r>
          </a:p>
        </p:txBody>
      </p:sp>
      <p:sp>
        <p:nvSpPr>
          <p:cNvPr id="5" name="Text">
            <a:extLst xmlns:a="http://schemas.openxmlformats.org/drawingml/2006/main">
              <a:ext uri="{FF2B5EF4-FFF2-40B4-BE49-F238E27FC236}">
                <a16:creationId xmlns:a16="http://schemas.microsoft.com/office/drawing/2014/main" id="{41860E94-446F-4C23-AC63-6B6EF796D850}"/>
              </a:ext>
            </a:extLst>
          </p:cNvPr>
          <p:cNvSpPr>
            <a:spLocks xmlns:a="http://schemas.openxmlformats.org/drawingml/2006/main" noGrp="1"/>
          </p:cNvSpPr>
          <p:nvPr/>
        </p:nvSpPr>
        <p:spPr>
          <a:xfrm xmlns:a="http://schemas.openxmlformats.org/drawingml/2006/main">
            <a:off x="542925" y="1838325"/>
            <a:ext cx="8105775"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15900" indent="-139700" algn="l">
              <a:spcAft>
                <a:spcPts val="1000"/>
              </a:spcAft>
              <a:buChar char="➔"/>
              <a:defRPr sz="1200">
                <a:solidFill>
                  <a:srgbClr val="595959"/>
                </a:solidFill>
                <a:latin typeface="Roboto"/>
                <a:ea typeface="Roboto"/>
                <a:cs typeface="Roboto"/>
              </a:defRPr>
            </a:pPr>
            <a:r>
              <a:t>Zuerst einen Vergleich mit der dokumentierten tcos-Funktion herleiten und im SDK prüfen. Noch kein validiertes nichtlineares Sortiermapping.</a:t>
            </a:r>
          </a:p>
          <a:p xmlns:a="http://schemas.openxmlformats.org/drawingml/2006/main">
            <a:pPr marL="215900" indent="-139700" algn="l">
              <a:spcAft>
                <a:spcPts val="1000"/>
              </a:spcAft>
              <a:buChar char="➔"/>
              <a:defRPr sz="1200">
                <a:solidFill>
                  <a:srgbClr val="595959"/>
                </a:solidFill>
                <a:latin typeface="Roboto"/>
                <a:ea typeface="Roboto"/>
                <a:cs typeface="Roboto"/>
              </a:defRPr>
            </a:pPr>
            <a:r>
              <a:t>Gleichheit und kleinste Schlüsselabstände im ganzen Wertebereich testen. Danach zusätzliche Aufrufe, Transfers und Genauigkeitsverluste bilanzieren.</a:t>
            </a:r>
          </a:p>
          <a:p xmlns:a="http://schemas.openxmlformats.org/drawingml/2006/main">
            <a:pPr marL="215900" indent="-139700" algn="l">
              <a:spcAft>
                <a:spcPts val="1000"/>
              </a:spcAft>
              <a:buChar char="➔"/>
              <a:defRPr sz="1200">
                <a:solidFill>
                  <a:srgbClr val="595959"/>
                </a:solidFill>
                <a:latin typeface="Roboto"/>
                <a:ea typeface="Roboto"/>
                <a:cs typeface="Roboto"/>
              </a:defRPr>
            </a:pPr>
            <a:r>
              <a:t>Mit Q.ANT den realen Ausführungspfad klären und Messungen zu Kennlinie, Rauschen und Latenz anstreben. Regeneration nur bei belegter Kaskadierbarkeit variieren.</a:t>
            </a:r>
          </a:p>
          <a:p xmlns:a="http://schemas.openxmlformats.org/drawingml/2006/main">
            <a:pPr marL="215900" indent="-139700" algn="l">
              <a:spcAft>
                <a:spcPts val="1000"/>
              </a:spcAft>
              <a:buChar char="➔"/>
              <a:defRPr sz="1200">
                <a:solidFill>
                  <a:srgbClr val="595959"/>
                </a:solidFill>
                <a:latin typeface="Roboto"/>
                <a:ea typeface="Roboto"/>
                <a:cs typeface="Roboto"/>
              </a:defRPr>
            </a:pPr>
            <a:r>
              <a:t>Beide Sortierer unter denselben Korrektheits- und Ressourcenanforderungen vergleichen. Energie folgt mit belastbaren Zeit- und Leistungsdaten.</a:t>
            </a:r>
          </a:p>
        </p:txBody>
      </p:sp>
      <p:sp>
        <p:nvSpPr>
          <p:cNvPr id="6" name="Text">
            <a:extLst xmlns:a="http://schemas.openxmlformats.org/drawingml/2006/main">
              <a:ext uri="{FF2B5EF4-FFF2-40B4-BE49-F238E27FC236}">
                <a16:creationId xmlns:a16="http://schemas.microsoft.com/office/drawing/2014/main" id="{1889E7AD-0E4A-4F8F-ABF4-691909124856}"/>
              </a:ext>
            </a:extLst>
          </p:cNvPr>
          <p:cNvSpPr>
            <a:spLocks xmlns:a="http://schemas.openxmlformats.org/drawingml/2006/main" noGrp="1"/>
          </p:cNvSpPr>
          <p:nvPr/>
        </p:nvSpPr>
        <p:spPr>
          <a:xfrm xmlns:a="http://schemas.openxmlformats.org/drawingml/2006/main">
            <a:off x="542925" y="4276725"/>
            <a:ext cx="814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55">
                <a:solidFill>
                  <a:srgbClr val="595959"/>
                </a:solidFill>
                <a:latin typeface="Roboto"/>
                <a:ea typeface="Roboto"/>
                <a:cs typeface="Roboto"/>
              </a:defRPr>
            </a:pPr>
            <a:r>
              <a:rPr sz="1155">
                <a:solidFill>
                  <a:srgbClr val="595959"/>
                </a:solidFill>
                <a:latin typeface="Roboto"/>
                <a:ea typeface="Roboto"/>
                <a:cs typeface="Roboto"/>
              </a:rPr>
              <a:t>Vorläufiges Ergebnis: reproduzierbare Differenz-Basis und konkrete Grenzen der SDK-Abbildung.</a:t>
            </a:r>
          </a:p>
          <a:p xmlns:a="http://schemas.openxmlformats.org/drawingml/2006/main">
            <a:pPr algn="l">
              <a:defRPr sz="1155">
                <a:solidFill>
                  <a:srgbClr val="595959"/>
                </a:solidFill>
                <a:latin typeface="Roboto"/>
                <a:ea typeface="Roboto"/>
                <a:cs typeface="Roboto"/>
              </a:defRPr>
            </a:pPr>
            <a:r>
              <a:rPr sz="1155">
                <a:solidFill>
                  <a:srgbClr val="595959"/>
                </a:solidFill>
                <a:latin typeface="Roboto"/>
                <a:ea typeface="Roboto"/>
                <a:cs typeface="Roboto"/>
              </a:rPr>
              <a:t>Erbetenes Feedback: Trägt dieser Fokus die Anmeldung der Masterarbeit?</a:t>
            </a:r>
          </a:p>
        </p:txBody>
      </p:sp>
    </p:spTree>
    <p:extLst>
      <p:ext uri="{BB962C8B-B14F-4D97-AF65-F5344CB8AC3E}">
        <p14:creationId xmlns:p14="http://schemas.microsoft.com/office/powerpoint/2010/main" val="11763404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2026-10-05T10:47:07.8660000Z</dcterms:created>
  <dcterms:modified xsi:type="dcterms:W3CDTF">2026-10-05T10:47:07.8660000Z</dcterms:modified>
</coreProperties>
</file>